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058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32B68"/>
                </a:solidFill>
              </a:defRPr>
            </a:pPr>
            <a:r>
              <a:t>BCOLBD 2026   ·   BLOCKCHAIN CATEGORY   ·   HEALTHTECH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2E2733"/>
                </a:solidFill>
              </a:defRPr>
            </a:pPr>
            <a:r>
              <a:t>MedChain-FL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B6472"/>
                </a:solidFill>
              </a:defRPr>
            </a:pPr>
            <a:r>
              <a:t>Ethereum–IPFS Smart Contract Framework for Privacy-Preserving Federated Healthcare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10698480" cy="137160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2468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32B68"/>
                </a:solidFill>
              </a:defRPr>
            </a:pPr>
            <a:r>
              <a:t>Consortium Ledger</a:t>
            </a:r>
          </a:p>
          <a:p>
            <a:pPr>
              <a:defRPr sz="1000">
                <a:solidFill>
                  <a:srgbClr val="2E2733"/>
                </a:solidFill>
              </a:defRPr>
            </a:pPr>
            <a:r>
              <a:t>Solidity State Machine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0x1BE4... Sepolia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3383280"/>
            <a:ext cx="2468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32B68"/>
                </a:solidFill>
              </a:defRPr>
            </a:pPr>
            <a:r>
              <a:t>Zero Patient Leakage</a:t>
            </a:r>
          </a:p>
          <a:p>
            <a:pPr>
              <a:defRPr sz="1000">
                <a:solidFill>
                  <a:srgbClr val="2E2733"/>
                </a:solidFill>
              </a:defRPr>
            </a:pPr>
            <a:r>
              <a:t>100% On-Premise Enclave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PDPO 2025 Compliant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3383280"/>
            <a:ext cx="2468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32B68"/>
                </a:solidFill>
              </a:defRPr>
            </a:pPr>
            <a:r>
              <a:t>Clinical PyTorch</a:t>
            </a:r>
          </a:p>
          <a:p>
            <a:pPr>
              <a:defRPr sz="1000">
                <a:solidFill>
                  <a:srgbClr val="2E2733"/>
                </a:solidFill>
              </a:defRPr>
            </a:pPr>
            <a:r>
              <a:t>EfficientNet-B0 + CoordAtt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98.95% Malignant Acc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3383280"/>
            <a:ext cx="2468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32B68"/>
                </a:solidFill>
              </a:defRPr>
            </a:pPr>
            <a:r>
              <a:t>Bangladesh Healthcare</a:t>
            </a:r>
          </a:p>
          <a:p>
            <a:pPr>
              <a:defRPr sz="1000">
                <a:solidFill>
                  <a:srgbClr val="2E2733"/>
                </a:solidFill>
              </a:defRPr>
            </a:pPr>
            <a:r>
              <a:t>28 Days → 15 Minutes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BDT 250 Cr Saved/Yr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E2733"/>
                </a:solidFill>
              </a:defRPr>
            </a:pPr>
            <a:r>
              <a:t>Team FedGuard   ·   Team ID: 6a7f01a5baff6</a:t>
            </a:r>
          </a:p>
          <a:p>
            <a:pPr>
              <a:defRPr sz="1000">
                <a:solidFill>
                  <a:srgbClr val="2E2733"/>
                </a:solidFill>
              </a:defRPr>
            </a:pPr>
            <a:r>
              <a:t>Shahriar Hasan  ·  Md. Taufiq Biswas  ·  Md Najib Ul Azam Mahi</a:t>
            </a:r>
          </a:p>
          <a:p>
            <a:pPr>
              <a:defRPr sz="1000" b="1">
                <a:solidFill>
                  <a:srgbClr val="0D9488"/>
                </a:solidFill>
              </a:defRPr>
            </a:pPr>
            <a:r>
              <a:t>Dept. of Electronics and Communication Engineering (ECE), HSTU, Dinajpur</a:t>
            </a:r>
          </a:p>
        </p:txBody>
      </p:sp>
      <p:pic>
        <p:nvPicPr>
          <p:cNvPr id="11" name="Picture 10" descr="slide_1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4846320"/>
            <a:ext cx="2286000" cy="9305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A32B68"/>
                </a:solidFill>
              </a:defRPr>
            </a:pPr>
            <a:r>
              <a:t>01 · THE PROBLEM IN BANGLADESH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5156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2E2733"/>
                </a:solidFill>
              </a:defRPr>
            </a:pPr>
            <a:r>
              <a:t>Catastrophic Diagnostic Bottleneck &amp; Hospital Data Distrust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B6472"/>
                </a:solidFill>
              </a:defRPr>
            </a:pPr>
            <a:r>
              <a:t>MedChain-FL  ·  Team FedGuard  ·  BCOLBD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6B6472"/>
                </a:solidFill>
              </a:defRPr>
            </a:pPr>
            <a: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383280" cy="246888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30175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C2626"/>
                </a:solidFill>
              </a:defRPr>
            </a:pPr>
            <a:r>
              <a:t>1 : 1,000,000</a:t>
            </a:r>
          </a:p>
          <a:p>
            <a:pPr>
              <a:defRPr sz="1050" b="1">
                <a:solidFill>
                  <a:srgbClr val="2E2733"/>
                </a:solidFill>
              </a:defRPr>
            </a:pPr>
            <a:r>
              <a:t>PATHOLOGIST SCARCITY</a:t>
            </a:r>
          </a:p>
          <a:p>
            <a:pPr>
              <a:defRPr sz="950">
                <a:solidFill>
                  <a:srgbClr val="6B6472"/>
                </a:solidFill>
              </a:defRPr>
            </a:pPr>
            <a:r>
              <a:t>Only ~170 histopathologists in BD for 173M citizens. Critical oncology deficit.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383280" cy="246888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17320"/>
            <a:ext cx="30175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A32B68"/>
                </a:solidFill>
              </a:defRPr>
            </a:pPr>
            <a:r>
              <a:t>70%+ in Dhaka</a:t>
            </a:r>
          </a:p>
          <a:p>
            <a:pPr>
              <a:defRPr sz="1050" b="1">
                <a:solidFill>
                  <a:srgbClr val="2E2733"/>
                </a:solidFill>
              </a:defRPr>
            </a:pPr>
            <a:r>
              <a:t>REGIONAL HEALTH DIVIDE</a:t>
            </a:r>
          </a:p>
          <a:p>
            <a:pPr>
              <a:defRPr sz="950">
                <a:solidFill>
                  <a:srgbClr val="6B6472"/>
                </a:solidFill>
              </a:defRPr>
            </a:pPr>
            <a:r>
              <a:t>Divisional hubs (Rangpur, Dinajpur, Barisal) lack oncopathologists; tissue sent to Dhaka.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34440"/>
            <a:ext cx="3383280" cy="246888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417320"/>
            <a:ext cx="30175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2733"/>
                </a:solidFill>
              </a:defRPr>
            </a:pPr>
            <a:r>
              <a:t>14 – 28 Days</a:t>
            </a:r>
          </a:p>
          <a:p>
            <a:pPr>
              <a:defRPr sz="1050" b="1">
                <a:solidFill>
                  <a:srgbClr val="2E2733"/>
                </a:solidFill>
              </a:defRPr>
            </a:pPr>
            <a:r>
              <a:t>DIAGNOSTIC TURNAROUND</a:t>
            </a:r>
          </a:p>
          <a:p>
            <a:pPr>
              <a:defRPr sz="950">
                <a:solidFill>
                  <a:srgbClr val="6B6472"/>
                </a:solidFill>
              </a:defRPr>
            </a:pPr>
            <a:r>
              <a:t>Weeks-long courier delay causes 70% of breast cancers to be diagnosed at fatal Stage 3/4.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698480" cy="21945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101498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THE CENTRALIZATION PARADOX &amp; LEGAL MANDATE (PDPO 2025)</a:t>
            </a:r>
          </a:p>
          <a:p>
            <a:pPr>
              <a:defRPr sz="1000">
                <a:solidFill>
                  <a:srgbClr val="2E2733"/>
                </a:solidFill>
              </a:defRPr>
            </a:pPr>
            <a:r>
              <a:t>• Hospital Rivalry: Top private hospital chains (Evercare, Square, United) and government colleges will NEVER share raw biopsy images.</a:t>
            </a:r>
          </a:p>
          <a:p>
            <a:pPr>
              <a:defRPr sz="1000">
                <a:solidFill>
                  <a:srgbClr val="2E2733"/>
                </a:solidFill>
              </a:defRPr>
            </a:pPr>
            <a:r>
              <a:t>• The 2023 National Breach: 50M+ citizen records leaked via one exposed government API proved central databases in BD are catastrophic.</a:t>
            </a:r>
          </a:p>
          <a:p>
            <a:pPr>
              <a:defRPr sz="1000" b="1">
                <a:solidFill>
                  <a:srgbClr val="DC2626"/>
                </a:solidFill>
              </a:defRPr>
            </a:pPr>
            <a:r>
              <a:t>• Personal Data Protection Ordinance (PDPO) 2025: Strict statutory prohibition against central pooling or exporting patient medical records.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A32B68"/>
                </a:solidFill>
              </a:defRPr>
            </a:pPr>
            <a:r>
              <a:t>02 · THE BLOCKCHAIN IMPERATIVE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5156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2E2733"/>
                </a:solidFill>
              </a:defRPr>
            </a:pPr>
            <a:r>
              <a:t>Federation Breaks Silos. Only Blockchain Removes the Trusted Operator.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B6472"/>
                </a:solidFill>
              </a:defRPr>
            </a:pPr>
            <a:r>
              <a:t>MedChain-FL  ·  Team FedGuard  ·  BCOLBD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6B6472"/>
                </a:solidFill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383280" cy="35661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30175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E2733"/>
                </a:solidFill>
              </a:defRPr>
            </a:pPr>
            <a:r>
              <a:t>CENTRALIZED POOL</a:t>
            </a:r>
          </a:p>
          <a:p>
            <a:pPr>
              <a:defRPr sz="1050" b="1">
                <a:solidFill>
                  <a:srgbClr val="DC2626"/>
                </a:solidFill>
              </a:defRPr>
            </a:pPr>
            <a:r>
              <a:t>❌ Broken Architecture</a:t>
            </a:r>
          </a:p>
          <a:p>
            <a:pPr>
              <a:defRPr sz="950">
                <a:solidFill>
                  <a:srgbClr val="2E2733"/>
                </a:solidFill>
              </a:defRPr>
            </a:pPr>
            <a:r>
              <a:t>• Single point of failure and attack</a:t>
            </a:r>
          </a:p>
          <a:p>
            <a:pPr>
              <a:defRPr sz="950">
                <a:solidFill>
                  <a:srgbClr val="2E2733"/>
                </a:solidFill>
              </a:defRPr>
            </a:pPr>
            <a:r>
              <a:t>• Host hospital controls entire AI model</a:t>
            </a:r>
          </a:p>
          <a:p>
            <a:pPr>
              <a:defRPr sz="950">
                <a:solidFill>
                  <a:srgbClr val="2E2733"/>
                </a:solidFill>
              </a:defRPr>
            </a:pPr>
            <a:r>
              <a:t>• Rival hospital distrust prevents participation</a:t>
            </a:r>
          </a:p>
          <a:p>
            <a:pPr>
              <a:defRPr sz="950">
                <a:solidFill>
                  <a:srgbClr val="2E2733"/>
                </a:solidFill>
              </a:defRPr>
            </a:pPr>
            <a:r>
              <a:t>• Violates PDPO 2025 data protection law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383280" cy="356616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17320"/>
            <a:ext cx="30175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E2733"/>
                </a:solidFill>
              </a:defRPr>
            </a:pPr>
            <a:r>
              <a:t>FEDERATED AI ALONE</a:t>
            </a:r>
          </a:p>
          <a:p>
            <a:pPr>
              <a:defRPr sz="1050" b="1">
                <a:solidFill>
                  <a:srgbClr val="D97706"/>
                </a:solidFill>
              </a:defRPr>
            </a:pPr>
            <a:r>
              <a:t>⚠️ Incomplete Solution</a:t>
            </a:r>
          </a:p>
          <a:p>
            <a:pPr>
              <a:defRPr sz="950">
                <a:solidFill>
                  <a:srgbClr val="2E2733"/>
                </a:solidFill>
              </a:defRPr>
            </a:pPr>
            <a:r>
              <a:t>• Still requires trusted central aggregator server</a:t>
            </a:r>
          </a:p>
          <a:p>
            <a:pPr>
              <a:defRPr sz="950">
                <a:solidFill>
                  <a:srgbClr val="2E2733"/>
                </a:solidFill>
              </a:defRPr>
            </a:pPr>
            <a:r>
              <a:t>• Free-riding nodes cannot be prevented on-chain</a:t>
            </a:r>
          </a:p>
          <a:p>
            <a:pPr>
              <a:defRPr sz="950">
                <a:solidFill>
                  <a:srgbClr val="2E2733"/>
                </a:solidFill>
              </a:defRPr>
            </a:pPr>
            <a:r>
              <a:t>• No tamper-proof multi-hospital audit trail</a:t>
            </a:r>
          </a:p>
          <a:p>
            <a:pPr>
              <a:defRPr sz="950">
                <a:solidFill>
                  <a:srgbClr val="2E2733"/>
                </a:solidFill>
              </a:defRPr>
            </a:pPr>
            <a:r>
              <a:t>• Vulnerable to coordinator model poisoning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34440"/>
            <a:ext cx="3383280" cy="35661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417320"/>
            <a:ext cx="30175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E2733"/>
                </a:solidFill>
              </a:defRPr>
            </a:pPr>
            <a:r>
              <a:t>MEDCHAIN-FL (BLOCKCHAIN)</a:t>
            </a:r>
          </a:p>
          <a:p>
            <a:pPr>
              <a:defRPr sz="1050" b="1">
                <a:solidFill>
                  <a:srgbClr val="16A34A"/>
                </a:solidFill>
              </a:defRPr>
            </a:pPr>
            <a:r>
              <a:t>✅ Trustless Consortium</a:t>
            </a:r>
          </a:p>
          <a:p>
            <a:pPr>
              <a:defRPr sz="950">
                <a:solidFill>
                  <a:srgbClr val="2E2733"/>
                </a:solidFill>
              </a:defRPr>
            </a:pPr>
            <a:r>
              <a:t>• Decentralized Solidity smart contract coordinator</a:t>
            </a:r>
          </a:p>
          <a:p>
            <a:pPr>
              <a:defRPr sz="950">
                <a:solidFill>
                  <a:srgbClr val="2E2733"/>
                </a:solidFill>
              </a:defRPr>
            </a:pPr>
            <a:r>
              <a:t>• Zero raw patient data leaves hospital firewall</a:t>
            </a:r>
          </a:p>
          <a:p>
            <a:pPr>
              <a:defRPr sz="950">
                <a:solidFill>
                  <a:srgbClr val="2E2733"/>
                </a:solidFill>
              </a:defRPr>
            </a:pPr>
            <a:r>
              <a:t>• Math-enforced anti-free-riding &amp; quorum rules</a:t>
            </a:r>
          </a:p>
          <a:p>
            <a:pPr>
              <a:defRPr sz="950">
                <a:solidFill>
                  <a:srgbClr val="2E2733"/>
                </a:solidFill>
              </a:defRPr>
            </a:pPr>
            <a:r>
              <a:t>• Immutable audit ledger for DGHS regulatory inspection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29200"/>
            <a:ext cx="10698480" cy="109728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166360"/>
            <a:ext cx="10149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32B68"/>
                </a:solidFill>
              </a:defRPr>
            </a:pPr>
            <a:r>
              <a:t>GOVERNANCE INSIGHT FOR BLOCKCHAIN OLYMPIAD JUDGES:</a:t>
            </a:r>
          </a:p>
          <a:p>
            <a:pPr>
              <a:defRPr sz="1000">
                <a:solidFill>
                  <a:srgbClr val="2E2733"/>
                </a:solidFill>
              </a:defRPr>
            </a:pPr>
            <a:r>
              <a:t>In a multi-hospital consortium of commercial rivals, trust cannot rely on an administrative password or bilateral legal contracts — it must be governed by an autonomous, immutable smart contract on Ethereum that nobody owns and everyone verifies.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A32B68"/>
                </a:solidFill>
              </a:defRPr>
            </a:pPr>
            <a:r>
              <a:t>03 ·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5156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2E2733"/>
                </a:solidFill>
              </a:defRPr>
            </a:pPr>
            <a:r>
              <a:t>Three Decoupled Tiers: Enclave, Swarm, and Ethereum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B6472"/>
                </a:solidFill>
              </a:defRPr>
            </a:pPr>
            <a:r>
              <a:t>MedChain-FL  ·  Team FedGuard  ·  BCOLBD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6B6472"/>
                </a:solidFill>
              </a:defRPr>
            </a:pPr>
            <a:r>
              <a:t>03</a:t>
            </a:r>
          </a:p>
        </p:txBody>
      </p:sp>
      <p:pic>
        <p:nvPicPr>
          <p:cNvPr id="6" name="Picture 5" descr="slide_6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583680" cy="324772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89520" y="1234440"/>
            <a:ext cx="3840480" cy="150876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325880"/>
            <a:ext cx="34747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32B68"/>
                </a:solidFill>
              </a:defRPr>
            </a:pPr>
            <a:r>
              <a:t>TIER 1: HOSPITAL ENCLAVE</a:t>
            </a:r>
          </a:p>
          <a:p>
            <a:pPr>
              <a:defRPr sz="850">
                <a:solidFill>
                  <a:srgbClr val="2E2733"/>
                </a:solidFill>
              </a:defRPr>
            </a:pPr>
            <a:r>
              <a:t>• Node.js + PyTorch inside hospital firewall</a:t>
            </a:r>
          </a:p>
          <a:p>
            <a:pPr>
              <a:defRPr sz="850">
                <a:solidFill>
                  <a:srgbClr val="2E2733"/>
                </a:solidFill>
              </a:defRPr>
            </a:pPr>
            <a:r>
              <a:t>• Zero patient biopsy images leave node</a:t>
            </a:r>
          </a:p>
          <a:p>
            <a:pPr>
              <a:defRPr sz="850">
                <a:solidFill>
                  <a:srgbClr val="2E2733"/>
                </a:solidFill>
              </a:defRPr>
            </a:pPr>
            <a:r>
              <a:t>• Local FedProx weight delta calculation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2880360"/>
            <a:ext cx="3840480" cy="150876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971800"/>
            <a:ext cx="34747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TIER 2: IPFS SWARM STORAGE</a:t>
            </a:r>
          </a:p>
          <a:p>
            <a:pPr>
              <a:defRPr sz="850">
                <a:solidFill>
                  <a:srgbClr val="2E2733"/>
                </a:solidFill>
              </a:defRPr>
            </a:pPr>
            <a:r>
              <a:t>• AES-256-CBC encrypted parameter vectors</a:t>
            </a:r>
          </a:p>
          <a:p>
            <a:pPr>
              <a:defRPr sz="850">
                <a:solidFill>
                  <a:srgbClr val="2E2733"/>
                </a:solidFill>
              </a:defRPr>
            </a:pPr>
            <a:r>
              <a:t>• Content-addressed 46-char CID storage</a:t>
            </a:r>
          </a:p>
          <a:p>
            <a:pPr>
              <a:defRPr sz="850">
                <a:solidFill>
                  <a:srgbClr val="2E2733"/>
                </a:solidFill>
              </a:defRPr>
            </a:pPr>
            <a:r>
              <a:t>• 23.6 MB model zipped to &lt; 10 MB on wire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4526280"/>
            <a:ext cx="3840480" cy="150876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4617720"/>
            <a:ext cx="34747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E2733"/>
                </a:solidFill>
              </a:defRPr>
            </a:pPr>
            <a:r>
              <a:t>TIER 3: SEPOLIA LEDGER</a:t>
            </a:r>
          </a:p>
          <a:p>
            <a:pPr>
              <a:defRPr sz="850">
                <a:solidFill>
                  <a:srgbClr val="2E2733"/>
                </a:solidFill>
              </a:defRPr>
            </a:pPr>
            <a:r>
              <a:t>• Solidity smart contract (0x1BE4...)</a:t>
            </a:r>
          </a:p>
          <a:p>
            <a:pPr>
              <a:defRPr sz="850">
                <a:solidFill>
                  <a:srgbClr val="2E2733"/>
                </a:solidFill>
              </a:defRPr>
            </a:pPr>
            <a:r>
              <a:t>• State machine coordination &amp; round gating</a:t>
            </a:r>
          </a:p>
          <a:p>
            <a:pPr>
              <a:defRPr sz="850">
                <a:solidFill>
                  <a:srgbClr val="2E2733"/>
                </a:solidFill>
              </a:defRPr>
            </a:pPr>
            <a:r>
              <a:t>• Bit-packed metrics (&lt;100 bytes on-chain)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20640"/>
            <a:ext cx="10698480" cy="10058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578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6A34A"/>
                </a:solidFill>
              </a:defRPr>
            </a:pPr>
            <a:r>
              <a:t>ZERO-LEAKAGE AIR-GAP GUARANTEE: 0 BYTES RAW PATIENT BIOPY LEAVES NODE</a:t>
            </a:r>
          </a:p>
          <a:p>
            <a:pPr>
              <a:defRPr sz="950">
                <a:solidFill>
                  <a:srgbClr val="2E2733"/>
                </a:solidFill>
              </a:defRPr>
            </a:pPr>
            <a:r>
              <a:t>Only encrypted mathematical gradient descriptors leave the local enclave. Hospital firewalls enforce zero outbound raw pixel streams. Cryptographically verified non-repudiation.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A32B68"/>
                </a:solidFill>
              </a:defRPr>
            </a:pPr>
            <a:r>
              <a:t>04 · CONSENSUS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5156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2E2733"/>
                </a:solidFill>
              </a:defRPr>
            </a:pPr>
            <a:r>
              <a:t>Deterministic 5-Step Smart Contract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B6472"/>
                </a:solidFill>
              </a:defRPr>
            </a:pPr>
            <a:r>
              <a:t>MedChain-FL  ·  Team FedGuard  ·  BCOLBD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6B6472"/>
                </a:solidFill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057400" cy="338328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178308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32B68"/>
                </a:solidFill>
              </a:defRPr>
            </a:pPr>
            <a:r>
              <a:t>1. Round Opens</a:t>
            </a:r>
          </a:p>
          <a:p>
            <a:pPr>
              <a:defRPr sz="950" b="1">
                <a:solidFill>
                  <a:srgbClr val="2E2733"/>
                </a:solidFill>
              </a:defRPr>
            </a:pPr>
            <a:r>
              <a:t>Sepolia Contract</a:t>
            </a:r>
          </a:p>
          <a:p>
            <a:pPr>
              <a:defRPr sz="850">
                <a:solidFill>
                  <a:srgbClr val="6B6472"/>
                </a:solidFill>
              </a:defRPr>
            </a:pPr>
            <a:r>
              <a:t>Operator triggers new round;</a:t>
            </a:r>
            <a:br/>
            <a:r>
              <a:t>Base model IPFS CID published on-chain.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371600"/>
            <a:ext cx="2057400" cy="338328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1554480"/>
            <a:ext cx="178308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2. Local Pull</a:t>
            </a:r>
          </a:p>
          <a:p>
            <a:pPr>
              <a:defRPr sz="950" b="1">
                <a:solidFill>
                  <a:srgbClr val="2E2733"/>
                </a:solidFill>
              </a:defRPr>
            </a:pPr>
            <a:r>
              <a:t>Hospital Enclave</a:t>
            </a:r>
          </a:p>
          <a:p>
            <a:pPr>
              <a:defRPr sz="850">
                <a:solidFill>
                  <a:srgbClr val="6B6472"/>
                </a:solidFill>
              </a:defRPr>
            </a:pPr>
            <a:r>
              <a:t>Hospitals fetch encrypted global weights;</a:t>
            </a:r>
            <a:br/>
            <a:r>
              <a:t>Decrypt in memory on CPU.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371600"/>
            <a:ext cx="2057400" cy="338328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21224" y="1554480"/>
            <a:ext cx="178308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E2733"/>
                </a:solidFill>
              </a:defRPr>
            </a:pPr>
            <a:r>
              <a:t>3. FedProx Train</a:t>
            </a:r>
          </a:p>
          <a:p>
            <a:pPr>
              <a:defRPr sz="950" b="1">
                <a:solidFill>
                  <a:srgbClr val="2E2733"/>
                </a:solidFill>
              </a:defRPr>
            </a:pPr>
            <a:r>
              <a:t>PyTorch Local</a:t>
            </a:r>
          </a:p>
          <a:p>
            <a:pPr>
              <a:defRPr sz="850">
                <a:solidFill>
                  <a:srgbClr val="6B6472"/>
                </a:solidFill>
              </a:defRPr>
            </a:pPr>
            <a:r>
              <a:t>Local gradient descent with proximal drift penalty mu.</a:t>
            </a:r>
            <a:br/>
            <a:r>
              <a:t>Zero data shared.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371600"/>
            <a:ext cx="2057400" cy="338328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97496" y="1554480"/>
            <a:ext cx="178308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4. Encrypt &amp; Post</a:t>
            </a:r>
          </a:p>
          <a:p>
            <a:pPr>
              <a:defRPr sz="950" b="1">
                <a:solidFill>
                  <a:srgbClr val="2E2733"/>
                </a:solidFill>
              </a:defRPr>
            </a:pPr>
            <a:r>
              <a:t>IPFS + Ledger</a:t>
            </a:r>
          </a:p>
          <a:p>
            <a:pPr>
              <a:defRPr sz="850">
                <a:solidFill>
                  <a:srgbClr val="6B6472"/>
                </a:solidFill>
              </a:defRPr>
            </a:pPr>
            <a:r>
              <a:t>AES-256 weights to IPFS;</a:t>
            </a:r>
            <a:br/>
            <a:r>
              <a:t>SHA-256 digest &amp; packed metrics committed.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1371600"/>
            <a:ext cx="2057400" cy="338328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73767" y="1554480"/>
            <a:ext cx="178308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6A34A"/>
                </a:solidFill>
              </a:defRPr>
            </a:pPr>
            <a:r>
              <a:t>5. Finalize</a:t>
            </a:r>
          </a:p>
          <a:p>
            <a:pPr>
              <a:defRPr sz="950" b="1">
                <a:solidFill>
                  <a:srgbClr val="2E2733"/>
                </a:solidFill>
              </a:defRPr>
            </a:pPr>
            <a:r>
              <a:t>Solidity Lineage</a:t>
            </a:r>
          </a:p>
          <a:p>
            <a:pPr>
              <a:defRPr sz="850">
                <a:solidFill>
                  <a:srgbClr val="6B6472"/>
                </a:solidFill>
              </a:defRPr>
            </a:pPr>
            <a:r>
              <a:t>Contract verifies all quorum;</a:t>
            </a:r>
            <a:br/>
            <a:r>
              <a:t>FedAvg consensus executed;</a:t>
            </a:r>
            <a:br/>
            <a:r>
              <a:t>Global CID committed.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9200"/>
            <a:ext cx="10698480" cy="109728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A32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166360"/>
            <a:ext cx="10149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32B68"/>
                </a:solidFill>
              </a:defRPr>
            </a:pPr>
            <a:r>
              <a:t>SMART CONTRACT RULE: ALL SUBMISSIONS REQUIRED BEFORE FINALIZATION</a:t>
            </a:r>
          </a:p>
          <a:p>
            <a:pPr>
              <a:defRPr sz="950">
                <a:solidFill>
                  <a:srgbClr val="2E2733"/>
                </a:solidFill>
              </a:defRPr>
            </a:pPr>
            <a:r>
              <a:t>A round cannot finalize without quorum. If a hospital node drops or attempts a free-ride attack, the contract prevents round closure, penalizes node reliability score, and requires manual operator intervention justification.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A32B68"/>
                </a:solidFill>
              </a:defRPr>
            </a:pPr>
            <a:r>
              <a:t>05 · DATA SOVEREIGNTY &amp; GAS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5156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2E2733"/>
                </a:solidFill>
              </a:defRPr>
            </a:pPr>
            <a:r>
              <a:t>What Goes On-Chain — And What Deliberately Does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B6472"/>
                </a:solidFill>
              </a:defRPr>
            </a:pPr>
            <a:r>
              <a:t>MedChain-FL  ·  Team FedGuard  ·  BCOLBD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6B6472"/>
                </a:solidFill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120640" cy="365760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45720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2733"/>
                </a:solidFill>
              </a:defRPr>
            </a:pPr>
            <a:r>
              <a:t>OFF-CHAIN (Hospital Enclave &amp; IPFS)</a:t>
            </a:r>
          </a:p>
          <a:p>
            <a:pPr>
              <a:defRPr b="1" sz="950">
                <a:solidFill>
                  <a:srgbClr val="2E2733"/>
                </a:solidFill>
              </a:defRPr>
            </a:pPr>
            <a:r>
              <a:t>• Patient Biopsy Slides (15–50 MB): </a:t>
            </a:r>
            <a:r>
              <a:rPr b="0">
                <a:solidFill>
                  <a:srgbClr val="6B6472"/>
                </a:solidFill>
              </a:rPr>
              <a:t>NEVER transmitted anywhere. Kept behind firewall.</a:t>
            </a:r>
          </a:p>
          <a:p>
            <a:pPr>
              <a:defRPr b="1" sz="950">
                <a:solidFill>
                  <a:srgbClr val="2E2733"/>
                </a:solidFill>
              </a:defRPr>
            </a:pPr>
            <a:r>
              <a:t>• Raw Encrypted Weights (23.6 MB): </a:t>
            </a:r>
            <a:r>
              <a:rPr b="0">
                <a:solidFill>
                  <a:srgbClr val="6B6472"/>
                </a:solidFill>
              </a:rPr>
              <a:t>Zipped with AES-256-CBC, pinned to Pinata IPFS swarm.</a:t>
            </a:r>
          </a:p>
          <a:p>
            <a:pPr>
              <a:defRPr b="1" sz="950">
                <a:solidFill>
                  <a:srgbClr val="2E2733"/>
                </a:solidFill>
              </a:defRPr>
            </a:pPr>
            <a:r>
              <a:t>• PyTorch Local Training: </a:t>
            </a:r>
            <a:r>
              <a:rPr b="0">
                <a:solidFill>
                  <a:srgbClr val="6B6472"/>
                </a:solidFill>
              </a:rPr>
              <a:t>Executes on commodity CPU inside hospital premises.</a:t>
            </a:r>
          </a:p>
          <a:p>
            <a:pPr>
              <a:defRPr b="1" sz="950">
                <a:solidFill>
                  <a:srgbClr val="2E2733"/>
                </a:solidFill>
              </a:defRPr>
            </a:pPr>
            <a:r>
              <a:t>• Hospital Private Credentials: </a:t>
            </a:r>
            <a:r>
              <a:rPr b="0">
                <a:solidFill>
                  <a:srgbClr val="6B6472"/>
                </a:solidFill>
              </a:rPr>
              <a:t>Hospital private keys never leave local environment.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120640" cy="36576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17320"/>
            <a:ext cx="45720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A34A"/>
                </a:solidFill>
              </a:defRPr>
            </a:pPr>
            <a:r>
              <a:t>ON-CHAIN (Ethereum Sepolia Contract)</a:t>
            </a:r>
          </a:p>
          <a:p>
            <a:pPr>
              <a:defRPr b="1" sz="950">
                <a:solidFill>
                  <a:srgbClr val="2E2733"/>
                </a:solidFill>
              </a:defRPr>
            </a:pPr>
            <a:r>
              <a:t>• Hospital Registry Mapping: </a:t>
            </a:r>
            <a:r>
              <a:rPr b="0">
                <a:solidFill>
                  <a:srgbClr val="6B6472"/>
                </a:solidFill>
              </a:rPr>
              <a:t>Wallet-bound KYC address (mapping(address =&gt; HospitalInfo)).</a:t>
            </a:r>
          </a:p>
          <a:p>
            <a:pPr>
              <a:defRPr b="1" sz="950">
                <a:solidFill>
                  <a:srgbClr val="2E2733"/>
                </a:solidFill>
              </a:defRPr>
            </a:pPr>
            <a:r>
              <a:t>• IPFS Content Identifiers: </a:t>
            </a:r>
            <a:r>
              <a:rPr b="0">
                <a:solidFill>
                  <a:srgbClr val="6B6472"/>
                </a:solidFill>
              </a:rPr>
              <a:t>46-character cryptographic CIDs for global &amp; local weights.</a:t>
            </a:r>
          </a:p>
          <a:p>
            <a:pPr>
              <a:defRPr b="1" sz="950">
                <a:solidFill>
                  <a:srgbClr val="2E2733"/>
                </a:solidFill>
              </a:defRPr>
            </a:pPr>
            <a:r>
              <a:t>• Bit-Packed Metrics (&lt;100 Bytes): </a:t>
            </a:r>
            <a:r>
              <a:rPr b="0">
                <a:solidFill>
                  <a:srgbClr val="6B6472"/>
                </a:solidFill>
              </a:rPr>
              <a:t>Accuracy and AUC scaled &amp; packed into single uint256 slot.</a:t>
            </a:r>
          </a:p>
          <a:p>
            <a:pPr>
              <a:defRPr b="1" sz="950">
                <a:solidFill>
                  <a:srgbClr val="2E2733"/>
                </a:solidFill>
              </a:defRPr>
            </a:pPr>
            <a:r>
              <a:t>• Immutable Audit Trail: </a:t>
            </a:r>
            <a:r>
              <a:rPr b="0">
                <a:solidFill>
                  <a:srgbClr val="6B6472"/>
                </a:solidFill>
              </a:rPr>
              <a:t>Verifiable timestamped receipt log for DGHS / MoHFW inspection.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20640"/>
            <a:ext cx="10698480" cy="100584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25780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A32B68"/>
                </a:solidFill>
              </a:defRPr>
            </a:pPr>
            <a:r>
              <a:t>DATA COMPRESSION PIPELINE &amp; EVM STORAGE OPTIMIZATION:</a:t>
            </a:r>
          </a:p>
          <a:p>
            <a:pPr>
              <a:defRPr sz="1100" b="1">
                <a:solidFill>
                  <a:srgbClr val="0D9488"/>
                </a:solidFill>
              </a:defRPr>
            </a:pPr>
            <a:r>
              <a:t>23.6 MB PyTorch Model  ──►  &lt; 10 MB Encrypted IPFS Swarm  ──►  &lt; 100 Bytes Committed On-Chain (99.6% Gas Reduction)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A32B68"/>
                </a:solidFill>
              </a:defRPr>
            </a:pPr>
            <a:r>
              <a:t>06 · SMART CONTRACT &amp; CONSENSUS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5156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2E2733"/>
                </a:solidFill>
              </a:defRPr>
            </a:pPr>
            <a:r>
              <a:t>Solidity State Machine Deployed on Ethereum Sepolia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B6472"/>
                </a:solidFill>
              </a:defRPr>
            </a:pPr>
            <a:r>
              <a:t>MedChain-FL  ·  Team FedGuard  ·  BCOLBD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6B6472"/>
                </a:solidFill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698480" cy="82296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25880"/>
            <a:ext cx="10149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DEPLOYED SMART CONTRACT: FederatedModelRegistry.sol</a:t>
            </a:r>
          </a:p>
          <a:p>
            <a:pPr>
              <a:defRPr sz="900">
                <a:solidFill>
                  <a:srgbClr val="2E2733"/>
                </a:solidFill>
              </a:defRPr>
            </a:pPr>
            <a:r>
              <a:t>Sepolia Address: 0x1BE44922c9505E492eA93cfA4a673CE8ea106Ea1  |  Block: 10254150  |  OpenZeppelin v5.0 (ReentrancyGuard, Pausable, Ownable)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3383280" cy="393192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301752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A32B68"/>
                </a:solidFill>
              </a:defRPr>
            </a:pPr>
            <a:r>
              <a:t>CONSENSUS STATE MACHINE</a:t>
            </a:r>
          </a:p>
          <a:p>
            <a:pPr>
              <a:defRPr sz="950" b="1">
                <a:solidFill>
                  <a:srgbClr val="2E2733"/>
                </a:solidFill>
              </a:defRPr>
            </a:pPr>
            <a:r>
              <a:t>Enforced Function Transitions</a:t>
            </a:r>
          </a:p>
          <a:p>
            <a:pPr>
              <a:defRPr sz="850">
                <a:solidFill>
                  <a:srgbClr val="6B6472"/>
                </a:solidFill>
              </a:defRPr>
            </a:pPr>
            <a:r>
              <a:t>• registerHospital(addr, name, region)</a:t>
            </a:r>
          </a:p>
          <a:p>
            <a:pPr>
              <a:defRPr sz="850">
                <a:solidFill>
                  <a:srgbClr val="6B6472"/>
                </a:solidFill>
              </a:defRPr>
            </a:pPr>
            <a:r>
              <a:t>• openRound(version, baseCID)</a:t>
            </a:r>
          </a:p>
          <a:p>
            <a:pPr>
              <a:defRPr sz="850">
                <a:solidFill>
                  <a:srgbClr val="6B6472"/>
                </a:solidFill>
              </a:defRPr>
            </a:pPr>
            <a:r>
              <a:t>• submitModelUpdate(weightsCID, hash)</a:t>
            </a:r>
          </a:p>
          <a:p>
            <a:pPr>
              <a:defRPr sz="850">
                <a:solidFill>
                  <a:srgbClr val="6B6472"/>
                </a:solidFill>
              </a:defRPr>
            </a:pPr>
            <a:r>
              <a:t>• publishGlobalModel(version, acc)</a:t>
            </a:r>
          </a:p>
          <a:p>
            <a:pPr>
              <a:defRPr sz="850">
                <a:solidFill>
                  <a:srgbClr val="6B6472"/>
                </a:solidFill>
              </a:defRPr>
            </a:pPr>
            <a:r>
              <a:t>• Strict access control prevents unauthorized model injection.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240280"/>
            <a:ext cx="3383280" cy="393192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423160"/>
            <a:ext cx="301752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DC2626"/>
                </a:solidFill>
              </a:defRPr>
            </a:pPr>
            <a:r>
              <a:t>BYZANTINE DEFENSE</a:t>
            </a:r>
          </a:p>
          <a:p>
            <a:pPr>
              <a:defRPr sz="950" b="1">
                <a:solidFill>
                  <a:srgbClr val="2E2733"/>
                </a:solidFill>
              </a:defRPr>
            </a:pPr>
            <a:r>
              <a:t>Anti-Poisoning &amp; Slashing</a:t>
            </a:r>
          </a:p>
          <a:p>
            <a:pPr>
              <a:defRPr sz="850">
                <a:solidFill>
                  <a:srgbClr val="6B6472"/>
                </a:solidFill>
              </a:defRPr>
            </a:pPr>
            <a:r>
              <a:t>• 3-Sigma Outlier Detection on loss</a:t>
            </a:r>
          </a:p>
          <a:p>
            <a:pPr>
              <a:defRPr sz="850">
                <a:solidFill>
                  <a:srgbClr val="6B6472"/>
                </a:solidFill>
              </a:defRPr>
            </a:pPr>
            <a:r>
              <a:t>• Parameter key parity verification</a:t>
            </a:r>
          </a:p>
          <a:p>
            <a:pPr>
              <a:defRPr sz="850">
                <a:solidFill>
                  <a:srgbClr val="6B6472"/>
                </a:solidFill>
              </a:defRPr>
            </a:pPr>
            <a:r>
              <a:t>• Malicious gradient auto-rejection</a:t>
            </a:r>
          </a:p>
          <a:p>
            <a:pPr>
              <a:defRPr sz="850">
                <a:solidFill>
                  <a:srgbClr val="6B6472"/>
                </a:solidFill>
              </a:defRPr>
            </a:pPr>
            <a:r>
              <a:t>• On-chain node reputation slashing</a:t>
            </a:r>
          </a:p>
          <a:p>
            <a:pPr>
              <a:defRPr sz="850">
                <a:solidFill>
                  <a:srgbClr val="6B6472"/>
                </a:solidFill>
              </a:defRPr>
            </a:pPr>
            <a:r>
              <a:t>• Protects against rogue or compromised lab nodes.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240280"/>
            <a:ext cx="3383280" cy="393192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423160"/>
            <a:ext cx="301752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6A34A"/>
                </a:solidFill>
              </a:defRPr>
            </a:pPr>
            <a:r>
              <a:t>ANTI-FREE-RIDER GATE</a:t>
            </a:r>
          </a:p>
          <a:p>
            <a:pPr>
              <a:defRPr sz="950" b="1">
                <a:solidFill>
                  <a:srgbClr val="2E2733"/>
                </a:solidFill>
              </a:defRPr>
            </a:pPr>
            <a:r>
              <a:t>Game-Theoretic Incentives</a:t>
            </a:r>
          </a:p>
          <a:p>
            <a:pPr>
              <a:defRPr sz="850">
                <a:solidFill>
                  <a:srgbClr val="6B6472"/>
                </a:solidFill>
              </a:defRPr>
            </a:pPr>
            <a:r>
              <a:t>• minSamplesPerUpdate = 500 strictly required</a:t>
            </a:r>
          </a:p>
          <a:p>
            <a:pPr>
              <a:defRPr sz="850">
                <a:solidFill>
                  <a:srgbClr val="6B6472"/>
                </a:solidFill>
              </a:defRPr>
            </a:pPr>
            <a:r>
              <a:t>• Cannot pull global weights without valid update</a:t>
            </a:r>
          </a:p>
          <a:p>
            <a:pPr>
              <a:defRPr sz="850">
                <a:solidFill>
                  <a:srgbClr val="6B6472"/>
                </a:solidFill>
              </a:defRPr>
            </a:pPr>
            <a:r>
              <a:t>• Proof-of-Contribution records cumulative samples</a:t>
            </a:r>
          </a:p>
          <a:p>
            <a:pPr>
              <a:defRPr sz="850">
                <a:solidFill>
                  <a:srgbClr val="6B6472"/>
                </a:solidFill>
              </a:defRPr>
            </a:pPr>
            <a:r>
              <a:t>• Incentivizes long-term data contribution</a:t>
            </a:r>
          </a:p>
          <a:p>
            <a:pPr>
              <a:defRPr sz="850">
                <a:solidFill>
                  <a:srgbClr val="6B6472"/>
                </a:solidFill>
              </a:defRPr>
            </a:pPr>
            <a:r>
              <a:t>• Game-theoretic equilibrium among hospital nodes.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A32B68"/>
                </a:solidFill>
              </a:defRPr>
            </a:pPr>
            <a:r>
              <a:t>07 · CLINICAL AI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5156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2E2733"/>
                </a:solidFill>
              </a:defRPr>
            </a:pPr>
            <a:r>
              <a:t>CoAtt-FedNet: Clinical-Grade Oncology on Commodity CPU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B6472"/>
                </a:solidFill>
              </a:defRPr>
            </a:pPr>
            <a:r>
              <a:t>MedChain-FL  ·  Team FedGuard  ·  BCOLBD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6B6472"/>
                </a:solidFill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2468880" cy="192024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21945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A34A"/>
                </a:solidFill>
              </a:defRPr>
            </a:pPr>
            <a:r>
              <a:t>98.95%</a:t>
            </a:r>
          </a:p>
          <a:p>
            <a:pPr>
              <a:defRPr sz="950" b="1">
                <a:solidFill>
                  <a:srgbClr val="2E2733"/>
                </a:solidFill>
              </a:defRPr>
            </a:pPr>
            <a:r>
              <a:t>OVERALL ACCURACY</a:t>
            </a:r>
          </a:p>
          <a:p>
            <a:pPr>
              <a:defRPr sz="850">
                <a:solidFill>
                  <a:srgbClr val="6B6472"/>
                </a:solidFill>
              </a:defRPr>
            </a:pPr>
            <a:r>
              <a:t>Surpasses published state-of-the-art benchmarks (97.54%).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234440"/>
            <a:ext cx="2468880" cy="192024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371600"/>
            <a:ext cx="21945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32B68"/>
                </a:solidFill>
              </a:defRPr>
            </a:pPr>
            <a:r>
              <a:t>99.45%</a:t>
            </a:r>
          </a:p>
          <a:p>
            <a:pPr>
              <a:defRPr sz="950" b="1">
                <a:solidFill>
                  <a:srgbClr val="2E2733"/>
                </a:solidFill>
              </a:defRPr>
            </a:pPr>
            <a:r>
              <a:t>MALIGNANT RECALL</a:t>
            </a:r>
          </a:p>
          <a:p>
            <a:pPr>
              <a:defRPr sz="850">
                <a:solidFill>
                  <a:srgbClr val="6B6472"/>
                </a:solidFill>
              </a:defRPr>
            </a:pPr>
            <a:r>
              <a:t>Virtually zero missed cancer biopsies across test splits.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2468880" cy="192024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71600"/>
            <a:ext cx="21945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9488"/>
                </a:solidFill>
              </a:defRPr>
            </a:pPr>
            <a:r>
              <a:t>0.9995</a:t>
            </a:r>
          </a:p>
          <a:p>
            <a:pPr>
              <a:defRPr sz="950" b="1">
                <a:solidFill>
                  <a:srgbClr val="2E2733"/>
                </a:solidFill>
              </a:defRPr>
            </a:pPr>
            <a:r>
              <a:t>ROC-AUC SCORE</a:t>
            </a:r>
          </a:p>
          <a:p>
            <a:pPr>
              <a:defRPr sz="850">
                <a:solidFill>
                  <a:srgbClr val="6B6472"/>
                </a:solidFill>
              </a:defRPr>
            </a:pPr>
            <a:r>
              <a:t>Clinical grade discrimination confidence with 98.80% precision.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234440"/>
            <a:ext cx="2468880" cy="192024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371600"/>
            <a:ext cx="21945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2733"/>
                </a:solidFill>
              </a:defRPr>
            </a:pPr>
            <a:r>
              <a:t>5.9M</a:t>
            </a:r>
          </a:p>
          <a:p>
            <a:pPr>
              <a:defRPr sz="950" b="1">
                <a:solidFill>
                  <a:srgbClr val="2E2733"/>
                </a:solidFill>
              </a:defRPr>
            </a:pPr>
            <a:r>
              <a:t>PARAMETERS (EFFICIENTNET)</a:t>
            </a:r>
          </a:p>
          <a:p>
            <a:pPr>
              <a:defRPr sz="850">
                <a:solidFill>
                  <a:srgbClr val="6B6472"/>
                </a:solidFill>
              </a:defRPr>
            </a:pPr>
            <a:r>
              <a:t>15× lighter than Vision Transformers. Runs in 580ms on hospital CPU.</a:t>
            </a:r>
          </a:p>
        </p:txBody>
      </p:sp>
      <p:pic>
        <p:nvPicPr>
          <p:cNvPr id="14" name="Picture 13" descr="slide_9_img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337560"/>
            <a:ext cx="5212080" cy="2211185"/>
          </a:xfrm>
          <a:prstGeom prst="rect">
            <a:avLst/>
          </a:prstGeom>
        </p:spPr>
      </p:pic>
      <p:pic>
        <p:nvPicPr>
          <p:cNvPr id="15" name="Picture 14" descr="slide_10_img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337560"/>
            <a:ext cx="521208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A32B68"/>
                </a:solidFill>
              </a:defRPr>
            </a:pPr>
            <a:r>
              <a:t>08 · PRODUCTION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5156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2E2733"/>
                </a:solidFill>
              </a:defRPr>
            </a:pPr>
            <a:r>
              <a:t>Live End-to-End System Operational on Custom Domains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B6472"/>
                </a:solidFill>
              </a:defRPr>
            </a:pPr>
            <a:r>
              <a:t>MedChain-FL  ·  Team FedGuard  ·  BCOLBD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6B6472"/>
                </a:solidFill>
              </a:defRPr>
            </a:pPr>
            <a:r>
              <a:t>08</a:t>
            </a:r>
          </a:p>
        </p:txBody>
      </p:sp>
      <p:pic>
        <p:nvPicPr>
          <p:cNvPr id="6" name="Picture 5" descr="slide_11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4389120" cy="538664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0" y="1234440"/>
            <a:ext cx="5943600" cy="105156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280160"/>
            <a:ext cx="5577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32B68"/>
                </a:solidFill>
              </a:defRPr>
            </a:pPr>
            <a:r>
              <a:t>HOSPITAL WORKSTATION ENCLAVE</a:t>
            </a:r>
          </a:p>
          <a:p>
            <a:pPr>
              <a:defRPr sz="900" b="1">
                <a:solidFill>
                  <a:srgbClr val="2E2733"/>
                </a:solidFill>
              </a:defRPr>
            </a:pPr>
            <a:r>
              <a:t>https://medchain.paradox-bd.com</a:t>
            </a:r>
          </a:p>
          <a:p>
            <a:pPr>
              <a:defRPr sz="800">
                <a:solidFill>
                  <a:srgbClr val="6B6472"/>
                </a:solidFill>
              </a:defRPr>
            </a:pPr>
            <a:r>
              <a:t>Pathologist biopsy scan UI · PyTorch CPU inference · FedProx local optimizer · Verifiable receipt ledger.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2423160"/>
            <a:ext cx="5943600" cy="105156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2468880"/>
            <a:ext cx="5577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CENTRAL OPERATOR COCKPIT</a:t>
            </a:r>
          </a:p>
          <a:p>
            <a:pPr>
              <a:defRPr sz="900" b="1">
                <a:solidFill>
                  <a:srgbClr val="2E2733"/>
                </a:solidFill>
              </a:defRPr>
            </a:pPr>
            <a:r>
              <a:t>https://cockpit.medchain.paradox-bd.com</a:t>
            </a:r>
          </a:p>
          <a:p>
            <a:pPr>
              <a:defRPr sz="800">
                <a:solidFill>
                  <a:srgbClr val="6B6472"/>
                </a:solidFill>
              </a:defRPr>
            </a:pPr>
            <a:r>
              <a:t>Consensus monitor · Candidate approval console · Outbox delivery retry · Retention audit.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3611880"/>
            <a:ext cx="5943600" cy="105156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3657600"/>
            <a:ext cx="5577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E2733"/>
                </a:solidFill>
              </a:defRPr>
            </a:pPr>
            <a:r>
              <a:t>FEDERATED AGGREGATOR CORE</a:t>
            </a:r>
          </a:p>
          <a:p>
            <a:pPr>
              <a:defRPr sz="900" b="1">
                <a:solidFill>
                  <a:srgbClr val="2E2733"/>
                </a:solidFill>
              </a:defRPr>
            </a:pPr>
            <a:r>
              <a:t>https://api.medchain.paradox-bd.com</a:t>
            </a:r>
          </a:p>
          <a:p>
            <a:pPr>
              <a:defRPr sz="800">
                <a:solidFill>
                  <a:srgbClr val="6B6472"/>
                </a:solidFill>
              </a:defRPr>
            </a:pPr>
            <a:r>
              <a:t>NestJS microservice engine · Neon PostgreSQL (40 tables) · Upstash Redis queue · Cloudflare R2 storage.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4800600"/>
            <a:ext cx="5943600" cy="105156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4846320"/>
            <a:ext cx="5577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ETHEREUM SEPOLIA SMART CONTRACT</a:t>
            </a:r>
          </a:p>
          <a:p>
            <a:pPr>
              <a:defRPr sz="900" b="1">
                <a:solidFill>
                  <a:srgbClr val="2E2733"/>
                </a:solidFill>
              </a:defRPr>
            </a:pPr>
            <a:r>
              <a:t>0x1BE44922c9505E492eA93cfA4a673CE8ea106Ea1</a:t>
            </a:r>
          </a:p>
          <a:p>
            <a:pPr>
              <a:defRPr sz="800">
                <a:solidFill>
                  <a:srgbClr val="6B6472"/>
                </a:solidFill>
              </a:defRPr>
            </a:pPr>
            <a:r>
              <a:t>Verifiable on Etherscan · 39 passing test suites · Genesis model &amp; 3 active hospital test nodes.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94960"/>
            <a:ext cx="10698480" cy="64008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48640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6A34A"/>
                </a:solidFill>
              </a:defRPr>
            </a:pPr>
            <a:r>
              <a:t>✓ ALL BCOLBD MANDATORY CRITERIA SATISFIED: Working UI, backend pipeline, and live verified Sepolia smart contract.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A32B68"/>
                </a:solidFill>
              </a:defRPr>
            </a:pPr>
            <a:r>
              <a:t>09 · SOCIO-ECONOMIC IMPACT IN BANGLADESH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5156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2E2733"/>
                </a:solidFill>
              </a:defRPr>
            </a:pPr>
            <a:r>
              <a:t>Democratizing Diagnostics: Saving BDT 250+ Crore Annually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B6472"/>
                </a:solidFill>
              </a:defRPr>
            </a:pPr>
            <a:r>
              <a:t>MedChain-FL  ·  Team FedGuard  ·  BCOLBD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6B6472"/>
                </a:solidFill>
              </a:defRPr>
            </a:pPr>
            <a:r>
              <a:t>09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34440"/>
          <a:ext cx="106984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108960"/>
                <a:gridCol w="3108960"/>
                <a:gridCol w="2194560"/>
              </a:tblGrid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HEALTHCARE METRIC</a:t>
                      </a:r>
                    </a:p>
                  </a:txBody>
                  <a:tcPr>
                    <a:solidFill>
                      <a:srgbClr val="A32B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TRADITIONAL DHAKA FLOW</a:t>
                      </a:r>
                    </a:p>
                  </a:txBody>
                  <a:tcPr>
                    <a:solidFill>
                      <a:srgbClr val="A32B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MEDCHAIN-FL ENCLAVE</a:t>
                      </a:r>
                    </a:p>
                  </a:txBody>
                  <a:tcPr>
                    <a:solidFill>
                      <a:srgbClr val="A32B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SOCIO-ECONOMIC IMPACT</a:t>
                      </a:r>
                    </a:p>
                  </a:txBody>
                  <a:tcPr>
                    <a:solidFill>
                      <a:srgbClr val="A32B6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E2733"/>
                          </a:solidFill>
                        </a:defRPr>
                      </a:pPr>
                      <a:r>
                        <a:t>Diagnostic Turnaround</a:t>
                      </a:r>
                    </a:p>
                  </a:txBody>
                  <a:tcPr>
                    <a:solidFill>
                      <a:srgbClr val="F8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E2733"/>
                          </a:solidFill>
                        </a:defRPr>
                      </a:pPr>
                      <a:r>
                        <a:t>14 to 28 Days (tissue courier to Dhaka)</a:t>
                      </a:r>
                    </a:p>
                  </a:txBody>
                  <a:tcPr>
                    <a:solidFill>
                      <a:srgbClr val="F8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E2733"/>
                          </a:solidFill>
                        </a:defRPr>
                      </a:pPr>
                      <a:r>
                        <a:t>15 Minutes (Instant On-Premise Scan)</a:t>
                      </a:r>
                    </a:p>
                  </a:txBody>
                  <a:tcPr>
                    <a:solidFill>
                      <a:srgbClr val="F8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99.9% Faster Diagnosis</a:t>
                      </a:r>
                    </a:p>
                  </a:txBody>
                  <a:tcPr>
                    <a:solidFill>
                      <a:srgbClr val="F8F7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E2733"/>
                          </a:solidFill>
                        </a:defRPr>
                      </a:pPr>
                      <a:r>
                        <a:t>Patient Logistics &amp; Travel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E2733"/>
                          </a:solidFill>
                        </a:defRPr>
                      </a:pPr>
                      <a:r>
                        <a:t>BDT 15,000 – 30,000 (transit &amp; hotel)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E2733"/>
                          </a:solidFill>
                        </a:defRPr>
                      </a:pPr>
                      <a:r>
                        <a:t>BDT 500 – 1,000 (Local Hospital)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98% Direct Savings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E2733"/>
                          </a:solidFill>
                        </a:defRPr>
                      </a:pPr>
                      <a:r>
                        <a:t>Cancer Stage at Detection</a:t>
                      </a:r>
                    </a:p>
                  </a:txBody>
                  <a:tcPr>
                    <a:solidFill>
                      <a:srgbClr val="F8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E2733"/>
                          </a:solidFill>
                        </a:defRPr>
                      </a:pPr>
                      <a:r>
                        <a:t>70% Detected at Stage 3/4 (Fatal)</a:t>
                      </a:r>
                    </a:p>
                  </a:txBody>
                  <a:tcPr>
                    <a:solidFill>
                      <a:srgbClr val="F8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E2733"/>
                          </a:solidFill>
                        </a:defRPr>
                      </a:pPr>
                      <a:r>
                        <a:t>Stage 1/2 (Early &amp; Curable)</a:t>
                      </a:r>
                    </a:p>
                  </a:txBody>
                  <a:tcPr>
                    <a:solidFill>
                      <a:srgbClr val="F8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Averts Late Mortality</a:t>
                      </a:r>
                    </a:p>
                  </a:txBody>
                  <a:tcPr>
                    <a:solidFill>
                      <a:srgbClr val="F8F7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Cancer Treatment Expense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BDT 15 – 25 Lakh (Out-of-Pocket)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BDT 1.5 – 2.5 Lakh (Curable Stage)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Saves BDT 18 Lakh/Family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E2733"/>
                          </a:solidFill>
                        </a:defRPr>
                      </a:pPr>
                      <a:r>
                        <a:t>5-Year Survival Rate</a:t>
                      </a:r>
                    </a:p>
                  </a:txBody>
                  <a:tcPr>
                    <a:solidFill>
                      <a:srgbClr val="F8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E2733"/>
                          </a:solidFill>
                        </a:defRPr>
                      </a:pPr>
                      <a:r>
                        <a:t>35% – 44% (Late Detection)</a:t>
                      </a:r>
                    </a:p>
                  </a:txBody>
                  <a:tcPr>
                    <a:solidFill>
                      <a:srgbClr val="F8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E2733"/>
                          </a:solidFill>
                        </a:defRPr>
                      </a:pPr>
                      <a:r>
                        <a:t>85% – 90%+ (Early Detection)</a:t>
                      </a:r>
                    </a:p>
                  </a:txBody>
                  <a:tcPr>
                    <a:solidFill>
                      <a:srgbClr val="F8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+45% Survival Increase</a:t>
                      </a:r>
                    </a:p>
                  </a:txBody>
                  <a:tcPr>
                    <a:solidFill>
                      <a:srgbClr val="F8F7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983480"/>
            <a:ext cx="10698480" cy="11887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120640"/>
            <a:ext cx="10149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6A34A"/>
                </a:solidFill>
              </a:defRPr>
            </a:pPr>
            <a:r>
              <a:t>NATIONAL HEALTHCARE ECONOMIC IMPACT (DGHS &amp; SMART BANGLADESH 2041):</a:t>
            </a:r>
          </a:p>
          <a:p>
            <a:pPr>
              <a:defRPr sz="1000">
                <a:solidFill>
                  <a:srgbClr val="2E2733"/>
                </a:solidFill>
              </a:defRPr>
            </a:pPr>
            <a:r>
              <a:t>Scaling MedChain-FL across 37 government medical colleges and 500 regional diagnostic centers saves the Bangladesh healthcare system over BDT 250+ Crore annually in direct medical costs and averts catastrophic health poverty for thousands of families.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A32B68"/>
                </a:solidFill>
              </a:defRPr>
            </a:pPr>
            <a:r>
              <a:t>10 · 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5156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2E2733"/>
                </a:solidFill>
              </a:defRPr>
            </a:pPr>
            <a:r>
              <a:t>Total Addressable Market (TAM) in Bangladesh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B6472"/>
                </a:solidFill>
              </a:defRPr>
            </a:pPr>
            <a:r>
              <a:t>MedChain-FL  ·  Team FedGuard  ·  BCOLBD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6B6472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383280" cy="356616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30175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2733"/>
                </a:solidFill>
              </a:defRPr>
            </a:pPr>
            <a:r>
              <a:t>BDT 1,200 Cr</a:t>
            </a:r>
          </a:p>
          <a:p>
            <a:pPr>
              <a:defRPr sz="1000" b="1">
                <a:solidFill>
                  <a:srgbClr val="2E2733"/>
                </a:solidFill>
              </a:defRPr>
            </a:pPr>
            <a:r>
              <a:t>TAM (TOTAL ADDRESSABLE)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4,500+ Registered Diagnostic Centers in BD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173 Million Population across 8 Divisions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30 Million Screening-Age Women in Bangladesh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National oncology diagnostic market potential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383280" cy="356616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17320"/>
            <a:ext cx="30175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9488"/>
                </a:solidFill>
              </a:defRPr>
            </a:pPr>
            <a:r>
              <a:t>BDT 280 Cr</a:t>
            </a:r>
          </a:p>
          <a:p>
            <a:pPr>
              <a:defRPr sz="1000" b="1">
                <a:solidFill>
                  <a:srgbClr val="2E2733"/>
                </a:solidFill>
              </a:defRPr>
            </a:pPr>
            <a:r>
              <a:t>SAM (SERVICEABLE ADDRESSABLE)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37 Government Medical College Hospitals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Top 100 Private Hospital Chains &amp; Labs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High-Volume Histopathology Hubs (Dhaka &amp; Divisional)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Primary targets for consortium membership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34440"/>
            <a:ext cx="3383280" cy="356616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417320"/>
            <a:ext cx="30175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32B68"/>
                </a:solidFill>
              </a:defRPr>
            </a:pPr>
            <a:r>
              <a:t>BDT 24.2 Cr</a:t>
            </a:r>
          </a:p>
          <a:p>
            <a:pPr>
              <a:defRPr sz="1000" b="1">
                <a:solidFill>
                  <a:srgbClr val="2E2733"/>
                </a:solidFill>
              </a:defRPr>
            </a:pPr>
            <a:r>
              <a:t>SOM (OBTAINABLE YEAR 5)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150 Hospital Consortium Nodes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200,000+ Annual Biopsies Processed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Sustainable 68% High-Margin Cashflow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Realistic penetration of BD digital pathology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83480"/>
            <a:ext cx="10698480" cy="109728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149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32B68"/>
                </a:solidFill>
              </a:defRPr>
            </a:pPr>
            <a:r>
              <a:t>NATIONAL STRATEGIC ALIGNMENT:</a:t>
            </a:r>
          </a:p>
          <a:p>
            <a:pPr>
              <a:defRPr sz="950">
                <a:solidFill>
                  <a:srgbClr val="2E2733"/>
                </a:solidFill>
              </a:defRPr>
            </a:pPr>
            <a:r>
              <a:t>1. DGHS Shared Health Record (SHR) Project  |  2. Smart Bangladesh 2041 Healthcare Modernization Mandate  |  3. Global Healthcare AI Market: $1.3B (2023) → $6B+ (2030) growing at 24.5% CAGR.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A32B68"/>
                </a:solidFill>
              </a:defRPr>
            </a:pPr>
            <a:r>
              <a:t>11 · 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5156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2E2733"/>
                </a:solidFill>
              </a:defRPr>
            </a:pPr>
            <a:r>
              <a:t>Three Mutually Reinforcing Healthcare Revenue Streams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B6472"/>
                </a:solidFill>
              </a:defRPr>
            </a:pPr>
            <a:r>
              <a:t>MedChain-FL  ·  Team FedGuard  ·  BCOLBD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6B6472"/>
                </a:solidFill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383280" cy="356616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30175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32B68"/>
                </a:solidFill>
              </a:defRPr>
            </a:pPr>
            <a:r>
              <a:t>STREAM 1: PRIVATE HOSPITAL SAAS</a:t>
            </a:r>
          </a:p>
          <a:p>
            <a:pPr>
              <a:defRPr sz="1400" b="1">
                <a:solidFill>
                  <a:srgbClr val="2E2733"/>
                </a:solidFill>
              </a:defRPr>
            </a:pPr>
            <a:r>
              <a:t>BDT 75k – 1.5 Lakh / Mo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Target: Evercare, Square, United, Labaid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Value: Triples pathologist throughput (10 → 30/day)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Zero hardware cost: Runs on commodity hospital PCs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High willingness to pay for throughput expansion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383280" cy="356616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17320"/>
            <a:ext cx="30175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STREAM 2: DGHS &amp; MOHFW CONTRACT</a:t>
            </a:r>
          </a:p>
          <a:p>
            <a:pPr>
              <a:defRPr sz="1400" b="1">
                <a:solidFill>
                  <a:srgbClr val="2E2733"/>
                </a:solidFill>
              </a:defRPr>
            </a:pPr>
            <a:r>
              <a:t>National PPP Licensing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Target: 37 Public Medical College Hospitals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Subsidized under Smart Bangladesh 2041 health budget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Decentralizes cancer diagnostics to division levels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Stable recurring annual government contract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34440"/>
            <a:ext cx="3383280" cy="356616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417320"/>
            <a:ext cx="30175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2733"/>
                </a:solidFill>
              </a:defRPr>
            </a:pPr>
            <a:r>
              <a:t>STREAM 3: PAY-PER-SCAN API</a:t>
            </a:r>
          </a:p>
          <a:p>
            <a:pPr>
              <a:defRPr sz="1400" b="1">
                <a:solidFill>
                  <a:srgbClr val="2E2733"/>
                </a:solidFill>
              </a:defRPr>
            </a:pPr>
            <a:r>
              <a:t>BDT 250 – 300 / Scan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Target: 4,000+ Regional &amp; District Diagnostic Labs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Enables small district labs to offer AI histopathology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Micro-payments paid via bKash / Nagad / Smart Pay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Huge volume: 200,000+ scans annually by Year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83480"/>
            <a:ext cx="10698480" cy="109728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149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TOKENIZED CONTRIBUTION OFFSETS (PROOF-OF-FEDERATED-CONTRIBUTION):</a:t>
            </a:r>
          </a:p>
          <a:p>
            <a:pPr>
              <a:defRPr sz="950">
                <a:solidFill>
                  <a:srgbClr val="2E2733"/>
                </a:solidFill>
              </a:defRPr>
            </a:pPr>
            <a:r>
              <a:t>High-volume contributing hospitals (e.g. Evercare contributing 5,000 verified samples) earn on-chain compute credits that discount their annual subscription, creating a self-sustaining game-theoretic flywheel for continuous dataset expansion.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A32B68"/>
                </a:solidFill>
              </a:defRPr>
            </a:pPr>
            <a:r>
              <a:t>12 · FINANCIAL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5156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2E2733"/>
                </a:solidFill>
              </a:defRPr>
            </a:pPr>
            <a:r>
              <a:t>Path to BDT 24.2 Crore ARR with Near-Zero Gas 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B6472"/>
                </a:solidFill>
              </a:defRPr>
            </a:pPr>
            <a:r>
              <a:t>MedChain-FL  ·  Team FedGuard  ·  BCOLBD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6B6472"/>
                </a:solidFill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383280" cy="338328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301752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2733"/>
                </a:solidFill>
              </a:defRPr>
            </a:pPr>
            <a:r>
              <a:t>YEAR 1: PILOT CONSORTIUM</a:t>
            </a:r>
          </a:p>
          <a:p>
            <a:pPr>
              <a:defRPr sz="2800" b="1">
                <a:solidFill>
                  <a:srgbClr val="2E2733"/>
                </a:solidFill>
              </a:defRPr>
            </a:pPr>
            <a:r>
              <a:t>BDT 35 Lakh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3 Founding Nodes (HSTU Dinajpur, BSMMU, Evercare)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5,000 Biopsies Scanned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Validation on Ethereum Sepolia Testnet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Consortium charter ratified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383280" cy="338328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17320"/>
            <a:ext cx="301752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2733"/>
                </a:solidFill>
              </a:defRPr>
            </a:pPr>
            <a:r>
              <a:t>YEAR 3: REGIONAL EXPANSION</a:t>
            </a:r>
          </a:p>
          <a:p>
            <a:pPr>
              <a:defRPr sz="2800" b="1">
                <a:solidFill>
                  <a:srgbClr val="0D9488"/>
                </a:solidFill>
              </a:defRPr>
            </a:pPr>
            <a:r>
              <a:t>BDT 3.8 Crore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25 Hospital &amp; Divisional Diagnostic Nodes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50,000 Biopsies Scanned Annually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Operating Break-even achieved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DGHS formal accreditation secured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34440"/>
            <a:ext cx="3383280" cy="338328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417320"/>
            <a:ext cx="301752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2733"/>
                </a:solidFill>
              </a:defRPr>
            </a:pPr>
            <a:r>
              <a:t>YEAR 5: NATIONAL ADOPTION</a:t>
            </a:r>
          </a:p>
          <a:p>
            <a:pPr>
              <a:defRPr sz="2800" b="1">
                <a:solidFill>
                  <a:srgbClr val="16A34A"/>
                </a:solidFill>
              </a:defRPr>
            </a:pPr>
            <a:r>
              <a:t>BDT 24.2 Crore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150 Hospital Consortium Nodes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200,000+ Biopsies Scanned Annually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68% EBITDA Margin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~4,500 Lives Saved Annually across Bangladesh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00600"/>
            <a:ext cx="10698480" cy="12801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937760"/>
            <a:ext cx="10149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6A34A"/>
                </a:solidFill>
              </a:defRPr>
            </a:pPr>
            <a:r>
              <a:t>BLOCKCHAIN UNIT ECONOMICS: LAYER-2 &amp; CONSORTIUM ROLLUP</a:t>
            </a:r>
          </a:p>
          <a:p>
            <a:pPr>
              <a:defRPr sz="950">
                <a:solidFill>
                  <a:srgbClr val="2E2733"/>
                </a:solidFill>
              </a:defRPr>
            </a:pPr>
            <a:r>
              <a:t>• Ethereum L1 (Sepolia baseline): ~$17.28 per training round at 30 gwei.</a:t>
            </a:r>
          </a:p>
          <a:p>
            <a:pPr>
              <a:defRPr sz="950" b="1">
                <a:solidFill>
                  <a:srgbClr val="2E2733"/>
                </a:solidFill>
              </a:defRPr>
            </a:pPr>
            <a:r>
              <a:t>• Polygon / Arbitrum / Hyperledger Besu Rollup: Reduces transaction gas cost 100× to &lt; BDT 2.00 (&lt; $0.02) per round. Negligible network overhead ensures maximum operating profit margin.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A32B68"/>
                </a:solidFill>
              </a:defRPr>
            </a:pPr>
            <a:r>
              <a:t>13 · SECURITY &amp; REGULATORY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5156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2E2733"/>
                </a:solidFill>
              </a:defRPr>
            </a:pPr>
            <a:r>
              <a:t>Deterministic Defense Against Adversarial Attacks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B6472"/>
                </a:solidFill>
              </a:defRPr>
            </a:pPr>
            <a:r>
              <a:t>MedChain-FL  ·  Team FedGuard  ·  BCOLBD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6B6472"/>
                </a:solidFill>
              </a:defRPr>
            </a:pPr>
            <a: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3444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6766560"/>
                <a:gridCol w="1371600"/>
              </a:tblGrid>
              <a:tr h="52251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THREAT VECTOR</a:t>
                      </a:r>
                    </a:p>
                  </a:txBody>
                  <a:tcPr>
                    <a:solidFill>
                      <a:srgbClr val="A32B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ON-CHAIN &amp; CRYPTOGRAPHIC DEFENSE</a:t>
                      </a:r>
                    </a:p>
                  </a:txBody>
                  <a:tcPr>
                    <a:solidFill>
                      <a:srgbClr val="A32B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A32B6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E2733"/>
                          </a:solidFill>
                        </a:defRPr>
                      </a:pPr>
                      <a:r>
                        <a:t>Model Poisoning Attack</a:t>
                      </a:r>
                    </a:p>
                  </a:txBody>
                  <a:tcPr>
                    <a:solidFill>
                      <a:srgbClr val="F8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E2733"/>
                          </a:solidFill>
                        </a:defRPr>
                      </a:pPr>
                      <a:r>
                        <a:t>Encrypted FedProx + 3-Sigma Outlier Loss Rejection on Smart Contract</a:t>
                      </a:r>
                    </a:p>
                  </a:txBody>
                  <a:tcPr>
                    <a:solidFill>
                      <a:srgbClr val="F8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6A34A"/>
                          </a:solidFill>
                        </a:defRPr>
                      </a:pPr>
                      <a:r>
                        <a:t>MITIGATED</a:t>
                      </a:r>
                    </a:p>
                  </a:txBody>
                  <a:tcPr>
                    <a:solidFill>
                      <a:srgbClr val="F8F7F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E2733"/>
                          </a:solidFill>
                        </a:defRPr>
                      </a:pPr>
                      <a:r>
                        <a:t>Free-Riding Node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E2733"/>
                          </a:solidFill>
                        </a:defRPr>
                      </a:pPr>
                      <a:r>
                        <a:t>Solidity Quorum Gate: Round Cannot Close Without Valid Enclave 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6A34A"/>
                          </a:solidFill>
                        </a:defRPr>
                      </a:pPr>
                      <a:r>
                        <a:t>MITIGATED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E2733"/>
                          </a:solidFill>
                        </a:defRPr>
                      </a:pPr>
                      <a:r>
                        <a:t>Sybil / Rogue Nodes</a:t>
                      </a:r>
                    </a:p>
                  </a:txBody>
                  <a:tcPr>
                    <a:solidFill>
                      <a:srgbClr val="F8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E2733"/>
                          </a:solidFill>
                        </a:defRPr>
                      </a:pPr>
                      <a:r>
                        <a:t>OpenZeppelin Wallet-Bound KYC Identity &amp; minSamples = 500 Threshold</a:t>
                      </a:r>
                    </a:p>
                  </a:txBody>
                  <a:tcPr>
                    <a:solidFill>
                      <a:srgbClr val="F8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6A34A"/>
                          </a:solidFill>
                        </a:defRPr>
                      </a:pPr>
                      <a:r>
                        <a:t>MITIGATED</a:t>
                      </a:r>
                    </a:p>
                  </a:txBody>
                  <a:tcPr>
                    <a:solidFill>
                      <a:srgbClr val="F8F7F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E2733"/>
                          </a:solidFill>
                        </a:defRPr>
                      </a:pPr>
                      <a:r>
                        <a:t>Patient Health Data Leak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E2733"/>
                          </a:solidFill>
                        </a:defRPr>
                      </a:pPr>
                      <a:r>
                        <a:t>Enclave Air-Gap: 0 Bytes Raw Pixels Leave Hospital (PDPO 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6A34A"/>
                          </a:solidFill>
                        </a:defRPr>
                      </a:pPr>
                      <a:r>
                        <a:t>MITIGATED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E2733"/>
                          </a:solidFill>
                        </a:defRPr>
                      </a:pPr>
                      <a:r>
                        <a:t>Man-in-the-Middle Attack</a:t>
                      </a:r>
                    </a:p>
                  </a:txBody>
                  <a:tcPr>
                    <a:solidFill>
                      <a:srgbClr val="F8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E2733"/>
                          </a:solidFill>
                        </a:defRPr>
                      </a:pPr>
                      <a:r>
                        <a:t>AES-256-CBC Encryption Under Fresh IV + Content-Addressed CIDs</a:t>
                      </a:r>
                    </a:p>
                  </a:txBody>
                  <a:tcPr>
                    <a:solidFill>
                      <a:srgbClr val="F8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6A34A"/>
                          </a:solidFill>
                        </a:defRPr>
                      </a:pPr>
                      <a:r>
                        <a:t>MITIGATED</a:t>
                      </a:r>
                    </a:p>
                  </a:txBody>
                  <a:tcPr>
                    <a:solidFill>
                      <a:srgbClr val="F8F7FA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E2733"/>
                          </a:solidFill>
                        </a:defRPr>
                      </a:pPr>
                      <a:r>
                        <a:t>On-Chain Re-identification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E2733"/>
                          </a:solidFill>
                        </a:defRPr>
                      </a:pPr>
                      <a:r>
                        <a:t>Zero Patient PHI: Only IPFS CIDs &amp; Bit-Packed Integers on Ethereum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6A34A"/>
                          </a:solidFill>
                        </a:defRPr>
                      </a:pPr>
                      <a:r>
                        <a:t>MITIGATED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074920"/>
            <a:ext cx="10698480" cy="100584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21208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BANGLADESH PERSONAL DATA PROTECTION ORDINANCE (PDPO) 2025 ALIGNMENT:</a:t>
            </a:r>
          </a:p>
          <a:p>
            <a:pPr>
              <a:defRPr sz="900">
                <a:solidFill>
                  <a:srgbClr val="2E2733"/>
                </a:solidFill>
              </a:defRPr>
            </a:pPr>
            <a:r>
              <a:t>Full patient confidentiality guaranteed. Hospital sovereignty preserved. Zero data crosses borders. Provable audit log available for DGHS legal compliance inspection.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A32B68"/>
                </a:solidFill>
              </a:defRPr>
            </a:pPr>
            <a:r>
              <a:t>14 · ROADMAP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5156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2E2733"/>
                </a:solidFill>
              </a:defRPr>
            </a:pPr>
            <a:r>
              <a:t>Decentralized Cancer Diagnostics for Every Citizen of Bangladesh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B6472"/>
                </a:solidFill>
              </a:defRPr>
            </a:pPr>
            <a:r>
              <a:t>MedChain-FL  ·  Team FedGuard  ·  BCOLBD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6B6472"/>
                </a:solidFill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383280" cy="338328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301752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A32B68"/>
                </a:solidFill>
              </a:defRPr>
            </a:pPr>
            <a:r>
              <a:t>PHASE 1: NOW</a:t>
            </a:r>
          </a:p>
          <a:p>
            <a:pPr>
              <a:defRPr sz="1000" b="1">
                <a:solidFill>
                  <a:srgbClr val="2E2733"/>
                </a:solidFill>
              </a:defRPr>
            </a:pPr>
            <a:r>
              <a:t>Sepolia Live Prototype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Working full-stack prototype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Sepolia contract (0x1BE4...)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Web enclave &amp; cockpit live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98.95% clinical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383280" cy="338328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17320"/>
            <a:ext cx="301752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D9488"/>
                </a:solidFill>
              </a:defRPr>
            </a:pPr>
            <a:r>
              <a:t>PHASE 2: 6 MONTHS</a:t>
            </a:r>
          </a:p>
          <a:p>
            <a:pPr>
              <a:defRPr sz="1000" b="1">
                <a:solidFill>
                  <a:srgbClr val="2E2733"/>
                </a:solidFill>
              </a:defRPr>
            </a:pPr>
            <a:r>
              <a:t>3-Hospital BD Pilot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HSTU Dinajpur, BSMMU, Evercare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DGHS regulatory sandbox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Establishing production gas SLA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Ratify consortium charter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34440"/>
            <a:ext cx="3383280" cy="338328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417320"/>
            <a:ext cx="301752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6A34A"/>
                </a:solidFill>
              </a:defRPr>
            </a:pPr>
            <a:r>
              <a:t>PHASE 3: 18 MONTHS</a:t>
            </a:r>
          </a:p>
          <a:p>
            <a:pPr>
              <a:defRPr sz="1000" b="1">
                <a:solidFill>
                  <a:srgbClr val="2E2733"/>
                </a:solidFill>
              </a:defRPr>
            </a:pPr>
            <a:r>
              <a:t>L2 Rollup &amp; Scale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Migrate to Polygon / Besu L2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Sub-2 Taka ($0.02) gas per round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Multi-organ histopathology</a:t>
            </a:r>
          </a:p>
          <a:p>
            <a:pPr>
              <a:defRPr sz="900">
                <a:solidFill>
                  <a:srgbClr val="6B6472"/>
                </a:solidFill>
              </a:defRPr>
            </a:pPr>
            <a:r>
              <a:t>• 37 Govt medical colleges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00600"/>
            <a:ext cx="10698480" cy="128016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6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937760"/>
            <a:ext cx="7315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A32B68"/>
                </a:solidFill>
              </a:defRPr>
            </a:pPr>
            <a:r>
              <a:t>THANK YOU  ·  TEAM FEDGUARD</a:t>
            </a:r>
          </a:p>
          <a:p>
            <a:pPr>
              <a:defRPr sz="1050" b="1">
                <a:solidFill>
                  <a:srgbClr val="2E2733"/>
                </a:solidFill>
              </a:defRPr>
            </a:pPr>
            <a:r>
              <a:t>Shahriar Hasan  ·  Md. Taufiq Biswas  ·  Md Najib Ul Azam Mahi</a:t>
            </a:r>
          </a:p>
          <a:p>
            <a:pPr>
              <a:defRPr sz="950">
                <a:solidFill>
                  <a:srgbClr val="6B6472"/>
                </a:solidFill>
              </a:defRPr>
            </a:pPr>
            <a:r>
              <a:t>Dept. of Electronics and Communication Engineering (ECE), HSTU, Dinajpur, Bangladesh</a:t>
            </a:r>
          </a:p>
        </p:txBody>
      </p:sp>
      <p:pic>
        <p:nvPicPr>
          <p:cNvPr id="14" name="Picture 13" descr="slide_1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4937760"/>
            <a:ext cx="2286000" cy="9305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