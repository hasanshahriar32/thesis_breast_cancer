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E2733"/>
                </a:solidFill>
                <a:latin typeface="Calibri"/>
              </a:defRPr>
            </a:pPr>
            <a:r>
              <a:rPr sz="1200" b="0" i="0" u="none" strike="noStrike">
                <a:solidFill>
                  <a:srgbClr val="2E2733"/>
                </a:solidFill>
                <a:latin typeface="Calibri"/>
              </a:rPr>
              <a:t>Parameter budget of competing backbones</a:t>
            </a:r>
          </a:p>
        </c:rich>
      </c:tx>
      <c:layout/>
      <c:overlay val="0"/>
    </c:title>
    <c:autoTitleDeleted val="0"/>
    <c:plotArea>
      <c:layout/>
      <c:barChart>
        <c:barDir val="bar"/>
        <c:grouping val="clustered"/>
        <c:varyColors val="0"/>
        <c:ser>
          <c:idx val="0"/>
          <c:order val="0"/>
          <c:tx>
            <c:strRef>
              <c:f>Sheet1!$B$1</c:f>
              <c:strCache>
                <c:ptCount val="1"/>
                <c:pt idx="0">
                  <c:v>Parameters (M)</c:v>
                </c:pt>
              </c:strCache>
            </c:strRef>
          </c:tx>
          <c:spPr>
            <a:solidFill>
              <a:srgbClr val="A32B68"/>
            </a:solidFill>
            <a:effectLst/>
          </c:spPr>
          <c:invertIfNegative val="0"/>
          <c:dLbls>
            <c:numFmt formatCode="#,##0" sourceLinked="0"/>
            <c:txPr>
              <a:bodyPr/>
              <a:lstStyle/>
              <a:p>
                <a:pPr>
                  <a:defRPr b="0" i="0" strike="noStrike" sz="1000" u="none">
                    <a:solidFill>
                      <a:srgbClr val="2E2733"/>
                    </a:solidFill>
                    <a:latin typeface="Calibri"/>
                  </a:defRPr>
                </a:pPr>
              </a:p>
            </c:txPr>
            <c:showLegendKey val="0"/>
            <c:showVal val="1"/>
            <c:showCatName val="0"/>
            <c:showSerName val="0"/>
            <c:showPercent val="0"/>
            <c:showBubbleSize val="0"/>
            <c:showLeaderLines val="0"/>
          </c:dLbls>
          <c:dPt>
            <c:idx val="0"/>
            <c:invertIfNegative val="0"/>
            <c:bubble3D val="0"/>
            <c:spPr>
              <a:solidFill>
                <a:srgbClr val="A32B68"/>
              </a:solidFill>
              <a:effectLst/>
            </c:spPr>
          </c:dPt>
          <c:dPt>
            <c:idx val="1"/>
            <c:invertIfNegative val="0"/>
            <c:bubble3D val="0"/>
            <c:spPr>
              <a:solidFill>
                <a:srgbClr val="C9BFCC"/>
              </a:solidFill>
              <a:effectLst/>
            </c:spPr>
          </c:dPt>
          <c:dPt>
            <c:idx val="2"/>
            <c:invertIfNegative val="0"/>
            <c:bubble3D val="0"/>
            <c:spPr>
              <a:solidFill>
                <a:srgbClr val="C9BFCC"/>
              </a:solidFill>
              <a:effectLst/>
            </c:spPr>
          </c:dPt>
          <c:dPt>
            <c:idx val="3"/>
            <c:invertIfNegative val="0"/>
            <c:bubble3D val="0"/>
            <c:spPr>
              <a:solidFill>
                <a:srgbClr val="C9BFCC"/>
              </a:solidFill>
              <a:effectLst/>
            </c:spPr>
          </c:dPt>
          <c:dPt>
            <c:idx val="4"/>
            <c:invertIfNegative val="0"/>
            <c:bubble3D val="0"/>
            <c:spPr>
              <a:solidFill>
                <a:srgbClr val="C9BFCC"/>
              </a:solidFill>
              <a:effectLst/>
            </c:spPr>
          </c:dPt>
          <c:cat>
            <c:multiLvlStrRef>
              <c:f>Sheet1!$A$2:$A$6</c:f>
              <c:multiLvlStrCache>
                <c:ptCount val="5"/>
                <c:lvl>
                  <c:pt idx="0">
                    <c:v>CoAtt-FedNet</c:v>
                  </c:pt>
                  <c:pt idx="1">
                    <c:v>CNN-LSTM</c:v>
                  </c:pt>
                  <c:pt idx="2">
                    <c:v>ResNet-50</c:v>
                  </c:pt>
                  <c:pt idx="3">
                    <c:v>ResNet-152</c:v>
                  </c:pt>
                  <c:pt idx="4">
                    <c:v>Swin-B</c:v>
                  </c:pt>
                </c:lvl>
              </c:multiLvlStrCache>
            </c:multiLvlStrRef>
          </c:cat>
          <c:val>
            <c:numRef>
              <c:f>Sheet1!$B$2:$B$6</c:f>
              <c:numCache>
                <c:formatCode>General</c:formatCode>
                <c:ptCount val="5"/>
                <c:pt idx="0">
                  <c:v>5.9</c:v>
                </c:pt>
                <c:pt idx="1">
                  <c:v>25</c:v>
                </c:pt>
                <c:pt idx="2">
                  <c:v>25.6</c:v>
                </c:pt>
                <c:pt idx="3">
                  <c:v>60.2</c:v>
                </c:pt>
                <c:pt idx="4">
                  <c:v>87.8</c:v>
                </c:pt>
              </c:numCache>
            </c:numRef>
          </c:val>
        </c:ser>
        <c:dLbls>
          <c:numFmt formatCode="#,##0" sourceLinked="0"/>
          <c:txPr>
            <a:bodyPr/>
            <a:lstStyle/>
            <a:p>
              <a:pPr>
                <a:defRPr b="0" i="0" strike="noStrike" sz="1000" u="none">
                  <a:solidFill>
                    <a:srgbClr val="2E27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6472"/>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FD7D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2E2733"/>
                </a:solidFill>
                <a:latin typeface="Calibri"/>
              </a:defRPr>
            </a:pPr>
            <a:r>
              <a:rPr sz="1150" b="0" i="0" u="none" strike="noStrike">
                <a:solidFill>
                  <a:srgbClr val="2E2733"/>
                </a:solidFill>
                <a:latin typeface="Calibri"/>
              </a:rPr>
              <a:t>On-chain gas per round — 320,000 total</a:t>
            </a:r>
          </a:p>
        </c:rich>
      </c:tx>
      <c:layout/>
      <c:overlay val="0"/>
    </c:title>
    <c:autoTitleDeleted val="0"/>
    <c:plotArea>
      <c:layout/>
      <c:barChart>
        <c:barDir val="bar"/>
        <c:grouping val="clustered"/>
        <c:varyColors val="0"/>
        <c:ser>
          <c:idx val="0"/>
          <c:order val="0"/>
          <c:tx>
            <c:strRef>
              <c:f>Sheet1!$B$1</c:f>
              <c:strCache>
                <c:ptCount val="1"/>
                <c:pt idx="0">
                  <c:v>Gas units</c:v>
                </c:pt>
              </c:strCache>
            </c:strRef>
          </c:tx>
          <c:spPr>
            <a:solidFill>
              <a:srgbClr val="0E7C7B"/>
            </a:solidFill>
            <a:effectLst/>
          </c:spPr>
          <c:invertIfNegative val="0"/>
          <c:dLbls>
            <c:numFmt formatCode="#,##0" sourceLinked="0"/>
            <c:txPr>
              <a:bodyPr/>
              <a:lstStyle/>
              <a:p>
                <a:pPr>
                  <a:defRPr b="0" i="0" strike="noStrike" sz="950" u="none">
                    <a:solidFill>
                      <a:srgbClr val="2E273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Round open</c:v>
                  </c:pt>
                  <c:pt idx="1">
                    <c:v>Submissions (×3)</c:v>
                  </c:pt>
                  <c:pt idx="2">
                    <c:v>Finalization</c:v>
                  </c:pt>
                  <c:pt idx="3">
                    <c:v>Model registration</c:v>
                  </c:pt>
                </c:lvl>
              </c:multiLvlStrCache>
            </c:multiLvlStrRef>
          </c:cat>
          <c:val>
            <c:numRef>
              <c:f>Sheet1!$B$2:$B$5</c:f>
              <c:numCache>
                <c:formatCode>General</c:formatCode>
                <c:ptCount val="4"/>
                <c:pt idx="0">
                  <c:v>48000</c:v>
                </c:pt>
                <c:pt idx="1">
                  <c:v>126000</c:v>
                </c:pt>
                <c:pt idx="2">
                  <c:v>64000</c:v>
                </c:pt>
                <c:pt idx="3">
                  <c:v>82000</c:v>
                </c:pt>
              </c:numCache>
            </c:numRef>
          </c:val>
        </c:ser>
        <c:dLbls>
          <c:numFmt formatCode="#,##0" sourceLinked="0"/>
          <c:txPr>
            <a:bodyPr/>
            <a:lstStyle/>
            <a:p>
              <a:pPr>
                <a:defRPr b="0" i="0" strike="noStrike" sz="950" u="none">
                  <a:solidFill>
                    <a:srgbClr val="2E27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6B6472"/>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FD7D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Team FedGuard from Hajee Mohammad Danesh Science and Technology University. Our project is MedChain-FL, an Ethereum and IPFS framework that lets hospitals train a shared breast-cancer diagnostic model without any patient image ever leaving the building. Shahriar covers the problem and market, Taufiq the blockchain architecture and governance, Najib the model, results and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frame this. Fifty million health records exist, but no framework lets hospitals collaborate on them. One pathologist per million people means provincial hospitals ship tissue away and wait weeks. Fifteen thousand women die each year, where early detection decides outcomes. And since the Personal Data Protection Ordinance 2025, pooling that data centrally is not just risky, it is unlawful.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objection is that a central server could do the averaging. Technically true. But no hospital will host it and no competitor will trust it. Four things a database cannot give us: a neutral custodian, demonstrable proof for the regulator, a free-riding rule the operator cannot waive, and provenance that outlives the coordinating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two halves. CoAtt-FedNet is the classifier that trains inside each hospital. MedChain-FL is the coordination layer. Train locally, encrypt and pin to IPFS, anchor the identifier on-chain. Twenty-three megabytes of weights become under a hundred bytes of ledger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round is five steps. Operator opens it. Hospitals fetch the global model by content identifier. They train locally. They encrypt, pin, and submit the new identifier. The oracle aggregates by sample-count-weighted FedAvg. Critically, the contract will not let a round close until every registered hospital has submitted — free-riding is structurally impossible, not merely discouraged.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subsystems. Hospital operations run Node.js clients on premise. The global model controller is a Python service that watches the chain and runs the aggregation. The admin dashboard supervises, but note it observes the contract rather than overriding it. The orchestrator is live on Sepolia at the address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architectural decision that makes the economics work. Heavy payloads never touch the chain. A raw update is twenty-three megabytes; encrypted on IPFS it is under ten; the on-chain commitment is a forty-six byte identifier plus packed metrics, under a hundred bytes. Aggregation runs off-chain behind the oracle, so the chain carries coordination events, not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classifier is an EfficientNet-B0 backbone with Fast Coordinate Attention. Coordinate Attention pools along height and width separately, so positional information survives — which matters when the diagnostic signal is where the tissue structure is, not just what channel it is in. Five point nine million parameters against twenty-five to eighty-eight for the baselines. In federated learning parameter count is bandwidth, twenty times per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98.95 percent against a literature peak of 97.54. Recall 99.45 — that is the number that matters clinically, because a missed malignancy costs far more than a false alarm. ROC AUC 0.9995, average precision 0.9984. And note the comparison: differentially private federated baselines cap below 85 percent. Encryption preserves the learning signal where noise injection destroys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federated rounds across three simulated institutions. All three cross 98 percent by round five, and the global model converges to 98.95. Two things worth noticing: the global curve has lower variance than any single site, which tells us averaging is cancelling noise rather than just splitting the difference. And returns flatten after round eight, giving a practical stopping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concept. Five runtime environments are integrated: the Node client, the Python controller, the Solidity contract on Sepolia, IPFS through Pinata, and the admin dashboard. Both mandatory prototype criteria are satisfied — there is a working user interface, and the back end writes to a blockchain. The contract address and the genesis model identifier are both verifiable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across the three layers the rubric asks about. Membership: operator-approved, wallet-bound, revocable without erasing history. Business: a charter and an SLA of weekly rounds at 99 percent completion. Infrastructure: distributed clients, redundant IPFS pinning, shared node operation. The point throughout is that these are contract rules, not policies someone promises to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attack vectors and our response to each. Five are mitigated structurally. One is only partially mitigated, and we want to be direct about it: inference-time membership inference. We store no raw images, only encrypted parameters, so the leakage surface is small, but we have not established formal differential privacy bounds. Two more honest caveats: we are on Sepolia not mainnet, and the multi-hospital trials were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economics. A full round costs about three hundred twenty thousand gas — seventeen dollars on testnet, and one to two orders of magnitude less on a layer-2 or consortium chain. Against that, the market is a one-point-three billion dollar segment growing past six billion by 2030. We sell it as a consortium subscription, not per image, with the ledger doubling as the billing audit trail. Pilot with two hospitals, then expand through DGHS.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goes. The prototype is live on Sepolia today. Next is a pilot with two founding hospitals to establish real gas economics and ratify the charter. Then migration to a layer-2 or Besu consortium chain, and extension beyond binary classification to multi-class and multi-magnification pathology. Thank you —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024"/>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rtlCol="0" anchor="ctr"/>
          <a:lstStyle/>
          <a:p>
            <a:pPr indent="0" marL="0">
              <a:buNone/>
            </a:pPr>
            <a:r>
              <a:rPr lang="en-US" sz="1150" b="1" spc="150" kern="0" dirty="0">
                <a:solidFill>
                  <a:srgbClr val="D98CB3"/>
                </a:solidFill>
                <a:latin typeface="Calibri" pitchFamily="34" charset="0"/>
                <a:ea typeface="Calibri" pitchFamily="34" charset="-122"/>
                <a:cs typeface="Calibri" pitchFamily="34" charset="-120"/>
              </a:rPr>
              <a:t>BCOLBD 2026   ·   BLOCKCHAIN CATEGORY   ·   HEALTHTECH</a:t>
            </a:r>
            <a:endParaRPr lang="en-US" sz="1150" dirty="0"/>
          </a:p>
        </p:txBody>
      </p:sp>
      <p:pic>
        <p:nvPicPr>
          <p:cNvPr id="3" name="Image 0" descr="assets/logo.png">    </p:cNvPr>
          <p:cNvPicPr>
            <a:picLocks noChangeAspect="1"/>
          </p:cNvPicPr>
          <p:nvPr/>
        </p:nvPicPr>
        <p:blipFill>
          <a:blip r:embed="rId1"/>
          <a:stretch>
            <a:fillRect/>
          </a:stretch>
        </p:blipFill>
        <p:spPr>
          <a:xfrm>
            <a:off x="9921240" y="384048"/>
            <a:ext cx="1691640" cy="685800"/>
          </a:xfrm>
          <a:prstGeom prst="rect">
            <a:avLst/>
          </a:prstGeom>
        </p:spPr>
      </p:pic>
      <p:sp>
        <p:nvSpPr>
          <p:cNvPr id="4" name="Text 1"/>
          <p:cNvSpPr/>
          <p:nvPr/>
        </p:nvSpPr>
        <p:spPr>
          <a:xfrm>
            <a:off x="502920" y="2286000"/>
            <a:ext cx="10058400" cy="118872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MedChain-FL</a:t>
            </a:r>
            <a:endParaRPr lang="en-US" sz="6000" dirty="0"/>
          </a:p>
        </p:txBody>
      </p:sp>
      <p:sp>
        <p:nvSpPr>
          <p:cNvPr id="5" name="Text 2"/>
          <p:cNvSpPr/>
          <p:nvPr/>
        </p:nvSpPr>
        <p:spPr>
          <a:xfrm>
            <a:off x="548640" y="3401568"/>
            <a:ext cx="9601200" cy="502920"/>
          </a:xfrm>
          <a:prstGeom prst="rect">
            <a:avLst/>
          </a:prstGeom>
          <a:noFill/>
          <a:ln/>
        </p:spPr>
        <p:txBody>
          <a:bodyPr wrap="square" rtlCol="0" anchor="ctr"/>
          <a:lstStyle/>
          <a:p>
            <a:pPr indent="0" marL="0">
              <a:buNone/>
            </a:pPr>
            <a:r>
              <a:rPr lang="en-US" sz="1800" i="1" dirty="0">
                <a:solidFill>
                  <a:srgbClr val="CFC4D2"/>
                </a:solidFill>
                <a:latin typeface="Cambria" pitchFamily="34" charset="0"/>
                <a:ea typeface="Cambria" pitchFamily="34" charset="-122"/>
                <a:cs typeface="Cambria" pitchFamily="34" charset="-120"/>
              </a:rPr>
              <a:t>Ethereum–IPFS Framework for Privacy-Preserving Federated Health AI</a:t>
            </a:r>
            <a:endParaRPr lang="en-US" sz="1800" dirty="0"/>
          </a:p>
        </p:txBody>
      </p:sp>
      <p:sp>
        <p:nvSpPr>
          <p:cNvPr id="6" name="Shape 3"/>
          <p:cNvSpPr/>
          <p:nvPr/>
        </p:nvSpPr>
        <p:spPr>
          <a:xfrm>
            <a:off x="548640" y="4160520"/>
            <a:ext cx="1920240" cy="27432"/>
          </a:xfrm>
          <a:prstGeom prst="rect">
            <a:avLst/>
          </a:prstGeom>
          <a:solidFill>
            <a:srgbClr val="A32B68"/>
          </a:solidFill>
          <a:ln/>
        </p:spPr>
      </p:sp>
      <p:sp>
        <p:nvSpPr>
          <p:cNvPr id="7" name="Text 4"/>
          <p:cNvSpPr/>
          <p:nvPr/>
        </p:nvSpPr>
        <p:spPr>
          <a:xfrm>
            <a:off x="548640" y="4434840"/>
            <a:ext cx="5486400"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Team FedGuard</a:t>
            </a:r>
            <a:endParaRPr lang="en-US" sz="1700" dirty="0"/>
          </a:p>
        </p:txBody>
      </p:sp>
      <p:sp>
        <p:nvSpPr>
          <p:cNvPr id="8" name="Text 5"/>
          <p:cNvSpPr/>
          <p:nvPr/>
        </p:nvSpPr>
        <p:spPr>
          <a:xfrm>
            <a:off x="548640" y="4828032"/>
            <a:ext cx="7315200" cy="320040"/>
          </a:xfrm>
          <a:prstGeom prst="rect">
            <a:avLst/>
          </a:prstGeom>
          <a:noFill/>
          <a:ln/>
        </p:spPr>
        <p:txBody>
          <a:bodyPr wrap="square" rtlCol="0" anchor="ctr"/>
          <a:lstStyle/>
          <a:p>
            <a:pPr indent="0" marL="0">
              <a:buNone/>
            </a:pPr>
            <a:r>
              <a:rPr lang="en-US" sz="1200" dirty="0">
                <a:solidFill>
                  <a:srgbClr val="9E93A4"/>
                </a:solidFill>
                <a:latin typeface="Calibri" pitchFamily="34" charset="0"/>
                <a:ea typeface="Calibri" pitchFamily="34" charset="-122"/>
                <a:cs typeface="Calibri" pitchFamily="34" charset="-120"/>
              </a:rPr>
              <a:t>Team ID 6a7f01a5baff6   ·   Dept. of ECE, HSTU</a:t>
            </a:r>
            <a:endParaRPr lang="en-US" sz="1200" dirty="0"/>
          </a:p>
        </p:txBody>
      </p:sp>
      <p:sp>
        <p:nvSpPr>
          <p:cNvPr id="9" name="Text 6"/>
          <p:cNvSpPr/>
          <p:nvPr/>
        </p:nvSpPr>
        <p:spPr>
          <a:xfrm>
            <a:off x="548640" y="5623560"/>
            <a:ext cx="347472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Shahriar Hasan</a:t>
            </a:r>
            <a:endParaRPr lang="en-US" sz="1300" dirty="0"/>
          </a:p>
        </p:txBody>
      </p:sp>
      <p:sp>
        <p:nvSpPr>
          <p:cNvPr id="10" name="Text 7"/>
          <p:cNvSpPr/>
          <p:nvPr/>
        </p:nvSpPr>
        <p:spPr>
          <a:xfrm>
            <a:off x="4206240" y="5623560"/>
            <a:ext cx="347472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Md. Taufiq Biswas</a:t>
            </a:r>
            <a:endParaRPr lang="en-US" sz="1300" dirty="0"/>
          </a:p>
        </p:txBody>
      </p:sp>
      <p:sp>
        <p:nvSpPr>
          <p:cNvPr id="11" name="Text 8"/>
          <p:cNvSpPr/>
          <p:nvPr/>
        </p:nvSpPr>
        <p:spPr>
          <a:xfrm>
            <a:off x="7863840" y="5623560"/>
            <a:ext cx="347472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Md Najib Ul Azam Mahi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100" b="1" spc="200" kern="0" dirty="0">
                <a:solidFill>
                  <a:srgbClr val="A32B68"/>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48640" y="685800"/>
            <a:ext cx="11064240" cy="822960"/>
          </a:xfrm>
          <a:prstGeom prst="rect">
            <a:avLst/>
          </a:prstGeom>
          <a:noFill/>
          <a:ln/>
        </p:spPr>
        <p:txBody>
          <a:bodyPr wrap="square" rtlCol="0" anchor="ctr"/>
          <a:lstStyle/>
          <a:p>
            <a:pPr indent="0" marL="0">
              <a:lnSpc>
                <a:spcPts val="3200"/>
              </a:lnSpc>
              <a:buNone/>
            </a:pPr>
            <a:r>
              <a:rPr lang="en-US" sz="2800" b="1" dirty="0">
                <a:solidFill>
                  <a:srgbClr val="2E2733"/>
                </a:solidFill>
                <a:latin typeface="Cambria" pitchFamily="34" charset="0"/>
                <a:ea typeface="Cambria" pitchFamily="34" charset="-122"/>
                <a:cs typeface="Cambria" pitchFamily="34" charset="-120"/>
              </a:rPr>
              <a:t>Hospital data can't be pooled — legally or safely</a:t>
            </a:r>
            <a:endParaRPr lang="en-US" sz="2800" dirty="0"/>
          </a:p>
        </p:txBody>
      </p:sp>
      <p:sp>
        <p:nvSpPr>
          <p:cNvPr id="4" name="Shape 2"/>
          <p:cNvSpPr/>
          <p:nvPr/>
        </p:nvSpPr>
        <p:spPr>
          <a:xfrm>
            <a:off x="548640" y="1783080"/>
            <a:ext cx="3520440" cy="1965960"/>
          </a:xfrm>
          <a:prstGeom prst="roundRect">
            <a:avLst>
              <a:gd name="adj" fmla="val 3721"/>
            </a:avLst>
          </a:prstGeom>
          <a:solidFill>
            <a:srgbClr val="FFFFFF"/>
          </a:solidFill>
          <a:ln w="12700">
            <a:solidFill>
              <a:srgbClr val="DFD7DC"/>
            </a:solidFill>
            <a:prstDash val="solid"/>
          </a:ln>
          <a:effectLst>
            <a:outerShdw sx="100000" sy="100000" kx="0" ky="0" algn="bl" rotWithShape="0" blurRad="101600" dist="25400" dir="5400000">
              <a:srgbClr val="000000">
                <a:alpha val="8000"/>
              </a:srgbClr>
            </a:outerShdw>
          </a:effectLst>
        </p:spPr>
      </p:sp>
      <p:sp>
        <p:nvSpPr>
          <p:cNvPr id="5" name="Text 3"/>
          <p:cNvSpPr/>
          <p:nvPr/>
        </p:nvSpPr>
        <p:spPr>
          <a:xfrm>
            <a:off x="777240" y="1920240"/>
            <a:ext cx="3108960" cy="640080"/>
          </a:xfrm>
          <a:prstGeom prst="rect">
            <a:avLst/>
          </a:prstGeom>
          <a:noFill/>
          <a:ln/>
        </p:spPr>
        <p:txBody>
          <a:bodyPr wrap="square" rtlCol="0" anchor="ctr"/>
          <a:lstStyle/>
          <a:p>
            <a:pPr indent="0" marL="0">
              <a:buNone/>
            </a:pPr>
            <a:r>
              <a:rPr lang="en-US" sz="3400" b="1" dirty="0">
                <a:solidFill>
                  <a:srgbClr val="A32B68"/>
                </a:solidFill>
                <a:latin typeface="Cambria" pitchFamily="34" charset="0"/>
                <a:ea typeface="Cambria" pitchFamily="34" charset="-122"/>
                <a:cs typeface="Cambria" pitchFamily="34" charset="-120"/>
              </a:rPr>
              <a:t>50M</a:t>
            </a:r>
            <a:endParaRPr lang="en-US" sz="3400" dirty="0"/>
          </a:p>
        </p:txBody>
      </p:sp>
      <p:sp>
        <p:nvSpPr>
          <p:cNvPr id="6" name="Text 4"/>
          <p:cNvSpPr/>
          <p:nvPr/>
        </p:nvSpPr>
        <p:spPr>
          <a:xfrm>
            <a:off x="777240" y="2560320"/>
            <a:ext cx="3108960" cy="320040"/>
          </a:xfrm>
          <a:prstGeom prst="rect">
            <a:avLst/>
          </a:prstGeom>
          <a:noFill/>
          <a:ln/>
        </p:spPr>
        <p:txBody>
          <a:bodyPr wrap="square" rtlCol="0" anchor="ctr"/>
          <a:lstStyle/>
          <a:p>
            <a:pPr indent="0" marL="0">
              <a:buNone/>
            </a:pPr>
            <a:r>
              <a:rPr lang="en-US" sz="1300" b="1" dirty="0">
                <a:solidFill>
                  <a:srgbClr val="2E2733"/>
                </a:solidFill>
                <a:latin typeface="Calibri" pitchFamily="34" charset="0"/>
                <a:ea typeface="Calibri" pitchFamily="34" charset="-122"/>
                <a:cs typeface="Calibri" pitchFamily="34" charset="-120"/>
              </a:rPr>
              <a:t>health records,</a:t>
            </a:r>
            <a:endParaRPr lang="en-US" sz="1300" dirty="0"/>
          </a:p>
        </p:txBody>
      </p:sp>
      <p:sp>
        <p:nvSpPr>
          <p:cNvPr id="7" name="Text 5"/>
          <p:cNvSpPr/>
          <p:nvPr/>
        </p:nvSpPr>
        <p:spPr>
          <a:xfrm>
            <a:off x="777240" y="2880360"/>
            <a:ext cx="3108960" cy="777240"/>
          </a:xfrm>
          <a:prstGeom prst="rect">
            <a:avLst/>
          </a:prstGeom>
          <a:noFill/>
          <a:ln/>
        </p:spPr>
        <p:txBody>
          <a:bodyPr wrap="square" rtlCol="0" anchor="ctr"/>
          <a:lstStyle/>
          <a:p>
            <a:pPr indent="0" marL="0">
              <a:lnSpc>
                <a:spcPct val="115000"/>
              </a:lnSpc>
              <a:buNone/>
            </a:pPr>
            <a:r>
              <a:rPr lang="en-US" sz="1150" dirty="0">
                <a:solidFill>
                  <a:srgbClr val="6B6472"/>
                </a:solidFill>
                <a:latin typeface="Calibri" pitchFamily="34" charset="0"/>
                <a:ea typeface="Calibri" pitchFamily="34" charset="-122"/>
                <a:cs typeface="Calibri" pitchFamily="34" charset="-120"/>
              </a:rPr>
              <a:t>no framework for hospitals to collaborate on them</a:t>
            </a:r>
            <a:endParaRPr lang="en-US" sz="1150" dirty="0"/>
          </a:p>
        </p:txBody>
      </p:sp>
      <p:sp>
        <p:nvSpPr>
          <p:cNvPr id="8" name="Shape 6"/>
          <p:cNvSpPr/>
          <p:nvPr/>
        </p:nvSpPr>
        <p:spPr>
          <a:xfrm>
            <a:off x="4297680" y="1783080"/>
            <a:ext cx="3520440" cy="1965960"/>
          </a:xfrm>
          <a:prstGeom prst="roundRect">
            <a:avLst>
              <a:gd name="adj" fmla="val 3721"/>
            </a:avLst>
          </a:prstGeom>
          <a:solidFill>
            <a:srgbClr val="FFFFFF"/>
          </a:solidFill>
          <a:ln w="12700">
            <a:solidFill>
              <a:srgbClr val="DFD7DC"/>
            </a:solidFill>
            <a:prstDash val="solid"/>
          </a:ln>
          <a:effectLst>
            <a:outerShdw sx="100000" sy="100000" kx="0" ky="0" algn="bl" rotWithShape="0" blurRad="101600" dist="25400" dir="5400000">
              <a:srgbClr val="000000">
                <a:alpha val="8000"/>
              </a:srgbClr>
            </a:outerShdw>
          </a:effectLst>
        </p:spPr>
      </p:sp>
      <p:sp>
        <p:nvSpPr>
          <p:cNvPr id="9" name="Text 7"/>
          <p:cNvSpPr/>
          <p:nvPr/>
        </p:nvSpPr>
        <p:spPr>
          <a:xfrm>
            <a:off x="4526280" y="1920240"/>
            <a:ext cx="3108960" cy="640080"/>
          </a:xfrm>
          <a:prstGeom prst="rect">
            <a:avLst/>
          </a:prstGeom>
          <a:noFill/>
          <a:ln/>
        </p:spPr>
        <p:txBody>
          <a:bodyPr wrap="square" rtlCol="0" anchor="ctr"/>
          <a:lstStyle/>
          <a:p>
            <a:pPr indent="0" marL="0">
              <a:buNone/>
            </a:pPr>
            <a:r>
              <a:rPr lang="en-US" sz="3400" b="1" dirty="0">
                <a:solidFill>
                  <a:srgbClr val="A32B68"/>
                </a:solidFill>
                <a:latin typeface="Cambria" pitchFamily="34" charset="0"/>
                <a:ea typeface="Cambria" pitchFamily="34" charset="-122"/>
                <a:cs typeface="Cambria" pitchFamily="34" charset="-120"/>
              </a:rPr>
              <a:t>1 : 1M</a:t>
            </a:r>
            <a:endParaRPr lang="en-US" sz="3400" dirty="0"/>
          </a:p>
        </p:txBody>
      </p:sp>
      <p:sp>
        <p:nvSpPr>
          <p:cNvPr id="10" name="Text 8"/>
          <p:cNvSpPr/>
          <p:nvPr/>
        </p:nvSpPr>
        <p:spPr>
          <a:xfrm>
            <a:off x="4526280" y="2560320"/>
            <a:ext cx="3108960" cy="320040"/>
          </a:xfrm>
          <a:prstGeom prst="rect">
            <a:avLst/>
          </a:prstGeom>
          <a:noFill/>
          <a:ln/>
        </p:spPr>
        <p:txBody>
          <a:bodyPr wrap="square" rtlCol="0" anchor="ctr"/>
          <a:lstStyle/>
          <a:p>
            <a:pPr indent="0" marL="0">
              <a:buNone/>
            </a:pPr>
            <a:r>
              <a:rPr lang="en-US" sz="1300" b="1" dirty="0">
                <a:solidFill>
                  <a:srgbClr val="2E2733"/>
                </a:solidFill>
                <a:latin typeface="Calibri" pitchFamily="34" charset="0"/>
                <a:ea typeface="Calibri" pitchFamily="34" charset="-122"/>
                <a:cs typeface="Calibri" pitchFamily="34" charset="-120"/>
              </a:rPr>
              <a:t>pathologists per capita,</a:t>
            </a:r>
            <a:endParaRPr lang="en-US" sz="1300" dirty="0"/>
          </a:p>
        </p:txBody>
      </p:sp>
      <p:sp>
        <p:nvSpPr>
          <p:cNvPr id="11" name="Text 9"/>
          <p:cNvSpPr/>
          <p:nvPr/>
        </p:nvSpPr>
        <p:spPr>
          <a:xfrm>
            <a:off x="4526280" y="2880360"/>
            <a:ext cx="3108960" cy="777240"/>
          </a:xfrm>
          <a:prstGeom prst="rect">
            <a:avLst/>
          </a:prstGeom>
          <a:noFill/>
          <a:ln/>
        </p:spPr>
        <p:txBody>
          <a:bodyPr wrap="square" rtlCol="0" anchor="ctr"/>
          <a:lstStyle/>
          <a:p>
            <a:pPr indent="0" marL="0">
              <a:lnSpc>
                <a:spcPct val="115000"/>
              </a:lnSpc>
              <a:buNone/>
            </a:pPr>
            <a:r>
              <a:rPr lang="en-US" sz="1150" dirty="0">
                <a:solidFill>
                  <a:srgbClr val="6B6472"/>
                </a:solidFill>
                <a:latin typeface="Calibri" pitchFamily="34" charset="0"/>
                <a:ea typeface="Calibri" pitchFamily="34" charset="-122"/>
                <a:cs typeface="Calibri" pitchFamily="34" charset="-120"/>
              </a:rPr>
              <a:t>mostly in Dhaka — weeks-long diagnosis queues</a:t>
            </a:r>
            <a:endParaRPr lang="en-US" sz="1150" dirty="0"/>
          </a:p>
        </p:txBody>
      </p:sp>
      <p:sp>
        <p:nvSpPr>
          <p:cNvPr id="12" name="Shape 10"/>
          <p:cNvSpPr/>
          <p:nvPr/>
        </p:nvSpPr>
        <p:spPr>
          <a:xfrm>
            <a:off x="8046720" y="1783080"/>
            <a:ext cx="3520440" cy="1965960"/>
          </a:xfrm>
          <a:prstGeom prst="roundRect">
            <a:avLst>
              <a:gd name="adj" fmla="val 3721"/>
            </a:avLst>
          </a:prstGeom>
          <a:solidFill>
            <a:srgbClr val="FFFFFF"/>
          </a:solidFill>
          <a:ln w="12700">
            <a:solidFill>
              <a:srgbClr val="DFD7DC"/>
            </a:solidFill>
            <a:prstDash val="solid"/>
          </a:ln>
          <a:effectLst>
            <a:outerShdw sx="100000" sy="100000" kx="0" ky="0" algn="bl" rotWithShape="0" blurRad="101600" dist="25400" dir="5400000">
              <a:srgbClr val="000000">
                <a:alpha val="8000"/>
              </a:srgbClr>
            </a:outerShdw>
          </a:effectLst>
        </p:spPr>
      </p:sp>
      <p:sp>
        <p:nvSpPr>
          <p:cNvPr id="13" name="Text 11"/>
          <p:cNvSpPr/>
          <p:nvPr/>
        </p:nvSpPr>
        <p:spPr>
          <a:xfrm>
            <a:off x="8275320" y="1920240"/>
            <a:ext cx="3108960" cy="640080"/>
          </a:xfrm>
          <a:prstGeom prst="rect">
            <a:avLst/>
          </a:prstGeom>
          <a:noFill/>
          <a:ln/>
        </p:spPr>
        <p:txBody>
          <a:bodyPr wrap="square" rtlCol="0" anchor="ctr"/>
          <a:lstStyle/>
          <a:p>
            <a:pPr indent="0" marL="0">
              <a:buNone/>
            </a:pPr>
            <a:r>
              <a:rPr lang="en-US" sz="3400" b="1" dirty="0">
                <a:solidFill>
                  <a:srgbClr val="A32B68"/>
                </a:solidFill>
                <a:latin typeface="Cambria" pitchFamily="34" charset="0"/>
                <a:ea typeface="Cambria" pitchFamily="34" charset="-122"/>
                <a:cs typeface="Cambria" pitchFamily="34" charset="-120"/>
              </a:rPr>
              <a:t>15,000</a:t>
            </a:r>
            <a:endParaRPr lang="en-US" sz="3400" dirty="0"/>
          </a:p>
        </p:txBody>
      </p:sp>
      <p:sp>
        <p:nvSpPr>
          <p:cNvPr id="14" name="Text 12"/>
          <p:cNvSpPr/>
          <p:nvPr/>
        </p:nvSpPr>
        <p:spPr>
          <a:xfrm>
            <a:off x="8275320" y="2560320"/>
            <a:ext cx="3108960" cy="320040"/>
          </a:xfrm>
          <a:prstGeom prst="rect">
            <a:avLst/>
          </a:prstGeom>
          <a:noFill/>
          <a:ln/>
        </p:spPr>
        <p:txBody>
          <a:bodyPr wrap="square" rtlCol="0" anchor="ctr"/>
          <a:lstStyle/>
          <a:p>
            <a:pPr indent="0" marL="0">
              <a:buNone/>
            </a:pPr>
            <a:r>
              <a:rPr lang="en-US" sz="1300" b="1" dirty="0">
                <a:solidFill>
                  <a:srgbClr val="2E2733"/>
                </a:solidFill>
                <a:latin typeface="Calibri" pitchFamily="34" charset="0"/>
                <a:ea typeface="Calibri" pitchFamily="34" charset="-122"/>
                <a:cs typeface="Calibri" pitchFamily="34" charset="-120"/>
              </a:rPr>
              <a:t>deaths a year,</a:t>
            </a:r>
            <a:endParaRPr lang="en-US" sz="1300" dirty="0"/>
          </a:p>
        </p:txBody>
      </p:sp>
      <p:sp>
        <p:nvSpPr>
          <p:cNvPr id="15" name="Text 13"/>
          <p:cNvSpPr/>
          <p:nvPr/>
        </p:nvSpPr>
        <p:spPr>
          <a:xfrm>
            <a:off x="8275320" y="2880360"/>
            <a:ext cx="3108960" cy="777240"/>
          </a:xfrm>
          <a:prstGeom prst="rect">
            <a:avLst/>
          </a:prstGeom>
          <a:noFill/>
          <a:ln/>
        </p:spPr>
        <p:txBody>
          <a:bodyPr wrap="square" rtlCol="0" anchor="ctr"/>
          <a:lstStyle/>
          <a:p>
            <a:pPr indent="0" marL="0">
              <a:lnSpc>
                <a:spcPct val="115000"/>
              </a:lnSpc>
              <a:buNone/>
            </a:pPr>
            <a:r>
              <a:rPr lang="en-US" sz="1150" dirty="0">
                <a:solidFill>
                  <a:srgbClr val="6B6472"/>
                </a:solidFill>
                <a:latin typeface="Calibri" pitchFamily="34" charset="0"/>
                <a:ea typeface="Calibri" pitchFamily="34" charset="-122"/>
                <a:cs typeface="Calibri" pitchFamily="34" charset="-120"/>
              </a:rPr>
              <a:t>where early detection is the decisive variable</a:t>
            </a:r>
            <a:endParaRPr lang="en-US" sz="1150" dirty="0"/>
          </a:p>
        </p:txBody>
      </p:sp>
      <p:sp>
        <p:nvSpPr>
          <p:cNvPr id="16" name="Shape 14"/>
          <p:cNvSpPr/>
          <p:nvPr/>
        </p:nvSpPr>
        <p:spPr>
          <a:xfrm>
            <a:off x="548640" y="4023360"/>
            <a:ext cx="11064240" cy="1417320"/>
          </a:xfrm>
          <a:prstGeom prst="roundRect">
            <a:avLst>
              <a:gd name="adj" fmla="val 5161"/>
            </a:avLst>
          </a:prstGeom>
          <a:solidFill>
            <a:srgbClr val="F4EDF1"/>
          </a:solidFill>
          <a:ln/>
        </p:spPr>
      </p:sp>
      <p:sp>
        <p:nvSpPr>
          <p:cNvPr id="17" name="Text 15"/>
          <p:cNvSpPr/>
          <p:nvPr/>
        </p:nvSpPr>
        <p:spPr>
          <a:xfrm>
            <a:off x="868680" y="4224528"/>
            <a:ext cx="10515600" cy="1051560"/>
          </a:xfrm>
          <a:prstGeom prst="rect">
            <a:avLst/>
          </a:prstGeom>
          <a:noFill/>
          <a:ln/>
        </p:spPr>
        <p:txBody>
          <a:bodyPr wrap="square" rtlCol="0" anchor="ctr"/>
          <a:lstStyle/>
          <a:p>
            <a:pPr indent="0" marL="0">
              <a:lnSpc>
                <a:spcPct val="125000"/>
              </a:lnSpc>
              <a:buNone/>
            </a:pPr>
            <a:r>
              <a:rPr lang="en-US" sz="1350" b="1" dirty="0">
                <a:solidFill>
                  <a:srgbClr val="2E2733"/>
                </a:solidFill>
                <a:latin typeface="Calibri" pitchFamily="34" charset="0"/>
                <a:ea typeface="Calibri" pitchFamily="34" charset="-122"/>
                <a:cs typeface="Calibri" pitchFamily="34" charset="-120"/>
              </a:rPr>
              <a:t>Centralizing it is now unlawful, too. </a:t>
            </a:r>
            <a:pPr indent="0" marL="0">
              <a:lnSpc>
                <a:spcPct val="125000"/>
              </a:lnSpc>
              <a:buNone/>
            </a:pPr>
            <a:r>
              <a:rPr lang="en-US" sz="1350" dirty="0">
                <a:solidFill>
                  <a:srgbClr val="6B6472"/>
                </a:solidFill>
                <a:latin typeface="Calibri" pitchFamily="34" charset="0"/>
                <a:ea typeface="Calibri" pitchFamily="34" charset="-122"/>
                <a:cs typeface="Calibri" pitchFamily="34" charset="-120"/>
              </a:rPr>
              <a:t>The Personal Data Protection Ordinance 2025 requires consent, breach notice, and data sovereignty from every hospital. The 2023 leak of 50M+ national records via one unprotected API is what pooled data costs when it fails.</a:t>
            </a:r>
            <a:endParaRPr lang="en-US" sz="1350" dirty="0"/>
          </a:p>
        </p:txBody>
      </p:sp>
      <p:sp>
        <p:nvSpPr>
          <p:cNvPr id="18" name="Text 16"/>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6B6472"/>
                </a:solidFill>
                <a:latin typeface="Calibri" pitchFamily="34" charset="0"/>
                <a:ea typeface="Calibri" pitchFamily="34" charset="-122"/>
                <a:cs typeface="Calibri" pitchFamily="34" charset="-120"/>
              </a:rPr>
              <a:t>MedChain-FL  ·  Team FedGuard  ·  BCOLBD 2026</a:t>
            </a:r>
            <a:endParaRPr lang="en-US" sz="900" dirty="0"/>
          </a:p>
        </p:txBody>
      </p:sp>
      <p:sp>
        <p:nvSpPr>
          <p:cNvPr id="19" name="Text 17"/>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472"/>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100" b="1" spc="200" kern="0" dirty="0">
                <a:solidFill>
                  <a:srgbClr val="A32B68"/>
                </a:solidFill>
                <a:latin typeface="Calibri" pitchFamily="34" charset="0"/>
                <a:ea typeface="Calibri" pitchFamily="34" charset="-122"/>
                <a:cs typeface="Calibri" pitchFamily="34" charset="-120"/>
              </a:rPr>
              <a:t>WHY BLOCKCHAIN</a:t>
            </a:r>
            <a:endParaRPr lang="en-US" sz="1100" dirty="0"/>
          </a:p>
        </p:txBody>
      </p:sp>
      <p:sp>
        <p:nvSpPr>
          <p:cNvPr id="3" name="Text 1"/>
          <p:cNvSpPr/>
          <p:nvPr/>
        </p:nvSpPr>
        <p:spPr>
          <a:xfrm>
            <a:off x="548640" y="685800"/>
            <a:ext cx="11064240" cy="914400"/>
          </a:xfrm>
          <a:prstGeom prst="rect">
            <a:avLst/>
          </a:prstGeom>
          <a:noFill/>
          <a:ln/>
        </p:spPr>
        <p:txBody>
          <a:bodyPr wrap="square" rtlCol="0" anchor="ctr"/>
          <a:lstStyle/>
          <a:p>
            <a:pPr indent="0" marL="0">
              <a:lnSpc>
                <a:spcPts val="2900"/>
              </a:lnSpc>
              <a:buNone/>
            </a:pPr>
            <a:r>
              <a:rPr lang="en-US" sz="2500" b="1" dirty="0">
                <a:solidFill>
                  <a:srgbClr val="2E2733"/>
                </a:solidFill>
                <a:latin typeface="Cambria" pitchFamily="34" charset="0"/>
                <a:ea typeface="Cambria" pitchFamily="34" charset="-122"/>
                <a:cs typeface="Cambria" pitchFamily="34" charset="-120"/>
              </a:rPr>
              <a:t>Federation removes the silo. Only a ledger removes the trusted operator.</a:t>
            </a:r>
            <a:endParaRPr lang="en-US" sz="2500" dirty="0"/>
          </a:p>
        </p:txBody>
      </p:sp>
      <p:sp>
        <p:nvSpPr>
          <p:cNvPr id="4" name="Text 2"/>
          <p:cNvSpPr/>
          <p:nvPr/>
        </p:nvSpPr>
        <p:spPr>
          <a:xfrm>
            <a:off x="548640" y="1691640"/>
            <a:ext cx="11064240" cy="502920"/>
          </a:xfrm>
          <a:prstGeom prst="rect">
            <a:avLst/>
          </a:prstGeom>
          <a:noFill/>
          <a:ln/>
        </p:spPr>
        <p:txBody>
          <a:bodyPr wrap="square" rtlCol="0" anchor="ctr"/>
          <a:lstStyle/>
          <a:p>
            <a:pPr indent="0" marL="0">
              <a:buNone/>
            </a:pPr>
            <a:r>
              <a:rPr lang="en-US" sz="1250" i="1" dirty="0">
                <a:solidFill>
                  <a:srgbClr val="6B6472"/>
                </a:solidFill>
                <a:latin typeface="Calibri" pitchFamily="34" charset="0"/>
                <a:ea typeface="Calibri" pitchFamily="34" charset="-122"/>
                <a:cs typeface="Calibri" pitchFamily="34" charset="-120"/>
              </a:rPr>
              <a:t>Federated learning still routes every update through one aggregation server — a database problem with a trust problem attached, and in a hospital consortium the trust problem is the binding one.</a:t>
            </a:r>
            <a:endParaRPr lang="en-US" sz="1250" dirty="0"/>
          </a:p>
        </p:txBody>
      </p:sp>
      <p:sp>
        <p:nvSpPr>
          <p:cNvPr id="5" name="Shape 3"/>
          <p:cNvSpPr/>
          <p:nvPr/>
        </p:nvSpPr>
        <p:spPr>
          <a:xfrm>
            <a:off x="548640" y="2423160"/>
            <a:ext cx="457200" cy="457200"/>
          </a:xfrm>
          <a:prstGeom prst="ellipse">
            <a:avLst/>
          </a:prstGeom>
          <a:solidFill>
            <a:srgbClr val="A32B68"/>
          </a:solidFill>
          <a:ln/>
        </p:spPr>
      </p:sp>
      <p:sp>
        <p:nvSpPr>
          <p:cNvPr id="6" name="Text 4"/>
          <p:cNvSpPr/>
          <p:nvPr/>
        </p:nvSpPr>
        <p:spPr>
          <a:xfrm>
            <a:off x="548640" y="242316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188720" y="2368296"/>
            <a:ext cx="4846320" cy="365760"/>
          </a:xfrm>
          <a:prstGeom prst="rect">
            <a:avLst/>
          </a:prstGeom>
          <a:noFill/>
          <a:ln/>
        </p:spPr>
        <p:txBody>
          <a:bodyPr wrap="square" rtlCol="0" anchor="ctr"/>
          <a:lstStyle/>
          <a:p>
            <a:pPr indent="0" marL="0">
              <a:buNone/>
            </a:pPr>
            <a:r>
              <a:rPr lang="en-US" sz="1450" b="1" dirty="0">
                <a:solidFill>
                  <a:srgbClr val="2E2733"/>
                </a:solidFill>
                <a:latin typeface="Calibri" pitchFamily="34" charset="0"/>
                <a:ea typeface="Calibri" pitchFamily="34" charset="-122"/>
                <a:cs typeface="Calibri" pitchFamily="34" charset="-120"/>
              </a:rPr>
              <a:t>No neutral custodian</a:t>
            </a:r>
            <a:endParaRPr lang="en-US" sz="1450" dirty="0"/>
          </a:p>
        </p:txBody>
      </p:sp>
      <p:sp>
        <p:nvSpPr>
          <p:cNvPr id="8" name="Text 6"/>
          <p:cNvSpPr/>
          <p:nvPr/>
        </p:nvSpPr>
        <p:spPr>
          <a:xfrm>
            <a:off x="1188720" y="2752344"/>
            <a:ext cx="4846320" cy="777240"/>
          </a:xfrm>
          <a:prstGeom prst="rect">
            <a:avLst/>
          </a:prstGeom>
          <a:noFill/>
          <a:ln/>
        </p:spPr>
        <p:txBody>
          <a:bodyPr wrap="square" rtlCol="0" anchor="ctr"/>
          <a:lstStyle/>
          <a:p>
            <a:pPr indent="0" marL="0">
              <a:lnSpc>
                <a:spcPct val="115000"/>
              </a:lnSpc>
              <a:buNone/>
            </a:pPr>
            <a:r>
              <a:rPr lang="en-US" sz="1150" dirty="0">
                <a:solidFill>
                  <a:srgbClr val="6B6472"/>
                </a:solidFill>
                <a:latin typeface="Calibri" pitchFamily="34" charset="0"/>
                <a:ea typeface="Calibri" pitchFamily="34" charset="-122"/>
                <a:cs typeface="Calibri" pitchFamily="34" charset="-120"/>
              </a:rPr>
              <a:t>No hospital will host — or trust — another's server. A contract nobody owns is.</a:t>
            </a:r>
            <a:endParaRPr lang="en-US" sz="1150" dirty="0"/>
          </a:p>
        </p:txBody>
      </p:sp>
      <p:sp>
        <p:nvSpPr>
          <p:cNvPr id="9" name="Shape 7"/>
          <p:cNvSpPr/>
          <p:nvPr/>
        </p:nvSpPr>
        <p:spPr>
          <a:xfrm>
            <a:off x="6172200" y="2423160"/>
            <a:ext cx="457200" cy="457200"/>
          </a:xfrm>
          <a:prstGeom prst="ellipse">
            <a:avLst/>
          </a:prstGeom>
          <a:solidFill>
            <a:srgbClr val="A32B68"/>
          </a:solidFill>
          <a:ln/>
        </p:spPr>
      </p:sp>
      <p:sp>
        <p:nvSpPr>
          <p:cNvPr id="10" name="Text 8"/>
          <p:cNvSpPr/>
          <p:nvPr/>
        </p:nvSpPr>
        <p:spPr>
          <a:xfrm>
            <a:off x="6172200" y="242316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6812280" y="2368296"/>
            <a:ext cx="4846320" cy="365760"/>
          </a:xfrm>
          <a:prstGeom prst="rect">
            <a:avLst/>
          </a:prstGeom>
          <a:noFill/>
          <a:ln/>
        </p:spPr>
        <p:txBody>
          <a:bodyPr wrap="square" rtlCol="0" anchor="ctr"/>
          <a:lstStyle/>
          <a:p>
            <a:pPr indent="0" marL="0">
              <a:buNone/>
            </a:pPr>
            <a:r>
              <a:rPr lang="en-US" sz="1450" b="1" dirty="0">
                <a:solidFill>
                  <a:srgbClr val="2E2733"/>
                </a:solidFill>
                <a:latin typeface="Calibri" pitchFamily="34" charset="0"/>
                <a:ea typeface="Calibri" pitchFamily="34" charset="-122"/>
                <a:cs typeface="Calibri" pitchFamily="34" charset="-120"/>
              </a:rPr>
              <a:t>Proof, not promises</a:t>
            </a:r>
            <a:endParaRPr lang="en-US" sz="1450" dirty="0"/>
          </a:p>
        </p:txBody>
      </p:sp>
      <p:sp>
        <p:nvSpPr>
          <p:cNvPr id="12" name="Text 10"/>
          <p:cNvSpPr/>
          <p:nvPr/>
        </p:nvSpPr>
        <p:spPr>
          <a:xfrm>
            <a:off x="6812280" y="2752344"/>
            <a:ext cx="4846320" cy="777240"/>
          </a:xfrm>
          <a:prstGeom prst="rect">
            <a:avLst/>
          </a:prstGeom>
          <a:noFill/>
          <a:ln/>
        </p:spPr>
        <p:txBody>
          <a:bodyPr wrap="square" rtlCol="0" anchor="ctr"/>
          <a:lstStyle/>
          <a:p>
            <a:pPr indent="0" marL="0">
              <a:lnSpc>
                <a:spcPct val="115000"/>
              </a:lnSpc>
              <a:buNone/>
            </a:pPr>
            <a:r>
              <a:rPr lang="en-US" sz="1150" dirty="0">
                <a:solidFill>
                  <a:srgbClr val="6B6472"/>
                </a:solidFill>
                <a:latin typeface="Calibri" pitchFamily="34" charset="0"/>
                <a:ea typeface="Calibri" pitchFamily="34" charset="-122"/>
                <a:cs typeface="Calibri" pitchFamily="34" charset="-120"/>
              </a:rPr>
              <a:t>PDPO 2025 needs demonstrable compliance: every round, timestamped and checkable.</a:t>
            </a:r>
            <a:endParaRPr lang="en-US" sz="1150" dirty="0"/>
          </a:p>
        </p:txBody>
      </p:sp>
      <p:sp>
        <p:nvSpPr>
          <p:cNvPr id="13" name="Shape 11"/>
          <p:cNvSpPr/>
          <p:nvPr/>
        </p:nvSpPr>
        <p:spPr>
          <a:xfrm>
            <a:off x="548640" y="4023360"/>
            <a:ext cx="457200" cy="457200"/>
          </a:xfrm>
          <a:prstGeom prst="ellipse">
            <a:avLst/>
          </a:prstGeom>
          <a:solidFill>
            <a:srgbClr val="A32B68"/>
          </a:solidFill>
          <a:ln/>
        </p:spPr>
      </p:sp>
      <p:sp>
        <p:nvSpPr>
          <p:cNvPr id="14" name="Text 12"/>
          <p:cNvSpPr/>
          <p:nvPr/>
        </p:nvSpPr>
        <p:spPr>
          <a:xfrm>
            <a:off x="548640" y="402336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1188720" y="3968496"/>
            <a:ext cx="4846320" cy="365760"/>
          </a:xfrm>
          <a:prstGeom prst="rect">
            <a:avLst/>
          </a:prstGeom>
          <a:noFill/>
          <a:ln/>
        </p:spPr>
        <p:txBody>
          <a:bodyPr wrap="square" rtlCol="0" anchor="ctr"/>
          <a:lstStyle/>
          <a:p>
            <a:pPr indent="0" marL="0">
              <a:buNone/>
            </a:pPr>
            <a:r>
              <a:rPr lang="en-US" sz="1450" b="1" dirty="0">
                <a:solidFill>
                  <a:srgbClr val="2E2733"/>
                </a:solidFill>
                <a:latin typeface="Calibri" pitchFamily="34" charset="0"/>
                <a:ea typeface="Calibri" pitchFamily="34" charset="-122"/>
                <a:cs typeface="Calibri" pitchFamily="34" charset="-120"/>
              </a:rPr>
              <a:t>Free-riding is impossible</a:t>
            </a:r>
            <a:endParaRPr lang="en-US" sz="1450" dirty="0"/>
          </a:p>
        </p:txBody>
      </p:sp>
      <p:sp>
        <p:nvSpPr>
          <p:cNvPr id="16" name="Text 14"/>
          <p:cNvSpPr/>
          <p:nvPr/>
        </p:nvSpPr>
        <p:spPr>
          <a:xfrm>
            <a:off x="1188720" y="4352544"/>
            <a:ext cx="4846320" cy="777240"/>
          </a:xfrm>
          <a:prstGeom prst="rect">
            <a:avLst/>
          </a:prstGeom>
          <a:noFill/>
          <a:ln/>
        </p:spPr>
        <p:txBody>
          <a:bodyPr wrap="square" rtlCol="0" anchor="ctr"/>
          <a:lstStyle/>
          <a:p>
            <a:pPr indent="0" marL="0">
              <a:lnSpc>
                <a:spcPct val="115000"/>
              </a:lnSpc>
              <a:buNone/>
            </a:pPr>
            <a:r>
              <a:rPr lang="en-US" sz="1150" dirty="0">
                <a:solidFill>
                  <a:srgbClr val="6B6472"/>
                </a:solidFill>
                <a:latin typeface="Calibri" pitchFamily="34" charset="0"/>
                <a:ea typeface="Calibri" pitchFamily="34" charset="-122"/>
                <a:cs typeface="Calibri" pitchFamily="34" charset="-120"/>
              </a:rPr>
              <a:t>A round can't close until every hospital submits — a contract rule, not a policy.</a:t>
            </a:r>
            <a:endParaRPr lang="en-US" sz="1150" dirty="0"/>
          </a:p>
        </p:txBody>
      </p:sp>
      <p:sp>
        <p:nvSpPr>
          <p:cNvPr id="17" name="Shape 15"/>
          <p:cNvSpPr/>
          <p:nvPr/>
        </p:nvSpPr>
        <p:spPr>
          <a:xfrm>
            <a:off x="6172200" y="4023360"/>
            <a:ext cx="457200" cy="457200"/>
          </a:xfrm>
          <a:prstGeom prst="ellipse">
            <a:avLst/>
          </a:prstGeom>
          <a:solidFill>
            <a:srgbClr val="A32B68"/>
          </a:solidFill>
          <a:ln/>
        </p:spPr>
      </p:sp>
      <p:sp>
        <p:nvSpPr>
          <p:cNvPr id="18" name="Text 16"/>
          <p:cNvSpPr/>
          <p:nvPr/>
        </p:nvSpPr>
        <p:spPr>
          <a:xfrm>
            <a:off x="6172200" y="402336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7"/>
          <p:cNvSpPr/>
          <p:nvPr/>
        </p:nvSpPr>
        <p:spPr>
          <a:xfrm>
            <a:off x="6812280" y="3968496"/>
            <a:ext cx="4846320" cy="365760"/>
          </a:xfrm>
          <a:prstGeom prst="rect">
            <a:avLst/>
          </a:prstGeom>
          <a:noFill/>
          <a:ln/>
        </p:spPr>
        <p:txBody>
          <a:bodyPr wrap="square" rtlCol="0" anchor="ctr"/>
          <a:lstStyle/>
          <a:p>
            <a:pPr indent="0" marL="0">
              <a:buNone/>
            </a:pPr>
            <a:r>
              <a:rPr lang="en-US" sz="1450" b="1" dirty="0">
                <a:solidFill>
                  <a:srgbClr val="2E2733"/>
                </a:solidFill>
                <a:latin typeface="Calibri" pitchFamily="34" charset="0"/>
                <a:ea typeface="Calibri" pitchFamily="34" charset="-122"/>
                <a:cs typeface="Calibri" pitchFamily="34" charset="-120"/>
              </a:rPr>
              <a:t>Provenance outlives the operator</a:t>
            </a:r>
            <a:endParaRPr lang="en-US" sz="1450" dirty="0"/>
          </a:p>
        </p:txBody>
      </p:sp>
      <p:sp>
        <p:nvSpPr>
          <p:cNvPr id="20" name="Text 18"/>
          <p:cNvSpPr/>
          <p:nvPr/>
        </p:nvSpPr>
        <p:spPr>
          <a:xfrm>
            <a:off x="6812280" y="4352544"/>
            <a:ext cx="4846320" cy="777240"/>
          </a:xfrm>
          <a:prstGeom prst="rect">
            <a:avLst/>
          </a:prstGeom>
          <a:noFill/>
          <a:ln/>
        </p:spPr>
        <p:txBody>
          <a:bodyPr wrap="square" rtlCol="0" anchor="ctr"/>
          <a:lstStyle/>
          <a:p>
            <a:pPr indent="0" marL="0">
              <a:lnSpc>
                <a:spcPct val="115000"/>
              </a:lnSpc>
              <a:buNone/>
            </a:pPr>
            <a:r>
              <a:rPr lang="en-US" sz="1150" dirty="0">
                <a:solidFill>
                  <a:srgbClr val="6B6472"/>
                </a:solidFill>
                <a:latin typeface="Calibri" pitchFamily="34" charset="0"/>
                <a:ea typeface="Calibri" pitchFamily="34" charset="-122"/>
                <a:cs typeface="Calibri" pitchFamily="34" charset="-120"/>
              </a:rPr>
              <a:t>Models are content-addressed and on-chain; the lineage survives the coordinator.</a:t>
            </a:r>
            <a:endParaRPr lang="en-US" sz="1150" dirty="0"/>
          </a:p>
        </p:txBody>
      </p:sp>
      <p:sp>
        <p:nvSpPr>
          <p:cNvPr id="21" name="Text 19"/>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6B6472"/>
                </a:solidFill>
                <a:latin typeface="Calibri" pitchFamily="34" charset="0"/>
                <a:ea typeface="Calibri" pitchFamily="34" charset="-122"/>
                <a:cs typeface="Calibri" pitchFamily="34" charset="-120"/>
              </a:rPr>
              <a:t>MedChain-FL  ·  Team FedGuard  ·  BCOLBD 2026</a:t>
            </a:r>
            <a:endParaRPr lang="en-US" sz="900" dirty="0"/>
          </a:p>
        </p:txBody>
      </p:sp>
      <p:sp>
        <p:nvSpPr>
          <p:cNvPr id="22" name="Text 20"/>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472"/>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024"/>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100" b="1" spc="200" kern="0" dirty="0">
                <a:solidFill>
                  <a:srgbClr val="D98CB3"/>
                </a:solidFill>
                <a:latin typeface="Calibri" pitchFamily="34" charset="0"/>
                <a:ea typeface="Calibri" pitchFamily="34" charset="-122"/>
                <a:cs typeface="Calibri" pitchFamily="34" charset="-120"/>
              </a:rPr>
              <a:t>THE SOLUTION</a:t>
            </a:r>
            <a:endParaRPr lang="en-US" sz="1100" dirty="0"/>
          </a:p>
        </p:txBody>
      </p:sp>
      <p:sp>
        <p:nvSpPr>
          <p:cNvPr id="3" name="Text 1"/>
          <p:cNvSpPr/>
          <p:nvPr/>
        </p:nvSpPr>
        <p:spPr>
          <a:xfrm>
            <a:off x="548640" y="685800"/>
            <a:ext cx="11064240" cy="822960"/>
          </a:xfrm>
          <a:prstGeom prst="rect">
            <a:avLst/>
          </a:prstGeom>
          <a:noFill/>
          <a:ln/>
        </p:spPr>
        <p:txBody>
          <a:bodyPr wrap="square" rtlCol="0" anchor="ctr"/>
          <a:lstStyle/>
          <a:p>
            <a:pPr indent="0" marL="0">
              <a:lnSpc>
                <a:spcPts val="3400"/>
              </a:lnSpc>
              <a:buNone/>
            </a:pPr>
            <a:r>
              <a:rPr lang="en-US" sz="3000" b="1" dirty="0">
                <a:solidFill>
                  <a:srgbClr val="FFFFFF"/>
                </a:solidFill>
                <a:latin typeface="Cambria" pitchFamily="34" charset="0"/>
                <a:ea typeface="Cambria" pitchFamily="34" charset="-122"/>
                <a:cs typeface="Cambria" pitchFamily="34" charset="-120"/>
              </a:rPr>
              <a:t>Two halves of one system</a:t>
            </a:r>
            <a:endParaRPr lang="en-US" sz="3000" dirty="0"/>
          </a:p>
        </p:txBody>
      </p:sp>
      <p:sp>
        <p:nvSpPr>
          <p:cNvPr id="4" name="Text 2"/>
          <p:cNvSpPr/>
          <p:nvPr/>
        </p:nvSpPr>
        <p:spPr>
          <a:xfrm>
            <a:off x="548640" y="1554480"/>
            <a:ext cx="1106424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CoAtt-FedNet</a:t>
            </a:r>
            <a:pPr indent="0" marL="0">
              <a:buNone/>
            </a:pPr>
            <a:r>
              <a:rPr lang="en-US" sz="1400" dirty="0">
                <a:solidFill>
                  <a:srgbClr val="CFC4D2"/>
                </a:solidFill>
                <a:latin typeface="Calibri" pitchFamily="34" charset="0"/>
                <a:ea typeface="Calibri" pitchFamily="34" charset="-122"/>
                <a:cs typeface="Calibri" pitchFamily="34" charset="-120"/>
              </a:rPr>
              <a:t> trains inside each hospital.  </a:t>
            </a:r>
            <a:pPr indent="0" marL="0">
              <a:buNone/>
            </a:pPr>
            <a:r>
              <a:rPr lang="en-US" sz="1400" b="1" dirty="0">
                <a:solidFill>
                  <a:srgbClr val="FFFFFF"/>
                </a:solidFill>
                <a:latin typeface="Calibri" pitchFamily="34" charset="0"/>
                <a:ea typeface="Calibri" pitchFamily="34" charset="-122"/>
                <a:cs typeface="Calibri" pitchFamily="34" charset="-120"/>
              </a:rPr>
              <a:t>MedChain-FL</a:t>
            </a:r>
            <a:pPr indent="0" marL="0">
              <a:buNone/>
            </a:pPr>
            <a:r>
              <a:rPr lang="en-US" sz="1400" dirty="0">
                <a:solidFill>
                  <a:srgbClr val="CFC4D2"/>
                </a:solidFill>
                <a:latin typeface="Calibri" pitchFamily="34" charset="0"/>
                <a:ea typeface="Calibri" pitchFamily="34" charset="-122"/>
                <a:cs typeface="Calibri" pitchFamily="34" charset="-120"/>
              </a:rPr>
              <a:t> coordinates them with a smart contract.</a:t>
            </a:r>
            <a:endParaRPr lang="en-US" sz="1400" dirty="0"/>
          </a:p>
        </p:txBody>
      </p:sp>
      <p:sp>
        <p:nvSpPr>
          <p:cNvPr id="5" name="Shape 3"/>
          <p:cNvSpPr/>
          <p:nvPr/>
        </p:nvSpPr>
        <p:spPr>
          <a:xfrm>
            <a:off x="548640" y="2286000"/>
            <a:ext cx="3520440" cy="3291840"/>
          </a:xfrm>
          <a:prstGeom prst="roundRect">
            <a:avLst>
              <a:gd name="adj" fmla="val 2222"/>
            </a:avLst>
          </a:prstGeom>
          <a:solidFill>
            <a:srgbClr val="2E2733"/>
          </a:solidFill>
          <a:ln/>
        </p:spPr>
      </p:sp>
      <p:sp>
        <p:nvSpPr>
          <p:cNvPr id="6" name="Shape 4"/>
          <p:cNvSpPr/>
          <p:nvPr/>
        </p:nvSpPr>
        <p:spPr>
          <a:xfrm>
            <a:off x="822960" y="2606040"/>
            <a:ext cx="502920" cy="502920"/>
          </a:xfrm>
          <a:prstGeom prst="ellipse">
            <a:avLst/>
          </a:prstGeom>
          <a:solidFill>
            <a:srgbClr val="0E7C7B"/>
          </a:solidFill>
          <a:ln/>
        </p:spPr>
      </p:sp>
      <p:sp>
        <p:nvSpPr>
          <p:cNvPr id="7" name="Text 5"/>
          <p:cNvSpPr/>
          <p:nvPr/>
        </p:nvSpPr>
        <p:spPr>
          <a:xfrm>
            <a:off x="822960" y="260604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822960" y="3291840"/>
            <a:ext cx="3017520" cy="41148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Train locally</a:t>
            </a:r>
            <a:endParaRPr lang="en-US" sz="1700" dirty="0"/>
          </a:p>
        </p:txBody>
      </p:sp>
      <p:sp>
        <p:nvSpPr>
          <p:cNvPr id="9" name="Text 7"/>
          <p:cNvSpPr/>
          <p:nvPr/>
        </p:nvSpPr>
        <p:spPr>
          <a:xfrm>
            <a:off x="822960" y="3749040"/>
            <a:ext cx="3017520" cy="1691640"/>
          </a:xfrm>
          <a:prstGeom prst="rect">
            <a:avLst/>
          </a:prstGeom>
          <a:noFill/>
          <a:ln/>
        </p:spPr>
        <p:txBody>
          <a:bodyPr wrap="square" rtlCol="0" anchor="ctr"/>
          <a:lstStyle/>
          <a:p>
            <a:pPr indent="0" marL="0">
              <a:lnSpc>
                <a:spcPct val="125000"/>
              </a:lnSpc>
              <a:buNone/>
            </a:pPr>
            <a:r>
              <a:rPr lang="en-US" sz="1200" dirty="0">
                <a:solidFill>
                  <a:srgbClr val="CFC4D2"/>
                </a:solidFill>
                <a:latin typeface="Calibri" pitchFamily="34" charset="0"/>
                <a:ea typeface="Calibri" pitchFamily="34" charset="-122"/>
                <a:cs typeface="Calibri" pitchFamily="34" charset="-120"/>
              </a:rPr>
              <a:t>EfficientNet-B0 + Fast Coordinate Attention, 5.9M params, on 160×160 patches. No image leaves the hospital.</a:t>
            </a:r>
            <a:endParaRPr lang="en-US" sz="1200" dirty="0"/>
          </a:p>
        </p:txBody>
      </p:sp>
      <p:sp>
        <p:nvSpPr>
          <p:cNvPr id="10" name="Shape 8"/>
          <p:cNvSpPr/>
          <p:nvPr/>
        </p:nvSpPr>
        <p:spPr>
          <a:xfrm>
            <a:off x="4297680" y="2286000"/>
            <a:ext cx="3520440" cy="3291840"/>
          </a:xfrm>
          <a:prstGeom prst="roundRect">
            <a:avLst>
              <a:gd name="adj" fmla="val 2222"/>
            </a:avLst>
          </a:prstGeom>
          <a:solidFill>
            <a:srgbClr val="2E2733"/>
          </a:solidFill>
          <a:ln/>
        </p:spPr>
      </p:sp>
      <p:sp>
        <p:nvSpPr>
          <p:cNvPr id="11" name="Shape 9"/>
          <p:cNvSpPr/>
          <p:nvPr/>
        </p:nvSpPr>
        <p:spPr>
          <a:xfrm>
            <a:off x="4572000" y="2606040"/>
            <a:ext cx="502920" cy="502920"/>
          </a:xfrm>
          <a:prstGeom prst="ellipse">
            <a:avLst/>
          </a:prstGeom>
          <a:solidFill>
            <a:srgbClr val="0E7C7B"/>
          </a:solidFill>
          <a:ln/>
        </p:spPr>
      </p:sp>
      <p:sp>
        <p:nvSpPr>
          <p:cNvPr id="12" name="Text 10"/>
          <p:cNvSpPr/>
          <p:nvPr/>
        </p:nvSpPr>
        <p:spPr>
          <a:xfrm>
            <a:off x="4572000" y="260604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4572000" y="3291840"/>
            <a:ext cx="3017520" cy="41148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Encrypt &amp; pin</a:t>
            </a:r>
            <a:endParaRPr lang="en-US" sz="1700" dirty="0"/>
          </a:p>
        </p:txBody>
      </p:sp>
      <p:sp>
        <p:nvSpPr>
          <p:cNvPr id="14" name="Text 12"/>
          <p:cNvSpPr/>
          <p:nvPr/>
        </p:nvSpPr>
        <p:spPr>
          <a:xfrm>
            <a:off x="4572000" y="3749040"/>
            <a:ext cx="3017520" cy="1691640"/>
          </a:xfrm>
          <a:prstGeom prst="rect">
            <a:avLst/>
          </a:prstGeom>
          <a:noFill/>
          <a:ln/>
        </p:spPr>
        <p:txBody>
          <a:bodyPr wrap="square" rtlCol="0" anchor="ctr"/>
          <a:lstStyle/>
          <a:p>
            <a:pPr indent="0" marL="0">
              <a:lnSpc>
                <a:spcPct val="125000"/>
              </a:lnSpc>
              <a:buNone/>
            </a:pPr>
            <a:r>
              <a:rPr lang="en-US" sz="1200" dirty="0">
                <a:solidFill>
                  <a:srgbClr val="CFC4D2"/>
                </a:solidFill>
                <a:latin typeface="Calibri" pitchFamily="34" charset="0"/>
                <a:ea typeface="Calibri" pitchFamily="34" charset="-122"/>
                <a:cs typeface="Calibri" pitchFamily="34" charset="-120"/>
              </a:rPr>
              <a:t>AES-256-CBC under a fresh IV, pinned to IPFS. 23.6 MB becomes under 10 MB on the wire.</a:t>
            </a:r>
            <a:endParaRPr lang="en-US" sz="1200" dirty="0"/>
          </a:p>
        </p:txBody>
      </p:sp>
      <p:sp>
        <p:nvSpPr>
          <p:cNvPr id="15" name="Shape 13"/>
          <p:cNvSpPr/>
          <p:nvPr/>
        </p:nvSpPr>
        <p:spPr>
          <a:xfrm>
            <a:off x="8046720" y="2286000"/>
            <a:ext cx="3520440" cy="3291840"/>
          </a:xfrm>
          <a:prstGeom prst="roundRect">
            <a:avLst>
              <a:gd name="adj" fmla="val 2222"/>
            </a:avLst>
          </a:prstGeom>
          <a:solidFill>
            <a:srgbClr val="2E2733"/>
          </a:solidFill>
          <a:ln/>
        </p:spPr>
      </p:sp>
      <p:sp>
        <p:nvSpPr>
          <p:cNvPr id="16" name="Shape 14"/>
          <p:cNvSpPr/>
          <p:nvPr/>
        </p:nvSpPr>
        <p:spPr>
          <a:xfrm>
            <a:off x="8321040" y="2606040"/>
            <a:ext cx="502920" cy="502920"/>
          </a:xfrm>
          <a:prstGeom prst="ellipse">
            <a:avLst/>
          </a:prstGeom>
          <a:solidFill>
            <a:srgbClr val="0E7C7B"/>
          </a:solidFill>
          <a:ln/>
        </p:spPr>
      </p:sp>
      <p:sp>
        <p:nvSpPr>
          <p:cNvPr id="17" name="Text 15"/>
          <p:cNvSpPr/>
          <p:nvPr/>
        </p:nvSpPr>
        <p:spPr>
          <a:xfrm>
            <a:off x="8321040" y="260604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8321040" y="3291840"/>
            <a:ext cx="3017520" cy="41148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Anchor on-chain</a:t>
            </a:r>
            <a:endParaRPr lang="en-US" sz="1700" dirty="0"/>
          </a:p>
        </p:txBody>
      </p:sp>
      <p:sp>
        <p:nvSpPr>
          <p:cNvPr id="19" name="Text 17"/>
          <p:cNvSpPr/>
          <p:nvPr/>
        </p:nvSpPr>
        <p:spPr>
          <a:xfrm>
            <a:off x="8321040" y="3749040"/>
            <a:ext cx="3017520" cy="1691640"/>
          </a:xfrm>
          <a:prstGeom prst="rect">
            <a:avLst/>
          </a:prstGeom>
          <a:noFill/>
          <a:ln/>
        </p:spPr>
        <p:txBody>
          <a:bodyPr wrap="square" rtlCol="0" anchor="ctr"/>
          <a:lstStyle/>
          <a:p>
            <a:pPr indent="0" marL="0">
              <a:lnSpc>
                <a:spcPct val="125000"/>
              </a:lnSpc>
              <a:buNone/>
            </a:pPr>
            <a:r>
              <a:rPr lang="en-US" sz="1200" dirty="0">
                <a:solidFill>
                  <a:srgbClr val="CFC4D2"/>
                </a:solidFill>
                <a:latin typeface="Calibri" pitchFamily="34" charset="0"/>
                <a:ea typeface="Calibri" pitchFamily="34" charset="-122"/>
                <a:cs typeface="Calibri" pitchFamily="34" charset="-120"/>
              </a:rPr>
              <a:t>Only the CID and packed accuracy-loss metric go to Ethereum — under 100 bytes. Oracle runs FedAvg once all submit.</a:t>
            </a:r>
            <a:endParaRPr lang="en-US" sz="1200" dirty="0"/>
          </a:p>
        </p:txBody>
      </p:sp>
      <p:sp>
        <p:nvSpPr>
          <p:cNvPr id="20" name="Text 18"/>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9E93A4"/>
                </a:solidFill>
                <a:latin typeface="Calibri" pitchFamily="34" charset="0"/>
                <a:ea typeface="Calibri" pitchFamily="34" charset="-122"/>
                <a:cs typeface="Calibri" pitchFamily="34" charset="-120"/>
              </a:rPr>
              <a:t>MedChain-FL  ·  Team FedGuard  ·  BCOLBD 2026</a:t>
            </a:r>
            <a:endParaRPr lang="en-US" sz="900" dirty="0"/>
          </a:p>
        </p:txBody>
      </p:sp>
      <p:sp>
        <p:nvSpPr>
          <p:cNvPr id="21" name="Text 1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9E93A4"/>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100" b="1" spc="200" kern="0" dirty="0">
                <a:solidFill>
                  <a:srgbClr val="A32B68"/>
                </a:solidFill>
                <a:latin typeface="Calibri" pitchFamily="34" charset="0"/>
                <a:ea typeface="Calibri" pitchFamily="34" charset="-122"/>
                <a:cs typeface="Calibri" pitchFamily="34" charset="-120"/>
              </a:rPr>
              <a:t>HOW A TRAINING ROUND WORKS</a:t>
            </a:r>
            <a:endParaRPr lang="en-US" sz="1100" dirty="0"/>
          </a:p>
        </p:txBody>
      </p:sp>
      <p:sp>
        <p:nvSpPr>
          <p:cNvPr id="3" name="Text 1"/>
          <p:cNvSpPr/>
          <p:nvPr/>
        </p:nvSpPr>
        <p:spPr>
          <a:xfrm>
            <a:off x="548640" y="685800"/>
            <a:ext cx="11064240" cy="822960"/>
          </a:xfrm>
          <a:prstGeom prst="rect">
            <a:avLst/>
          </a:prstGeom>
          <a:noFill/>
          <a:ln/>
        </p:spPr>
        <p:txBody>
          <a:bodyPr wrap="square" rtlCol="0" anchor="ctr"/>
          <a:lstStyle/>
          <a:p>
            <a:pPr indent="0" marL="0">
              <a:lnSpc>
                <a:spcPts val="3200"/>
              </a:lnSpc>
              <a:buNone/>
            </a:pPr>
            <a:r>
              <a:rPr lang="en-US" sz="2800" b="1" dirty="0">
                <a:solidFill>
                  <a:srgbClr val="2E2733"/>
                </a:solidFill>
                <a:latin typeface="Cambria" pitchFamily="34" charset="0"/>
                <a:ea typeface="Cambria" pitchFamily="34" charset="-122"/>
                <a:cs typeface="Cambria" pitchFamily="34" charset="-120"/>
              </a:rPr>
              <a:t>Five on-chain steps, no trusted middle</a:t>
            </a:r>
            <a:endParaRPr lang="en-US" sz="2800" dirty="0"/>
          </a:p>
        </p:txBody>
      </p:sp>
      <p:sp>
        <p:nvSpPr>
          <p:cNvPr id="4" name="Shape 2"/>
          <p:cNvSpPr/>
          <p:nvPr/>
        </p:nvSpPr>
        <p:spPr>
          <a:xfrm>
            <a:off x="548640" y="1920240"/>
            <a:ext cx="2084832" cy="2743200"/>
          </a:xfrm>
          <a:prstGeom prst="roundRect">
            <a:avLst>
              <a:gd name="adj" fmla="val 3509"/>
            </a:avLst>
          </a:prstGeom>
          <a:solidFill>
            <a:srgbClr val="FFFFFF"/>
          </a:solidFill>
          <a:ln w="12700">
            <a:solidFill>
              <a:srgbClr val="DFD7DC"/>
            </a:solidFill>
            <a:prstDash val="solid"/>
          </a:ln>
        </p:spPr>
      </p:sp>
      <p:sp>
        <p:nvSpPr>
          <p:cNvPr id="5" name="Shape 3"/>
          <p:cNvSpPr/>
          <p:nvPr/>
        </p:nvSpPr>
        <p:spPr>
          <a:xfrm>
            <a:off x="713232" y="2103120"/>
            <a:ext cx="411480" cy="411480"/>
          </a:xfrm>
          <a:prstGeom prst="ellipse">
            <a:avLst/>
          </a:prstGeom>
          <a:solidFill>
            <a:srgbClr val="A32B68"/>
          </a:solidFill>
          <a:ln/>
        </p:spPr>
      </p:sp>
      <p:sp>
        <p:nvSpPr>
          <p:cNvPr id="6" name="Text 4"/>
          <p:cNvSpPr/>
          <p:nvPr/>
        </p:nvSpPr>
        <p:spPr>
          <a:xfrm>
            <a:off x="713232" y="2103120"/>
            <a:ext cx="411480" cy="41148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713232" y="2651760"/>
            <a:ext cx="1755648" cy="502920"/>
          </a:xfrm>
          <a:prstGeom prst="rect">
            <a:avLst/>
          </a:prstGeom>
          <a:noFill/>
          <a:ln/>
        </p:spPr>
        <p:txBody>
          <a:bodyPr wrap="square" rtlCol="0" anchor="ctr"/>
          <a:lstStyle/>
          <a:p>
            <a:pPr indent="0" marL="0">
              <a:buNone/>
            </a:pPr>
            <a:r>
              <a:rPr lang="en-US" sz="1300" b="1" dirty="0">
                <a:solidFill>
                  <a:srgbClr val="2E2733"/>
                </a:solidFill>
                <a:latin typeface="Calibri" pitchFamily="34" charset="0"/>
                <a:ea typeface="Calibri" pitchFamily="34" charset="-122"/>
                <a:cs typeface="Calibri" pitchFamily="34" charset="-120"/>
              </a:rPr>
              <a:t>Round opens</a:t>
            </a:r>
            <a:endParaRPr lang="en-US" sz="1300" dirty="0"/>
          </a:p>
        </p:txBody>
      </p:sp>
      <p:sp>
        <p:nvSpPr>
          <p:cNvPr id="8" name="Text 6"/>
          <p:cNvSpPr/>
          <p:nvPr/>
        </p:nvSpPr>
        <p:spPr>
          <a:xfrm>
            <a:off x="713232" y="3154680"/>
            <a:ext cx="1755648" cy="1371600"/>
          </a:xfrm>
          <a:prstGeom prst="rect">
            <a:avLst/>
          </a:prstGeom>
          <a:noFill/>
          <a:ln/>
        </p:spPr>
        <p:txBody>
          <a:bodyPr wrap="square" rtlCol="0" anchor="ctr"/>
          <a:lstStyle/>
          <a:p>
            <a:pPr indent="0" marL="0">
              <a:lnSpc>
                <a:spcPct val="120000"/>
              </a:lnSpc>
              <a:buNone/>
            </a:pPr>
            <a:r>
              <a:rPr lang="en-US" sz="1050" dirty="0">
                <a:solidFill>
                  <a:srgbClr val="6B6472"/>
                </a:solidFill>
                <a:latin typeface="Calibri" pitchFamily="34" charset="0"/>
                <a:ea typeface="Calibri" pitchFamily="34" charset="-122"/>
                <a:cs typeface="Calibri" pitchFamily="34" charset="-120"/>
              </a:rPr>
              <a:t>Operator opens the round; current global model CID is published.</a:t>
            </a:r>
            <a:endParaRPr lang="en-US" sz="1050" dirty="0"/>
          </a:p>
        </p:txBody>
      </p:sp>
      <p:sp>
        <p:nvSpPr>
          <p:cNvPr id="9" name="Text 7"/>
          <p:cNvSpPr/>
          <p:nvPr/>
        </p:nvSpPr>
        <p:spPr>
          <a:xfrm>
            <a:off x="2615184" y="3063240"/>
            <a:ext cx="320040" cy="365760"/>
          </a:xfrm>
          <a:prstGeom prst="rect">
            <a:avLst/>
          </a:prstGeom>
          <a:noFill/>
          <a:ln/>
        </p:spPr>
        <p:txBody>
          <a:bodyPr wrap="square" rtlCol="0" anchor="ctr"/>
          <a:lstStyle/>
          <a:p>
            <a:pPr algn="ctr" indent="0" marL="0">
              <a:buNone/>
            </a:pPr>
            <a:r>
              <a:rPr lang="en-US" sz="1600" dirty="0">
                <a:solidFill>
                  <a:srgbClr val="9E93A4"/>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779776" y="1920240"/>
            <a:ext cx="2084832" cy="2743200"/>
          </a:xfrm>
          <a:prstGeom prst="roundRect">
            <a:avLst>
              <a:gd name="adj" fmla="val 3509"/>
            </a:avLst>
          </a:prstGeom>
          <a:solidFill>
            <a:srgbClr val="FFFFFF"/>
          </a:solidFill>
          <a:ln w="12700">
            <a:solidFill>
              <a:srgbClr val="DFD7DC"/>
            </a:solidFill>
            <a:prstDash val="solid"/>
          </a:ln>
        </p:spPr>
      </p:sp>
      <p:sp>
        <p:nvSpPr>
          <p:cNvPr id="11" name="Shape 9"/>
          <p:cNvSpPr/>
          <p:nvPr/>
        </p:nvSpPr>
        <p:spPr>
          <a:xfrm>
            <a:off x="2944368" y="2103120"/>
            <a:ext cx="411480" cy="411480"/>
          </a:xfrm>
          <a:prstGeom prst="ellipse">
            <a:avLst/>
          </a:prstGeom>
          <a:solidFill>
            <a:srgbClr val="A32B68"/>
          </a:solidFill>
          <a:ln/>
        </p:spPr>
      </p:sp>
      <p:sp>
        <p:nvSpPr>
          <p:cNvPr id="12" name="Text 10"/>
          <p:cNvSpPr/>
          <p:nvPr/>
        </p:nvSpPr>
        <p:spPr>
          <a:xfrm>
            <a:off x="2944368" y="2103120"/>
            <a:ext cx="411480" cy="41148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2944368" y="2651760"/>
            <a:ext cx="1755648" cy="502920"/>
          </a:xfrm>
          <a:prstGeom prst="rect">
            <a:avLst/>
          </a:prstGeom>
          <a:noFill/>
          <a:ln/>
        </p:spPr>
        <p:txBody>
          <a:bodyPr wrap="square" rtlCol="0" anchor="ctr"/>
          <a:lstStyle/>
          <a:p>
            <a:pPr indent="0" marL="0">
              <a:buNone/>
            </a:pPr>
            <a:r>
              <a:rPr lang="en-US" sz="1300" b="1" dirty="0">
                <a:solidFill>
                  <a:srgbClr val="2E2733"/>
                </a:solidFill>
                <a:latin typeface="Calibri" pitchFamily="34" charset="0"/>
                <a:ea typeface="Calibri" pitchFamily="34" charset="-122"/>
                <a:cs typeface="Calibri" pitchFamily="34" charset="-120"/>
              </a:rPr>
              <a:t>Hospitals fetch</a:t>
            </a:r>
            <a:endParaRPr lang="en-US" sz="1300" dirty="0"/>
          </a:p>
        </p:txBody>
      </p:sp>
      <p:sp>
        <p:nvSpPr>
          <p:cNvPr id="14" name="Text 12"/>
          <p:cNvSpPr/>
          <p:nvPr/>
        </p:nvSpPr>
        <p:spPr>
          <a:xfrm>
            <a:off x="2944368" y="3154680"/>
            <a:ext cx="1755648" cy="1371600"/>
          </a:xfrm>
          <a:prstGeom prst="rect">
            <a:avLst/>
          </a:prstGeom>
          <a:noFill/>
          <a:ln/>
        </p:spPr>
        <p:txBody>
          <a:bodyPr wrap="square" rtlCol="0" anchor="ctr"/>
          <a:lstStyle/>
          <a:p>
            <a:pPr indent="0" marL="0">
              <a:lnSpc>
                <a:spcPct val="120000"/>
              </a:lnSpc>
              <a:buNone/>
            </a:pPr>
            <a:r>
              <a:rPr lang="en-US" sz="1050" dirty="0">
                <a:solidFill>
                  <a:srgbClr val="6B6472"/>
                </a:solidFill>
                <a:latin typeface="Calibri" pitchFamily="34" charset="0"/>
                <a:ea typeface="Calibri" pitchFamily="34" charset="-122"/>
                <a:cs typeface="Calibri" pitchFamily="34" charset="-120"/>
              </a:rPr>
              <a:t>Each site downloads the encrypted global model and decrypts locally.</a:t>
            </a:r>
            <a:endParaRPr lang="en-US" sz="1050" dirty="0"/>
          </a:p>
        </p:txBody>
      </p:sp>
      <p:sp>
        <p:nvSpPr>
          <p:cNvPr id="15" name="Text 13"/>
          <p:cNvSpPr/>
          <p:nvPr/>
        </p:nvSpPr>
        <p:spPr>
          <a:xfrm>
            <a:off x="4846320" y="3063240"/>
            <a:ext cx="320040" cy="365760"/>
          </a:xfrm>
          <a:prstGeom prst="rect">
            <a:avLst/>
          </a:prstGeom>
          <a:noFill/>
          <a:ln/>
        </p:spPr>
        <p:txBody>
          <a:bodyPr wrap="square" rtlCol="0" anchor="ctr"/>
          <a:lstStyle/>
          <a:p>
            <a:pPr algn="ctr" indent="0" marL="0">
              <a:buNone/>
            </a:pPr>
            <a:r>
              <a:rPr lang="en-US" sz="1600" dirty="0">
                <a:solidFill>
                  <a:srgbClr val="9E93A4"/>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5010912" y="1920240"/>
            <a:ext cx="2084832" cy="2743200"/>
          </a:xfrm>
          <a:prstGeom prst="roundRect">
            <a:avLst>
              <a:gd name="adj" fmla="val 3509"/>
            </a:avLst>
          </a:prstGeom>
          <a:solidFill>
            <a:srgbClr val="FFFFFF"/>
          </a:solidFill>
          <a:ln w="12700">
            <a:solidFill>
              <a:srgbClr val="DFD7DC"/>
            </a:solidFill>
            <a:prstDash val="solid"/>
          </a:ln>
        </p:spPr>
      </p:sp>
      <p:sp>
        <p:nvSpPr>
          <p:cNvPr id="17" name="Shape 15"/>
          <p:cNvSpPr/>
          <p:nvPr/>
        </p:nvSpPr>
        <p:spPr>
          <a:xfrm>
            <a:off x="5175504" y="2103120"/>
            <a:ext cx="411480" cy="411480"/>
          </a:xfrm>
          <a:prstGeom prst="ellipse">
            <a:avLst/>
          </a:prstGeom>
          <a:solidFill>
            <a:srgbClr val="A32B68"/>
          </a:solidFill>
          <a:ln/>
        </p:spPr>
      </p:sp>
      <p:sp>
        <p:nvSpPr>
          <p:cNvPr id="18" name="Text 16"/>
          <p:cNvSpPr/>
          <p:nvPr/>
        </p:nvSpPr>
        <p:spPr>
          <a:xfrm>
            <a:off x="5175504" y="2103120"/>
            <a:ext cx="411480" cy="41148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p:nvPr/>
        </p:nvSpPr>
        <p:spPr>
          <a:xfrm>
            <a:off x="5175504" y="2651760"/>
            <a:ext cx="1755648" cy="502920"/>
          </a:xfrm>
          <a:prstGeom prst="rect">
            <a:avLst/>
          </a:prstGeom>
          <a:noFill/>
          <a:ln/>
        </p:spPr>
        <p:txBody>
          <a:bodyPr wrap="square" rtlCol="0" anchor="ctr"/>
          <a:lstStyle/>
          <a:p>
            <a:pPr indent="0" marL="0">
              <a:buNone/>
            </a:pPr>
            <a:r>
              <a:rPr lang="en-US" sz="1300" b="1" dirty="0">
                <a:solidFill>
                  <a:srgbClr val="2E2733"/>
                </a:solidFill>
                <a:latin typeface="Calibri" pitchFamily="34" charset="0"/>
                <a:ea typeface="Calibri" pitchFamily="34" charset="-122"/>
                <a:cs typeface="Calibri" pitchFamily="34" charset="-120"/>
              </a:rPr>
              <a:t>Local training</a:t>
            </a:r>
            <a:endParaRPr lang="en-US" sz="1300" dirty="0"/>
          </a:p>
        </p:txBody>
      </p:sp>
      <p:sp>
        <p:nvSpPr>
          <p:cNvPr id="20" name="Text 18"/>
          <p:cNvSpPr/>
          <p:nvPr/>
        </p:nvSpPr>
        <p:spPr>
          <a:xfrm>
            <a:off x="5175504" y="3154680"/>
            <a:ext cx="1755648" cy="1371600"/>
          </a:xfrm>
          <a:prstGeom prst="rect">
            <a:avLst/>
          </a:prstGeom>
          <a:noFill/>
          <a:ln/>
        </p:spPr>
        <p:txBody>
          <a:bodyPr wrap="square" rtlCol="0" anchor="ctr"/>
          <a:lstStyle/>
          <a:p>
            <a:pPr indent="0" marL="0">
              <a:lnSpc>
                <a:spcPct val="120000"/>
              </a:lnSpc>
              <a:buNone/>
            </a:pPr>
            <a:r>
              <a:rPr lang="en-US" sz="1050" dirty="0">
                <a:solidFill>
                  <a:srgbClr val="6B6472"/>
                </a:solidFill>
                <a:latin typeface="Calibri" pitchFamily="34" charset="0"/>
                <a:ea typeface="Calibri" pitchFamily="34" charset="-122"/>
                <a:cs typeface="Calibri" pitchFamily="34" charset="-120"/>
              </a:rPr>
              <a:t>Adam @1e-4, batch 32, binary cross-entropy, early stopping.</a:t>
            </a:r>
            <a:endParaRPr lang="en-US" sz="1050" dirty="0"/>
          </a:p>
        </p:txBody>
      </p:sp>
      <p:sp>
        <p:nvSpPr>
          <p:cNvPr id="21" name="Text 19"/>
          <p:cNvSpPr/>
          <p:nvPr/>
        </p:nvSpPr>
        <p:spPr>
          <a:xfrm>
            <a:off x="7077456" y="3063240"/>
            <a:ext cx="320040" cy="365760"/>
          </a:xfrm>
          <a:prstGeom prst="rect">
            <a:avLst/>
          </a:prstGeom>
          <a:noFill/>
          <a:ln/>
        </p:spPr>
        <p:txBody>
          <a:bodyPr wrap="square" rtlCol="0" anchor="ctr"/>
          <a:lstStyle/>
          <a:p>
            <a:pPr algn="ctr" indent="0" marL="0">
              <a:buNone/>
            </a:pPr>
            <a:r>
              <a:rPr lang="en-US" sz="1600" dirty="0">
                <a:solidFill>
                  <a:srgbClr val="9E93A4"/>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7242048" y="1920240"/>
            <a:ext cx="2084832" cy="2743200"/>
          </a:xfrm>
          <a:prstGeom prst="roundRect">
            <a:avLst>
              <a:gd name="adj" fmla="val 3509"/>
            </a:avLst>
          </a:prstGeom>
          <a:solidFill>
            <a:srgbClr val="FFFFFF"/>
          </a:solidFill>
          <a:ln w="12700">
            <a:solidFill>
              <a:srgbClr val="DFD7DC"/>
            </a:solidFill>
            <a:prstDash val="solid"/>
          </a:ln>
        </p:spPr>
      </p:sp>
      <p:sp>
        <p:nvSpPr>
          <p:cNvPr id="23" name="Shape 21"/>
          <p:cNvSpPr/>
          <p:nvPr/>
        </p:nvSpPr>
        <p:spPr>
          <a:xfrm>
            <a:off x="7406640" y="2103120"/>
            <a:ext cx="411480" cy="411480"/>
          </a:xfrm>
          <a:prstGeom prst="ellipse">
            <a:avLst/>
          </a:prstGeom>
          <a:solidFill>
            <a:srgbClr val="A32B68"/>
          </a:solidFill>
          <a:ln/>
        </p:spPr>
      </p:sp>
      <p:sp>
        <p:nvSpPr>
          <p:cNvPr id="24" name="Text 22"/>
          <p:cNvSpPr/>
          <p:nvPr/>
        </p:nvSpPr>
        <p:spPr>
          <a:xfrm>
            <a:off x="7406640" y="2103120"/>
            <a:ext cx="411480" cy="41148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5" name="Text 23"/>
          <p:cNvSpPr/>
          <p:nvPr/>
        </p:nvSpPr>
        <p:spPr>
          <a:xfrm>
            <a:off x="7406640" y="2651760"/>
            <a:ext cx="1755648" cy="502920"/>
          </a:xfrm>
          <a:prstGeom prst="rect">
            <a:avLst/>
          </a:prstGeom>
          <a:noFill/>
          <a:ln/>
        </p:spPr>
        <p:txBody>
          <a:bodyPr wrap="square" rtlCol="0" anchor="ctr"/>
          <a:lstStyle/>
          <a:p>
            <a:pPr indent="0" marL="0">
              <a:buNone/>
            </a:pPr>
            <a:r>
              <a:rPr lang="en-US" sz="1300" b="1" dirty="0">
                <a:solidFill>
                  <a:srgbClr val="2E2733"/>
                </a:solidFill>
                <a:latin typeface="Calibri" pitchFamily="34" charset="0"/>
                <a:ea typeface="Calibri" pitchFamily="34" charset="-122"/>
                <a:cs typeface="Calibri" pitchFamily="34" charset="-120"/>
              </a:rPr>
              <a:t>Encrypt &amp; submit</a:t>
            </a:r>
            <a:endParaRPr lang="en-US" sz="1300" dirty="0"/>
          </a:p>
        </p:txBody>
      </p:sp>
      <p:sp>
        <p:nvSpPr>
          <p:cNvPr id="26" name="Text 24"/>
          <p:cNvSpPr/>
          <p:nvPr/>
        </p:nvSpPr>
        <p:spPr>
          <a:xfrm>
            <a:off x="7406640" y="3154680"/>
            <a:ext cx="1755648" cy="1371600"/>
          </a:xfrm>
          <a:prstGeom prst="rect">
            <a:avLst/>
          </a:prstGeom>
          <a:noFill/>
          <a:ln/>
        </p:spPr>
        <p:txBody>
          <a:bodyPr wrap="square" rtlCol="0" anchor="ctr"/>
          <a:lstStyle/>
          <a:p>
            <a:pPr indent="0" marL="0">
              <a:lnSpc>
                <a:spcPct val="120000"/>
              </a:lnSpc>
              <a:buNone/>
            </a:pPr>
            <a:r>
              <a:rPr lang="en-US" sz="1050" dirty="0">
                <a:solidFill>
                  <a:srgbClr val="6B6472"/>
                </a:solidFill>
                <a:latin typeface="Calibri" pitchFamily="34" charset="0"/>
                <a:ea typeface="Calibri" pitchFamily="34" charset="-122"/>
                <a:cs typeface="Calibri" pitchFamily="34" charset="-120"/>
              </a:rPr>
              <a:t>AES-256-CBC to IPFS; new CID and metrics go to the contract.</a:t>
            </a:r>
            <a:endParaRPr lang="en-US" sz="1050" dirty="0"/>
          </a:p>
        </p:txBody>
      </p:sp>
      <p:sp>
        <p:nvSpPr>
          <p:cNvPr id="27" name="Text 25"/>
          <p:cNvSpPr/>
          <p:nvPr/>
        </p:nvSpPr>
        <p:spPr>
          <a:xfrm>
            <a:off x="9308592" y="3063240"/>
            <a:ext cx="320040" cy="365760"/>
          </a:xfrm>
          <a:prstGeom prst="rect">
            <a:avLst/>
          </a:prstGeom>
          <a:noFill/>
          <a:ln/>
        </p:spPr>
        <p:txBody>
          <a:bodyPr wrap="square" rtlCol="0" anchor="ctr"/>
          <a:lstStyle/>
          <a:p>
            <a:pPr algn="ctr" indent="0" marL="0">
              <a:buNone/>
            </a:pPr>
            <a:r>
              <a:rPr lang="en-US" sz="1600" dirty="0">
                <a:solidFill>
                  <a:srgbClr val="9E93A4"/>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9473184" y="1920240"/>
            <a:ext cx="2084832" cy="2743200"/>
          </a:xfrm>
          <a:prstGeom prst="roundRect">
            <a:avLst>
              <a:gd name="adj" fmla="val 3509"/>
            </a:avLst>
          </a:prstGeom>
          <a:solidFill>
            <a:srgbClr val="FFFFFF"/>
          </a:solidFill>
          <a:ln w="12700">
            <a:solidFill>
              <a:srgbClr val="DFD7DC"/>
            </a:solidFill>
            <a:prstDash val="solid"/>
          </a:ln>
        </p:spPr>
      </p:sp>
      <p:sp>
        <p:nvSpPr>
          <p:cNvPr id="29" name="Shape 27"/>
          <p:cNvSpPr/>
          <p:nvPr/>
        </p:nvSpPr>
        <p:spPr>
          <a:xfrm>
            <a:off x="9637776" y="2103120"/>
            <a:ext cx="411480" cy="411480"/>
          </a:xfrm>
          <a:prstGeom prst="ellipse">
            <a:avLst/>
          </a:prstGeom>
          <a:solidFill>
            <a:srgbClr val="A32B68"/>
          </a:solidFill>
          <a:ln/>
        </p:spPr>
      </p:sp>
      <p:sp>
        <p:nvSpPr>
          <p:cNvPr id="30" name="Text 28"/>
          <p:cNvSpPr/>
          <p:nvPr/>
        </p:nvSpPr>
        <p:spPr>
          <a:xfrm>
            <a:off x="9637776" y="2103120"/>
            <a:ext cx="411480" cy="41148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1" name="Text 29"/>
          <p:cNvSpPr/>
          <p:nvPr/>
        </p:nvSpPr>
        <p:spPr>
          <a:xfrm>
            <a:off x="9637776" y="2651760"/>
            <a:ext cx="1755648" cy="502920"/>
          </a:xfrm>
          <a:prstGeom prst="rect">
            <a:avLst/>
          </a:prstGeom>
          <a:noFill/>
          <a:ln/>
        </p:spPr>
        <p:txBody>
          <a:bodyPr wrap="square" rtlCol="0" anchor="ctr"/>
          <a:lstStyle/>
          <a:p>
            <a:pPr indent="0" marL="0">
              <a:buNone/>
            </a:pPr>
            <a:r>
              <a:rPr lang="en-US" sz="1300" b="1" dirty="0">
                <a:solidFill>
                  <a:srgbClr val="2E2733"/>
                </a:solidFill>
                <a:latin typeface="Calibri" pitchFamily="34" charset="0"/>
                <a:ea typeface="Calibri" pitchFamily="34" charset="-122"/>
                <a:cs typeface="Calibri" pitchFamily="34" charset="-120"/>
              </a:rPr>
              <a:t>Oracle finalizes</a:t>
            </a:r>
            <a:endParaRPr lang="en-US" sz="1300" dirty="0"/>
          </a:p>
        </p:txBody>
      </p:sp>
      <p:sp>
        <p:nvSpPr>
          <p:cNvPr id="32" name="Text 30"/>
          <p:cNvSpPr/>
          <p:nvPr/>
        </p:nvSpPr>
        <p:spPr>
          <a:xfrm>
            <a:off x="9637776" y="3154680"/>
            <a:ext cx="1755648" cy="1371600"/>
          </a:xfrm>
          <a:prstGeom prst="rect">
            <a:avLst/>
          </a:prstGeom>
          <a:noFill/>
          <a:ln/>
        </p:spPr>
        <p:txBody>
          <a:bodyPr wrap="square" rtlCol="0" anchor="ctr"/>
          <a:lstStyle/>
          <a:p>
            <a:pPr indent="0" marL="0">
              <a:lnSpc>
                <a:spcPct val="120000"/>
              </a:lnSpc>
              <a:buNone/>
            </a:pPr>
            <a:r>
              <a:rPr lang="en-US" sz="1050" dirty="0">
                <a:solidFill>
                  <a:srgbClr val="6B6472"/>
                </a:solidFill>
                <a:latin typeface="Calibri" pitchFamily="34" charset="0"/>
                <a:ea typeface="Calibri" pitchFamily="34" charset="-122"/>
                <a:cs typeface="Calibri" pitchFamily="34" charset="-120"/>
              </a:rPr>
              <a:t>Once all sites submit, FedAvg weights by sample count.</a:t>
            </a:r>
            <a:endParaRPr lang="en-US" sz="1050" dirty="0"/>
          </a:p>
        </p:txBody>
      </p:sp>
      <p:sp>
        <p:nvSpPr>
          <p:cNvPr id="33" name="Shape 31"/>
          <p:cNvSpPr/>
          <p:nvPr/>
        </p:nvSpPr>
        <p:spPr>
          <a:xfrm>
            <a:off x="548640" y="4892040"/>
            <a:ext cx="11064240" cy="960120"/>
          </a:xfrm>
          <a:prstGeom prst="roundRect">
            <a:avLst>
              <a:gd name="adj" fmla="val 7619"/>
            </a:avLst>
          </a:prstGeom>
          <a:solidFill>
            <a:srgbClr val="F4EDF1"/>
          </a:solidFill>
          <a:ln/>
        </p:spPr>
      </p:sp>
      <p:sp>
        <p:nvSpPr>
          <p:cNvPr id="34" name="Text 32"/>
          <p:cNvSpPr/>
          <p:nvPr/>
        </p:nvSpPr>
        <p:spPr>
          <a:xfrm>
            <a:off x="868680" y="5029200"/>
            <a:ext cx="10515600" cy="685800"/>
          </a:xfrm>
          <a:prstGeom prst="rect">
            <a:avLst/>
          </a:prstGeom>
          <a:noFill/>
          <a:ln/>
        </p:spPr>
        <p:txBody>
          <a:bodyPr wrap="square" rtlCol="0" anchor="ctr"/>
          <a:lstStyle/>
          <a:p>
            <a:pPr indent="0" marL="0">
              <a:lnSpc>
                <a:spcPct val="120000"/>
              </a:lnSpc>
              <a:buNone/>
            </a:pPr>
            <a:r>
              <a:rPr lang="en-US" sz="1300" b="1" dirty="0">
                <a:solidFill>
                  <a:srgbClr val="2E2733"/>
                </a:solidFill>
                <a:latin typeface="Calibri" pitchFamily="34" charset="0"/>
                <a:ea typeface="Calibri" pitchFamily="34" charset="-122"/>
                <a:cs typeface="Calibri" pitchFamily="34" charset="-120"/>
              </a:rPr>
              <a:t>A round cannot close early. </a:t>
            </a:r>
            <a:pPr indent="0" marL="0">
              <a:lnSpc>
                <a:spcPct val="120000"/>
              </a:lnSpc>
              <a:buNone/>
            </a:pPr>
            <a:r>
              <a:rPr lang="en-US" sz="1300" dirty="0">
                <a:solidFill>
                  <a:srgbClr val="6B6472"/>
                </a:solidFill>
                <a:latin typeface="Calibri" pitchFamily="34" charset="0"/>
                <a:ea typeface="Calibri" pitchFamily="34" charset="-122"/>
                <a:cs typeface="Calibri" pitchFamily="34" charset="-120"/>
              </a:rPr>
              <a:t>The all-submissions rule is enforced in Solidity — free-riding isn't discouraged, it's impossible.</a:t>
            </a:r>
            <a:endParaRPr lang="en-US" sz="1300" dirty="0"/>
          </a:p>
        </p:txBody>
      </p:sp>
      <p:sp>
        <p:nvSpPr>
          <p:cNvPr id="35" name="Text 33"/>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6B6472"/>
                </a:solidFill>
                <a:latin typeface="Calibri" pitchFamily="34" charset="0"/>
                <a:ea typeface="Calibri" pitchFamily="34" charset="-122"/>
                <a:cs typeface="Calibri" pitchFamily="34" charset="-120"/>
              </a:rPr>
              <a:t>MedChain-FL  ·  Team FedGuard  ·  BCOLBD 2026</a:t>
            </a:r>
            <a:endParaRPr lang="en-US" sz="900" dirty="0"/>
          </a:p>
        </p:txBody>
      </p:sp>
      <p:sp>
        <p:nvSpPr>
          <p:cNvPr id="36" name="Text 3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472"/>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100" b="1" spc="200" kern="0" dirty="0">
                <a:solidFill>
                  <a:srgbClr val="A32B68"/>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48640" y="685800"/>
            <a:ext cx="11064240" cy="731520"/>
          </a:xfrm>
          <a:prstGeom prst="rect">
            <a:avLst/>
          </a:prstGeom>
          <a:noFill/>
          <a:ln/>
        </p:spPr>
        <p:txBody>
          <a:bodyPr wrap="square" rtlCol="0" anchor="ctr"/>
          <a:lstStyle/>
          <a:p>
            <a:pPr indent="0" marL="0">
              <a:lnSpc>
                <a:spcPts val="3200"/>
              </a:lnSpc>
              <a:buNone/>
            </a:pPr>
            <a:r>
              <a:rPr lang="en-US" sz="2800" b="1" dirty="0">
                <a:solidFill>
                  <a:srgbClr val="2E2733"/>
                </a:solidFill>
                <a:latin typeface="Cambria" pitchFamily="34" charset="0"/>
                <a:ea typeface="Cambria" pitchFamily="34" charset="-122"/>
                <a:cs typeface="Cambria" pitchFamily="34" charset="-120"/>
              </a:rPr>
              <a:t>Three subsystems, one ledger of record</a:t>
            </a:r>
            <a:endParaRPr lang="en-US" sz="2800" dirty="0"/>
          </a:p>
        </p:txBody>
      </p:sp>
      <p:pic>
        <p:nvPicPr>
          <p:cNvPr id="4" name="Image 0" descr="assets/architecture.png">    </p:cNvPr>
          <p:cNvPicPr>
            <a:picLocks noChangeAspect="1"/>
          </p:cNvPicPr>
          <p:nvPr/>
        </p:nvPicPr>
        <p:blipFill>
          <a:blip r:embed="rId1"/>
          <a:stretch>
            <a:fillRect/>
          </a:stretch>
        </p:blipFill>
        <p:spPr>
          <a:xfrm>
            <a:off x="548640" y="1600200"/>
            <a:ext cx="6949440" cy="3429000"/>
          </a:xfrm>
          <a:prstGeom prst="rect">
            <a:avLst/>
          </a:prstGeom>
        </p:spPr>
      </p:pic>
      <p:sp>
        <p:nvSpPr>
          <p:cNvPr id="5" name="Shape 2"/>
          <p:cNvSpPr/>
          <p:nvPr/>
        </p:nvSpPr>
        <p:spPr>
          <a:xfrm>
            <a:off x="7772400" y="1645920"/>
            <a:ext cx="384048" cy="384048"/>
          </a:xfrm>
          <a:prstGeom prst="ellipse">
            <a:avLst/>
          </a:prstGeom>
          <a:solidFill>
            <a:srgbClr val="0E7C7B"/>
          </a:solidFill>
          <a:ln/>
        </p:spPr>
      </p:sp>
      <p:sp>
        <p:nvSpPr>
          <p:cNvPr id="6" name="Text 3"/>
          <p:cNvSpPr/>
          <p:nvPr/>
        </p:nvSpPr>
        <p:spPr>
          <a:xfrm>
            <a:off x="7772400" y="1645920"/>
            <a:ext cx="384048" cy="384048"/>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4"/>
          <p:cNvSpPr/>
          <p:nvPr/>
        </p:nvSpPr>
        <p:spPr>
          <a:xfrm>
            <a:off x="8275320" y="1600200"/>
            <a:ext cx="3383280" cy="320040"/>
          </a:xfrm>
          <a:prstGeom prst="rect">
            <a:avLst/>
          </a:prstGeom>
          <a:noFill/>
          <a:ln/>
        </p:spPr>
        <p:txBody>
          <a:bodyPr wrap="square" rtlCol="0" anchor="ctr"/>
          <a:lstStyle/>
          <a:p>
            <a:pPr indent="0" marL="0">
              <a:buNone/>
            </a:pPr>
            <a:r>
              <a:rPr lang="en-US" sz="1300" b="1" dirty="0">
                <a:solidFill>
                  <a:srgbClr val="2E2733"/>
                </a:solidFill>
                <a:latin typeface="Calibri" pitchFamily="34" charset="0"/>
                <a:ea typeface="Calibri" pitchFamily="34" charset="-122"/>
                <a:cs typeface="Calibri" pitchFamily="34" charset="-120"/>
              </a:rPr>
              <a:t>Hospital operations</a:t>
            </a:r>
            <a:endParaRPr lang="en-US" sz="1300" dirty="0"/>
          </a:p>
        </p:txBody>
      </p:sp>
      <p:sp>
        <p:nvSpPr>
          <p:cNvPr id="8" name="Text 5"/>
          <p:cNvSpPr/>
          <p:nvPr/>
        </p:nvSpPr>
        <p:spPr>
          <a:xfrm>
            <a:off x="8275320" y="1938528"/>
            <a:ext cx="3383280" cy="777240"/>
          </a:xfrm>
          <a:prstGeom prst="rect">
            <a:avLst/>
          </a:prstGeom>
          <a:noFill/>
          <a:ln/>
        </p:spPr>
        <p:txBody>
          <a:bodyPr wrap="square" rtlCol="0" anchor="ctr"/>
          <a:lstStyle/>
          <a:p>
            <a:pPr indent="0" marL="0">
              <a:lnSpc>
                <a:spcPct val="115000"/>
              </a:lnSpc>
              <a:buNone/>
            </a:pPr>
            <a:r>
              <a:rPr lang="en-US" sz="1050" dirty="0">
                <a:solidFill>
                  <a:srgbClr val="6B6472"/>
                </a:solidFill>
                <a:latin typeface="Calibri" pitchFamily="34" charset="0"/>
                <a:ea typeface="Calibri" pitchFamily="34" charset="-122"/>
                <a:cs typeface="Calibri" pitchFamily="34" charset="-120"/>
              </a:rPr>
              <a:t>Node.js clients: wallet auth, local training, AES-256 encryption, contract calls via ethers.js.</a:t>
            </a:r>
            <a:endParaRPr lang="en-US" sz="1050" dirty="0"/>
          </a:p>
        </p:txBody>
      </p:sp>
      <p:sp>
        <p:nvSpPr>
          <p:cNvPr id="9" name="Shape 6"/>
          <p:cNvSpPr/>
          <p:nvPr/>
        </p:nvSpPr>
        <p:spPr>
          <a:xfrm>
            <a:off x="7772400" y="2816352"/>
            <a:ext cx="384048" cy="384048"/>
          </a:xfrm>
          <a:prstGeom prst="ellipse">
            <a:avLst/>
          </a:prstGeom>
          <a:solidFill>
            <a:srgbClr val="0E7C7B"/>
          </a:solidFill>
          <a:ln/>
        </p:spPr>
      </p:sp>
      <p:sp>
        <p:nvSpPr>
          <p:cNvPr id="10" name="Text 7"/>
          <p:cNvSpPr/>
          <p:nvPr/>
        </p:nvSpPr>
        <p:spPr>
          <a:xfrm>
            <a:off x="7772400" y="2816352"/>
            <a:ext cx="384048" cy="384048"/>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8"/>
          <p:cNvSpPr/>
          <p:nvPr/>
        </p:nvSpPr>
        <p:spPr>
          <a:xfrm>
            <a:off x="8275320" y="2770632"/>
            <a:ext cx="3383280" cy="320040"/>
          </a:xfrm>
          <a:prstGeom prst="rect">
            <a:avLst/>
          </a:prstGeom>
          <a:noFill/>
          <a:ln/>
        </p:spPr>
        <p:txBody>
          <a:bodyPr wrap="square" rtlCol="0" anchor="ctr"/>
          <a:lstStyle/>
          <a:p>
            <a:pPr indent="0" marL="0">
              <a:buNone/>
            </a:pPr>
            <a:r>
              <a:rPr lang="en-US" sz="1300" b="1" dirty="0">
                <a:solidFill>
                  <a:srgbClr val="2E2733"/>
                </a:solidFill>
                <a:latin typeface="Calibri" pitchFamily="34" charset="0"/>
                <a:ea typeface="Calibri" pitchFamily="34" charset="-122"/>
                <a:cs typeface="Calibri" pitchFamily="34" charset="-120"/>
              </a:rPr>
              <a:t>Global model controller</a:t>
            </a:r>
            <a:endParaRPr lang="en-US" sz="1300" dirty="0"/>
          </a:p>
        </p:txBody>
      </p:sp>
      <p:sp>
        <p:nvSpPr>
          <p:cNvPr id="12" name="Text 9"/>
          <p:cNvSpPr/>
          <p:nvPr/>
        </p:nvSpPr>
        <p:spPr>
          <a:xfrm>
            <a:off x="8275320" y="3108960"/>
            <a:ext cx="3383280" cy="777240"/>
          </a:xfrm>
          <a:prstGeom prst="rect">
            <a:avLst/>
          </a:prstGeom>
          <a:noFill/>
          <a:ln/>
        </p:spPr>
        <p:txBody>
          <a:bodyPr wrap="square" rtlCol="0" anchor="ctr"/>
          <a:lstStyle/>
          <a:p>
            <a:pPr indent="0" marL="0">
              <a:lnSpc>
                <a:spcPct val="115000"/>
              </a:lnSpc>
              <a:buNone/>
            </a:pPr>
            <a:r>
              <a:rPr lang="en-US" sz="1050" dirty="0">
                <a:solidFill>
                  <a:srgbClr val="6B6472"/>
                </a:solidFill>
                <a:latin typeface="Calibri" pitchFamily="34" charset="0"/>
                <a:ea typeface="Calibri" pitchFamily="34" charset="-122"/>
                <a:cs typeface="Calibri" pitchFamily="34" charset="-120"/>
              </a:rPr>
              <a:t>Python service: polls rounds, runs FedAvg, publishes the new global model.</a:t>
            </a:r>
            <a:endParaRPr lang="en-US" sz="1050" dirty="0"/>
          </a:p>
        </p:txBody>
      </p:sp>
      <p:sp>
        <p:nvSpPr>
          <p:cNvPr id="13" name="Shape 10"/>
          <p:cNvSpPr/>
          <p:nvPr/>
        </p:nvSpPr>
        <p:spPr>
          <a:xfrm>
            <a:off x="7772400" y="3986784"/>
            <a:ext cx="384048" cy="384048"/>
          </a:xfrm>
          <a:prstGeom prst="ellipse">
            <a:avLst/>
          </a:prstGeom>
          <a:solidFill>
            <a:srgbClr val="0E7C7B"/>
          </a:solidFill>
          <a:ln/>
        </p:spPr>
      </p:sp>
      <p:sp>
        <p:nvSpPr>
          <p:cNvPr id="14" name="Text 11"/>
          <p:cNvSpPr/>
          <p:nvPr/>
        </p:nvSpPr>
        <p:spPr>
          <a:xfrm>
            <a:off x="7772400" y="3986784"/>
            <a:ext cx="384048" cy="384048"/>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2"/>
          <p:cNvSpPr/>
          <p:nvPr/>
        </p:nvSpPr>
        <p:spPr>
          <a:xfrm>
            <a:off x="8275320" y="3941064"/>
            <a:ext cx="3383280" cy="320040"/>
          </a:xfrm>
          <a:prstGeom prst="rect">
            <a:avLst/>
          </a:prstGeom>
          <a:noFill/>
          <a:ln/>
        </p:spPr>
        <p:txBody>
          <a:bodyPr wrap="square" rtlCol="0" anchor="ctr"/>
          <a:lstStyle/>
          <a:p>
            <a:pPr indent="0" marL="0">
              <a:buNone/>
            </a:pPr>
            <a:r>
              <a:rPr lang="en-US" sz="1300" b="1" dirty="0">
                <a:solidFill>
                  <a:srgbClr val="2E2733"/>
                </a:solidFill>
                <a:latin typeface="Calibri" pitchFamily="34" charset="0"/>
                <a:ea typeface="Calibri" pitchFamily="34" charset="-122"/>
                <a:cs typeface="Calibri" pitchFamily="34" charset="-120"/>
              </a:rPr>
              <a:t>Administrative control</a:t>
            </a:r>
            <a:endParaRPr lang="en-US" sz="1300" dirty="0"/>
          </a:p>
        </p:txBody>
      </p:sp>
      <p:sp>
        <p:nvSpPr>
          <p:cNvPr id="16" name="Text 13"/>
          <p:cNvSpPr/>
          <p:nvPr/>
        </p:nvSpPr>
        <p:spPr>
          <a:xfrm>
            <a:off x="8275320" y="4279392"/>
            <a:ext cx="3383280" cy="777240"/>
          </a:xfrm>
          <a:prstGeom prst="rect">
            <a:avLst/>
          </a:prstGeom>
          <a:noFill/>
          <a:ln/>
        </p:spPr>
        <p:txBody>
          <a:bodyPr wrap="square" rtlCol="0" anchor="ctr"/>
          <a:lstStyle/>
          <a:p>
            <a:pPr indent="0" marL="0">
              <a:lnSpc>
                <a:spcPct val="115000"/>
              </a:lnSpc>
              <a:buNone/>
            </a:pPr>
            <a:r>
              <a:rPr lang="en-US" sz="1050" dirty="0">
                <a:solidFill>
                  <a:srgbClr val="6B6472"/>
                </a:solidFill>
                <a:latin typeface="Calibri" pitchFamily="34" charset="0"/>
                <a:ea typeface="Calibri" pitchFamily="34" charset="-122"/>
                <a:cs typeface="Calibri" pitchFamily="34" charset="-120"/>
              </a:rPr>
              <a:t>Web dashboard for registration and audit — it observes the contract, never overrides it.</a:t>
            </a:r>
            <a:endParaRPr lang="en-US" sz="1050" dirty="0"/>
          </a:p>
        </p:txBody>
      </p:sp>
      <p:sp>
        <p:nvSpPr>
          <p:cNvPr id="17" name="Text 14"/>
          <p:cNvSpPr/>
          <p:nvPr/>
        </p:nvSpPr>
        <p:spPr>
          <a:xfrm>
            <a:off x="548640" y="5257800"/>
            <a:ext cx="11064240" cy="365760"/>
          </a:xfrm>
          <a:prstGeom prst="rect">
            <a:avLst/>
          </a:prstGeom>
          <a:noFill/>
          <a:ln/>
        </p:spPr>
        <p:txBody>
          <a:bodyPr wrap="square" rtlCol="0" anchor="ctr"/>
          <a:lstStyle/>
          <a:p>
            <a:pPr indent="0" marL="0">
              <a:buNone/>
            </a:pPr>
            <a:r>
              <a:rPr lang="en-US" sz="1100" b="1" dirty="0">
                <a:solidFill>
                  <a:srgbClr val="2E2733"/>
                </a:solidFill>
                <a:latin typeface="Calibri" pitchFamily="34" charset="0"/>
                <a:ea typeface="Calibri" pitchFamily="34" charset="-122"/>
                <a:cs typeface="Calibri" pitchFamily="34" charset="-120"/>
              </a:rPr>
              <a:t>Deployed:  </a:t>
            </a:r>
            <a:pPr indent="0" marL="0">
              <a:buNone/>
            </a:pPr>
            <a:r>
              <a:rPr lang="en-US" sz="1100" dirty="0">
                <a:solidFill>
                  <a:srgbClr val="6B6472"/>
                </a:solidFill>
                <a:latin typeface="Calibri" pitchFamily="34" charset="0"/>
                <a:ea typeface="Calibri" pitchFamily="34" charset="-122"/>
                <a:cs typeface="Calibri" pitchFamily="34" charset="-120"/>
              </a:rPr>
              <a:t>0x1BE44922c9505E492eA93cfA4a673CE8ea106Ea1   ·   Ethereum Sepolia   ·   Solidity + OpenZeppelin</a:t>
            </a:r>
            <a:endParaRPr lang="en-US" sz="1100" dirty="0"/>
          </a:p>
        </p:txBody>
      </p:sp>
      <p:sp>
        <p:nvSpPr>
          <p:cNvPr id="18" name="Text 15"/>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6B6472"/>
                </a:solidFill>
                <a:latin typeface="Calibri" pitchFamily="34" charset="0"/>
                <a:ea typeface="Calibri" pitchFamily="34" charset="-122"/>
                <a:cs typeface="Calibri" pitchFamily="34" charset="-120"/>
              </a:rPr>
              <a:t>MedChain-FL  ·  Team FedGuard  ·  BCOLBD 2026</a:t>
            </a:r>
            <a:endParaRPr lang="en-US" sz="900" dirty="0"/>
          </a:p>
        </p:txBody>
      </p:sp>
      <p:sp>
        <p:nvSpPr>
          <p:cNvPr id="19" name="Text 16"/>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472"/>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100" b="1" spc="200" kern="0" dirty="0">
                <a:solidFill>
                  <a:srgbClr val="A32B68"/>
                </a:solidFill>
                <a:latin typeface="Calibri" pitchFamily="34" charset="0"/>
                <a:ea typeface="Calibri" pitchFamily="34" charset="-122"/>
                <a:cs typeface="Calibri" pitchFamily="34" charset="-120"/>
              </a:rPr>
              <a:t>DATA MODEL</a:t>
            </a:r>
            <a:endParaRPr lang="en-US" sz="1100" dirty="0"/>
          </a:p>
        </p:txBody>
      </p:sp>
      <p:sp>
        <p:nvSpPr>
          <p:cNvPr id="3" name="Text 1"/>
          <p:cNvSpPr/>
          <p:nvPr/>
        </p:nvSpPr>
        <p:spPr>
          <a:xfrm>
            <a:off x="548640" y="685800"/>
            <a:ext cx="11064240" cy="822960"/>
          </a:xfrm>
          <a:prstGeom prst="rect">
            <a:avLst/>
          </a:prstGeom>
          <a:noFill/>
          <a:ln/>
        </p:spPr>
        <p:txBody>
          <a:bodyPr wrap="square" rtlCol="0" anchor="ctr"/>
          <a:lstStyle/>
          <a:p>
            <a:pPr indent="0" marL="0">
              <a:lnSpc>
                <a:spcPts val="2900"/>
              </a:lnSpc>
              <a:buNone/>
            </a:pPr>
            <a:r>
              <a:rPr lang="en-US" sz="2500" b="1" dirty="0">
                <a:solidFill>
                  <a:srgbClr val="2E2733"/>
                </a:solidFill>
                <a:latin typeface="Cambria" pitchFamily="34" charset="0"/>
                <a:ea typeface="Cambria" pitchFamily="34" charset="-122"/>
                <a:cs typeface="Cambria" pitchFamily="34" charset="-120"/>
              </a:rPr>
              <a:t>What goes on the chain — and what deliberately does not</a:t>
            </a:r>
            <a:endParaRPr lang="en-US" sz="2500" dirty="0"/>
          </a:p>
        </p:txBody>
      </p:sp>
      <p:sp>
        <p:nvSpPr>
          <p:cNvPr id="4" name="Shape 2"/>
          <p:cNvSpPr/>
          <p:nvPr/>
        </p:nvSpPr>
        <p:spPr>
          <a:xfrm>
            <a:off x="548640" y="1691640"/>
            <a:ext cx="5349240" cy="2880360"/>
          </a:xfrm>
          <a:prstGeom prst="roundRect">
            <a:avLst>
              <a:gd name="adj" fmla="val 2540"/>
            </a:avLst>
          </a:prstGeom>
          <a:solidFill>
            <a:srgbClr val="F4EDF1"/>
          </a:solidFill>
          <a:ln/>
        </p:spPr>
      </p:sp>
      <p:sp>
        <p:nvSpPr>
          <p:cNvPr id="5" name="Text 3"/>
          <p:cNvSpPr/>
          <p:nvPr/>
        </p:nvSpPr>
        <p:spPr>
          <a:xfrm>
            <a:off x="822960" y="1828800"/>
            <a:ext cx="4754880" cy="365760"/>
          </a:xfrm>
          <a:prstGeom prst="rect">
            <a:avLst/>
          </a:prstGeom>
          <a:noFill/>
          <a:ln/>
        </p:spPr>
        <p:txBody>
          <a:bodyPr wrap="square" rtlCol="0" anchor="ctr"/>
          <a:lstStyle/>
          <a:p>
            <a:pPr indent="0" marL="0">
              <a:buNone/>
            </a:pPr>
            <a:r>
              <a:rPr lang="en-US" sz="1300" b="1" spc="100" kern="0" dirty="0">
                <a:solidFill>
                  <a:srgbClr val="2E2733"/>
                </a:solidFill>
                <a:latin typeface="Calibri" pitchFamily="34" charset="0"/>
                <a:ea typeface="Calibri" pitchFamily="34" charset="-122"/>
                <a:cs typeface="Calibri" pitchFamily="34" charset="-120"/>
              </a:rPr>
              <a:t>ON-CHAIN</a:t>
            </a:r>
            <a:endParaRPr lang="en-US" sz="1300" dirty="0"/>
          </a:p>
        </p:txBody>
      </p:sp>
      <p:sp>
        <p:nvSpPr>
          <p:cNvPr id="6" name="Text 4"/>
          <p:cNvSpPr/>
          <p:nvPr/>
        </p:nvSpPr>
        <p:spPr>
          <a:xfrm>
            <a:off x="822960" y="2240280"/>
            <a:ext cx="4846320" cy="411480"/>
          </a:xfrm>
          <a:prstGeom prst="rect">
            <a:avLst/>
          </a:prstGeom>
          <a:noFill/>
          <a:ln/>
        </p:spPr>
        <p:txBody>
          <a:bodyPr wrap="square" rtlCol="0" anchor="ctr"/>
          <a:lstStyle/>
          <a:p>
            <a:pPr indent="0" marL="0">
              <a:buNone/>
            </a:pPr>
            <a:r>
              <a:rPr lang="en-US" sz="1200" dirty="0">
                <a:solidFill>
                  <a:srgbClr val="6B6472"/>
                </a:solidFill>
                <a:latin typeface="Calibri" pitchFamily="34" charset="0"/>
                <a:ea typeface="Calibri" pitchFamily="34" charset="-122"/>
                <a:cs typeface="Calibri" pitchFamily="34" charset="-120"/>
              </a:rPr>
              <a:t>•  Registered hospitals, wallet-bound</a:t>
            </a:r>
            <a:endParaRPr lang="en-US" sz="1200" dirty="0"/>
          </a:p>
        </p:txBody>
      </p:sp>
      <p:sp>
        <p:nvSpPr>
          <p:cNvPr id="7" name="Text 5"/>
          <p:cNvSpPr/>
          <p:nvPr/>
        </p:nvSpPr>
        <p:spPr>
          <a:xfrm>
            <a:off x="822960" y="2697480"/>
            <a:ext cx="4846320" cy="411480"/>
          </a:xfrm>
          <a:prstGeom prst="rect">
            <a:avLst/>
          </a:prstGeom>
          <a:noFill/>
          <a:ln/>
        </p:spPr>
        <p:txBody>
          <a:bodyPr wrap="square" rtlCol="0" anchor="ctr"/>
          <a:lstStyle/>
          <a:p>
            <a:pPr indent="0" marL="0">
              <a:buNone/>
            </a:pPr>
            <a:r>
              <a:rPr lang="en-US" sz="1200" dirty="0">
                <a:solidFill>
                  <a:srgbClr val="6B6472"/>
                </a:solidFill>
                <a:latin typeface="Calibri" pitchFamily="34" charset="0"/>
                <a:ea typeface="Calibri" pitchFamily="34" charset="-122"/>
                <a:cs typeface="Calibri" pitchFamily="34" charset="-120"/>
              </a:rPr>
              <a:t>•  Model versions by round number</a:t>
            </a:r>
            <a:endParaRPr lang="en-US" sz="1200" dirty="0"/>
          </a:p>
        </p:txBody>
      </p:sp>
      <p:sp>
        <p:nvSpPr>
          <p:cNvPr id="8" name="Text 6"/>
          <p:cNvSpPr/>
          <p:nvPr/>
        </p:nvSpPr>
        <p:spPr>
          <a:xfrm>
            <a:off x="822960" y="3154680"/>
            <a:ext cx="4846320" cy="411480"/>
          </a:xfrm>
          <a:prstGeom prst="rect">
            <a:avLst/>
          </a:prstGeom>
          <a:noFill/>
          <a:ln/>
        </p:spPr>
        <p:txBody>
          <a:bodyPr wrap="square" rtlCol="0" anchor="ctr"/>
          <a:lstStyle/>
          <a:p>
            <a:pPr indent="0" marL="0">
              <a:buNone/>
            </a:pPr>
            <a:r>
              <a:rPr lang="en-US" sz="1200" dirty="0">
                <a:solidFill>
                  <a:srgbClr val="6B6472"/>
                </a:solidFill>
                <a:latin typeface="Calibri" pitchFamily="34" charset="0"/>
                <a:ea typeface="Calibri" pitchFamily="34" charset="-122"/>
                <a:cs typeface="Calibri" pitchFamily="34" charset="-120"/>
              </a:rPr>
              <a:t>•  IPFS content identifiers (46 chars)</a:t>
            </a:r>
            <a:endParaRPr lang="en-US" sz="1200" dirty="0"/>
          </a:p>
        </p:txBody>
      </p:sp>
      <p:sp>
        <p:nvSpPr>
          <p:cNvPr id="9" name="Text 7"/>
          <p:cNvSpPr/>
          <p:nvPr/>
        </p:nvSpPr>
        <p:spPr>
          <a:xfrm>
            <a:off x="822960" y="3611880"/>
            <a:ext cx="4846320" cy="411480"/>
          </a:xfrm>
          <a:prstGeom prst="rect">
            <a:avLst/>
          </a:prstGeom>
          <a:noFill/>
          <a:ln/>
        </p:spPr>
        <p:txBody>
          <a:bodyPr wrap="square" rtlCol="0" anchor="ctr"/>
          <a:lstStyle/>
          <a:p>
            <a:pPr indent="0" marL="0">
              <a:buNone/>
            </a:pPr>
            <a:r>
              <a:rPr lang="en-US" sz="1200" dirty="0">
                <a:solidFill>
                  <a:srgbClr val="6B6472"/>
                </a:solidFill>
                <a:latin typeface="Calibri" pitchFamily="34" charset="0"/>
                <a:ea typeface="Calibri" pitchFamily="34" charset="-122"/>
                <a:cs typeface="Calibri" pitchFamily="34" charset="-120"/>
              </a:rPr>
              <a:t>•  Accuracy/loss, packed into one integer</a:t>
            </a:r>
            <a:endParaRPr lang="en-US" sz="1200" dirty="0"/>
          </a:p>
        </p:txBody>
      </p:sp>
      <p:sp>
        <p:nvSpPr>
          <p:cNvPr id="10" name="Text 8"/>
          <p:cNvSpPr/>
          <p:nvPr/>
        </p:nvSpPr>
        <p:spPr>
          <a:xfrm>
            <a:off x="822960" y="4069080"/>
            <a:ext cx="4846320" cy="411480"/>
          </a:xfrm>
          <a:prstGeom prst="rect">
            <a:avLst/>
          </a:prstGeom>
          <a:noFill/>
          <a:ln/>
        </p:spPr>
        <p:txBody>
          <a:bodyPr wrap="square" rtlCol="0" anchor="ctr"/>
          <a:lstStyle/>
          <a:p>
            <a:pPr indent="0" marL="0">
              <a:buNone/>
            </a:pPr>
            <a:r>
              <a:rPr lang="en-US" sz="1200" dirty="0">
                <a:solidFill>
                  <a:srgbClr val="6B6472"/>
                </a:solidFill>
                <a:latin typeface="Calibri" pitchFamily="34" charset="0"/>
                <a:ea typeface="Calibri" pitchFamily="34" charset="-122"/>
                <a:cs typeface="Calibri" pitchFamily="34" charset="-120"/>
              </a:rPr>
              <a:t>•  Aggregation audit events</a:t>
            </a:r>
            <a:endParaRPr lang="en-US" sz="1200" dirty="0"/>
          </a:p>
        </p:txBody>
      </p:sp>
      <p:sp>
        <p:nvSpPr>
          <p:cNvPr id="11" name="Shape 9"/>
          <p:cNvSpPr/>
          <p:nvPr/>
        </p:nvSpPr>
        <p:spPr>
          <a:xfrm>
            <a:off x="6263640" y="1691640"/>
            <a:ext cx="5349240" cy="2880360"/>
          </a:xfrm>
          <a:prstGeom prst="roundRect">
            <a:avLst>
              <a:gd name="adj" fmla="val 2540"/>
            </a:avLst>
          </a:prstGeom>
          <a:solidFill>
            <a:srgbClr val="EAE3E7"/>
          </a:solidFill>
          <a:ln/>
        </p:spPr>
      </p:sp>
      <p:sp>
        <p:nvSpPr>
          <p:cNvPr id="12" name="Text 10"/>
          <p:cNvSpPr/>
          <p:nvPr/>
        </p:nvSpPr>
        <p:spPr>
          <a:xfrm>
            <a:off x="6537960" y="1828800"/>
            <a:ext cx="4754880" cy="365760"/>
          </a:xfrm>
          <a:prstGeom prst="rect">
            <a:avLst/>
          </a:prstGeom>
          <a:noFill/>
          <a:ln/>
        </p:spPr>
        <p:txBody>
          <a:bodyPr wrap="square" rtlCol="0" anchor="ctr"/>
          <a:lstStyle/>
          <a:p>
            <a:pPr indent="0" marL="0">
              <a:buNone/>
            </a:pPr>
            <a:r>
              <a:rPr lang="en-US" sz="1300" b="1" spc="100" kern="0" dirty="0">
                <a:solidFill>
                  <a:srgbClr val="2E2733"/>
                </a:solidFill>
                <a:latin typeface="Calibri" pitchFamily="34" charset="0"/>
                <a:ea typeface="Calibri" pitchFamily="34" charset="-122"/>
                <a:cs typeface="Calibri" pitchFamily="34" charset="-120"/>
              </a:rPr>
              <a:t>OFF-CHAIN</a:t>
            </a:r>
            <a:endParaRPr lang="en-US" sz="1300" dirty="0"/>
          </a:p>
        </p:txBody>
      </p:sp>
      <p:sp>
        <p:nvSpPr>
          <p:cNvPr id="13" name="Text 11"/>
          <p:cNvSpPr/>
          <p:nvPr/>
        </p:nvSpPr>
        <p:spPr>
          <a:xfrm>
            <a:off x="6537960" y="2240280"/>
            <a:ext cx="4846320" cy="411480"/>
          </a:xfrm>
          <a:prstGeom prst="rect">
            <a:avLst/>
          </a:prstGeom>
          <a:noFill/>
          <a:ln/>
        </p:spPr>
        <p:txBody>
          <a:bodyPr wrap="square" rtlCol="0" anchor="ctr"/>
          <a:lstStyle/>
          <a:p>
            <a:pPr indent="0" marL="0">
              <a:buNone/>
            </a:pPr>
            <a:r>
              <a:rPr lang="en-US" sz="1200" dirty="0">
                <a:solidFill>
                  <a:srgbClr val="6B6472"/>
                </a:solidFill>
                <a:latin typeface="Calibri" pitchFamily="34" charset="0"/>
                <a:ea typeface="Calibri" pitchFamily="34" charset="-122"/>
                <a:cs typeface="Calibri" pitchFamily="34" charset="-120"/>
              </a:rPr>
              <a:t>•  Patient slides — never transmitted</a:t>
            </a:r>
            <a:endParaRPr lang="en-US" sz="1200" dirty="0"/>
          </a:p>
        </p:txBody>
      </p:sp>
      <p:sp>
        <p:nvSpPr>
          <p:cNvPr id="14" name="Text 12"/>
          <p:cNvSpPr/>
          <p:nvPr/>
        </p:nvSpPr>
        <p:spPr>
          <a:xfrm>
            <a:off x="6537960" y="2697480"/>
            <a:ext cx="4846320" cy="411480"/>
          </a:xfrm>
          <a:prstGeom prst="rect">
            <a:avLst/>
          </a:prstGeom>
          <a:noFill/>
          <a:ln/>
        </p:spPr>
        <p:txBody>
          <a:bodyPr wrap="square" rtlCol="0" anchor="ctr"/>
          <a:lstStyle/>
          <a:p>
            <a:pPr indent="0" marL="0">
              <a:buNone/>
            </a:pPr>
            <a:r>
              <a:rPr lang="en-US" sz="1200" dirty="0">
                <a:solidFill>
                  <a:srgbClr val="6B6472"/>
                </a:solidFill>
                <a:latin typeface="Calibri" pitchFamily="34" charset="0"/>
                <a:ea typeface="Calibri" pitchFamily="34" charset="-122"/>
                <a:cs typeface="Calibri" pitchFamily="34" charset="-120"/>
              </a:rPr>
              <a:t>•  Encrypted weight tensors (AES-256)</a:t>
            </a:r>
            <a:endParaRPr lang="en-US" sz="1200" dirty="0"/>
          </a:p>
        </p:txBody>
      </p:sp>
      <p:sp>
        <p:nvSpPr>
          <p:cNvPr id="15" name="Text 13"/>
          <p:cNvSpPr/>
          <p:nvPr/>
        </p:nvSpPr>
        <p:spPr>
          <a:xfrm>
            <a:off x="6537960" y="3154680"/>
            <a:ext cx="4846320" cy="411480"/>
          </a:xfrm>
          <a:prstGeom prst="rect">
            <a:avLst/>
          </a:prstGeom>
          <a:noFill/>
          <a:ln/>
        </p:spPr>
        <p:txBody>
          <a:bodyPr wrap="square" rtlCol="0" anchor="ctr"/>
          <a:lstStyle/>
          <a:p>
            <a:pPr indent="0" marL="0">
              <a:buNone/>
            </a:pPr>
            <a:r>
              <a:rPr lang="en-US" sz="1200" dirty="0">
                <a:solidFill>
                  <a:srgbClr val="6B6472"/>
                </a:solidFill>
                <a:latin typeface="Calibri" pitchFamily="34" charset="0"/>
                <a:ea typeface="Calibri" pitchFamily="34" charset="-122"/>
                <a:cs typeface="Calibri" pitchFamily="34" charset="-120"/>
              </a:rPr>
              <a:t>•  FedAvg aggregation, by the oracle</a:t>
            </a:r>
            <a:endParaRPr lang="en-US" sz="1200" dirty="0"/>
          </a:p>
        </p:txBody>
      </p:sp>
      <p:sp>
        <p:nvSpPr>
          <p:cNvPr id="16" name="Text 14"/>
          <p:cNvSpPr/>
          <p:nvPr/>
        </p:nvSpPr>
        <p:spPr>
          <a:xfrm>
            <a:off x="6537960" y="3611880"/>
            <a:ext cx="4846320" cy="411480"/>
          </a:xfrm>
          <a:prstGeom prst="rect">
            <a:avLst/>
          </a:prstGeom>
          <a:noFill/>
          <a:ln/>
        </p:spPr>
        <p:txBody>
          <a:bodyPr wrap="square" rtlCol="0" anchor="ctr"/>
          <a:lstStyle/>
          <a:p>
            <a:pPr indent="0" marL="0">
              <a:buNone/>
            </a:pPr>
            <a:r>
              <a:rPr lang="en-US" sz="1200" dirty="0">
                <a:solidFill>
                  <a:srgbClr val="6B6472"/>
                </a:solidFill>
                <a:latin typeface="Calibri" pitchFamily="34" charset="0"/>
                <a:ea typeface="Calibri" pitchFamily="34" charset="-122"/>
                <a:cs typeface="Calibri" pitchFamily="34" charset="-120"/>
              </a:rPr>
              <a:t>•  Local training, inside the institution</a:t>
            </a:r>
            <a:endParaRPr lang="en-US" sz="1200" dirty="0"/>
          </a:p>
        </p:txBody>
      </p:sp>
      <p:sp>
        <p:nvSpPr>
          <p:cNvPr id="17" name="Text 15"/>
          <p:cNvSpPr/>
          <p:nvPr/>
        </p:nvSpPr>
        <p:spPr>
          <a:xfrm>
            <a:off x="6537960" y="4069080"/>
            <a:ext cx="4846320" cy="411480"/>
          </a:xfrm>
          <a:prstGeom prst="rect">
            <a:avLst/>
          </a:prstGeom>
          <a:noFill/>
          <a:ln/>
        </p:spPr>
        <p:txBody>
          <a:bodyPr wrap="square" rtlCol="0" anchor="ctr"/>
          <a:lstStyle/>
          <a:p>
            <a:pPr indent="0" marL="0">
              <a:buNone/>
            </a:pPr>
            <a:r>
              <a:rPr lang="en-US" sz="1200" dirty="0">
                <a:solidFill>
                  <a:srgbClr val="6B6472"/>
                </a:solidFill>
                <a:latin typeface="Calibri" pitchFamily="34" charset="0"/>
                <a:ea typeface="Calibri" pitchFamily="34" charset="-122"/>
                <a:cs typeface="Calibri" pitchFamily="34" charset="-120"/>
              </a:rPr>
              <a:t>•  Institutional credentials and keys</a:t>
            </a:r>
            <a:endParaRPr lang="en-US" sz="1200" dirty="0"/>
          </a:p>
        </p:txBody>
      </p:sp>
      <p:sp>
        <p:nvSpPr>
          <p:cNvPr id="18" name="Text 16"/>
          <p:cNvSpPr/>
          <p:nvPr/>
        </p:nvSpPr>
        <p:spPr>
          <a:xfrm>
            <a:off x="548640" y="4800600"/>
            <a:ext cx="3291840" cy="457200"/>
          </a:xfrm>
          <a:prstGeom prst="rect">
            <a:avLst/>
          </a:prstGeom>
          <a:noFill/>
          <a:ln/>
        </p:spPr>
        <p:txBody>
          <a:bodyPr wrap="square" rtlCol="0" anchor="ctr"/>
          <a:lstStyle/>
          <a:p>
            <a:pPr indent="0" marL="0">
              <a:buNone/>
            </a:pPr>
            <a:r>
              <a:rPr lang="en-US" sz="2200" b="1" dirty="0">
                <a:solidFill>
                  <a:srgbClr val="A32B68"/>
                </a:solidFill>
                <a:latin typeface="Cambria" pitchFamily="34" charset="0"/>
                <a:ea typeface="Cambria" pitchFamily="34" charset="-122"/>
                <a:cs typeface="Cambria" pitchFamily="34" charset="-120"/>
              </a:rPr>
              <a:t>23.6 MB</a:t>
            </a:r>
            <a:endParaRPr lang="en-US" sz="2200" dirty="0"/>
          </a:p>
        </p:txBody>
      </p:sp>
      <p:sp>
        <p:nvSpPr>
          <p:cNvPr id="19" name="Text 17"/>
          <p:cNvSpPr/>
          <p:nvPr/>
        </p:nvSpPr>
        <p:spPr>
          <a:xfrm>
            <a:off x="548640" y="5303520"/>
            <a:ext cx="3291840" cy="320040"/>
          </a:xfrm>
          <a:prstGeom prst="rect">
            <a:avLst/>
          </a:prstGeom>
          <a:noFill/>
          <a:ln/>
        </p:spPr>
        <p:txBody>
          <a:bodyPr wrap="square" rtlCol="0" anchor="ctr"/>
          <a:lstStyle/>
          <a:p>
            <a:pPr indent="0" marL="0">
              <a:buNone/>
            </a:pPr>
            <a:r>
              <a:rPr lang="en-US" sz="1100" dirty="0">
                <a:solidFill>
                  <a:srgbClr val="6B6472"/>
                </a:solidFill>
                <a:latin typeface="Calibri" pitchFamily="34" charset="0"/>
                <a:ea typeface="Calibri" pitchFamily="34" charset="-122"/>
                <a:cs typeface="Calibri" pitchFamily="34" charset="-120"/>
              </a:rPr>
              <a:t>raw weight update</a:t>
            </a:r>
            <a:endParaRPr lang="en-US" sz="1100" dirty="0"/>
          </a:p>
        </p:txBody>
      </p:sp>
      <p:sp>
        <p:nvSpPr>
          <p:cNvPr id="20" name="Text 18"/>
          <p:cNvSpPr/>
          <p:nvPr/>
        </p:nvSpPr>
        <p:spPr>
          <a:xfrm>
            <a:off x="3794760" y="4846320"/>
            <a:ext cx="457200" cy="457200"/>
          </a:xfrm>
          <a:prstGeom prst="rect">
            <a:avLst/>
          </a:prstGeom>
          <a:noFill/>
          <a:ln/>
        </p:spPr>
        <p:txBody>
          <a:bodyPr wrap="square" rtlCol="0" anchor="ctr"/>
          <a:lstStyle/>
          <a:p>
            <a:pPr indent="0" marL="0">
              <a:buNone/>
            </a:pPr>
            <a:r>
              <a:rPr lang="en-US" sz="2000" dirty="0">
                <a:solidFill>
                  <a:srgbClr val="9E93A4"/>
                </a:solidFill>
                <a:latin typeface="Calibri" pitchFamily="34" charset="0"/>
                <a:ea typeface="Calibri" pitchFamily="34" charset="-122"/>
                <a:cs typeface="Calibri" pitchFamily="34" charset="-120"/>
              </a:rPr>
              <a:t>→</a:t>
            </a:r>
            <a:endParaRPr lang="en-US" sz="2000" dirty="0"/>
          </a:p>
        </p:txBody>
      </p:sp>
      <p:sp>
        <p:nvSpPr>
          <p:cNvPr id="21" name="Text 19"/>
          <p:cNvSpPr/>
          <p:nvPr/>
        </p:nvSpPr>
        <p:spPr>
          <a:xfrm>
            <a:off x="4297680" y="4800600"/>
            <a:ext cx="3291840" cy="457200"/>
          </a:xfrm>
          <a:prstGeom prst="rect">
            <a:avLst/>
          </a:prstGeom>
          <a:noFill/>
          <a:ln/>
        </p:spPr>
        <p:txBody>
          <a:bodyPr wrap="square" rtlCol="0" anchor="ctr"/>
          <a:lstStyle/>
          <a:p>
            <a:pPr indent="0" marL="0">
              <a:buNone/>
            </a:pPr>
            <a:r>
              <a:rPr lang="en-US" sz="2200" b="1" dirty="0">
                <a:solidFill>
                  <a:srgbClr val="A32B68"/>
                </a:solidFill>
                <a:latin typeface="Cambria" pitchFamily="34" charset="0"/>
                <a:ea typeface="Cambria" pitchFamily="34" charset="-122"/>
                <a:cs typeface="Cambria" pitchFamily="34" charset="-120"/>
              </a:rPr>
              <a:t>&lt; 10 MB</a:t>
            </a:r>
            <a:endParaRPr lang="en-US" sz="2200" dirty="0"/>
          </a:p>
        </p:txBody>
      </p:sp>
      <p:sp>
        <p:nvSpPr>
          <p:cNvPr id="22" name="Text 20"/>
          <p:cNvSpPr/>
          <p:nvPr/>
        </p:nvSpPr>
        <p:spPr>
          <a:xfrm>
            <a:off x="4297680" y="5303520"/>
            <a:ext cx="3291840" cy="320040"/>
          </a:xfrm>
          <a:prstGeom prst="rect">
            <a:avLst/>
          </a:prstGeom>
          <a:noFill/>
          <a:ln/>
        </p:spPr>
        <p:txBody>
          <a:bodyPr wrap="square" rtlCol="0" anchor="ctr"/>
          <a:lstStyle/>
          <a:p>
            <a:pPr indent="0" marL="0">
              <a:buNone/>
            </a:pPr>
            <a:r>
              <a:rPr lang="en-US" sz="1100" dirty="0">
                <a:solidFill>
                  <a:srgbClr val="6B6472"/>
                </a:solidFill>
                <a:latin typeface="Calibri" pitchFamily="34" charset="0"/>
                <a:ea typeface="Calibri" pitchFamily="34" charset="-122"/>
                <a:cs typeface="Calibri" pitchFamily="34" charset="-120"/>
              </a:rPr>
              <a:t>encrypted on IPFS</a:t>
            </a:r>
            <a:endParaRPr lang="en-US" sz="1100" dirty="0"/>
          </a:p>
        </p:txBody>
      </p:sp>
      <p:sp>
        <p:nvSpPr>
          <p:cNvPr id="23" name="Text 21"/>
          <p:cNvSpPr/>
          <p:nvPr/>
        </p:nvSpPr>
        <p:spPr>
          <a:xfrm>
            <a:off x="7543800" y="4846320"/>
            <a:ext cx="457200" cy="457200"/>
          </a:xfrm>
          <a:prstGeom prst="rect">
            <a:avLst/>
          </a:prstGeom>
          <a:noFill/>
          <a:ln/>
        </p:spPr>
        <p:txBody>
          <a:bodyPr wrap="square" rtlCol="0" anchor="ctr"/>
          <a:lstStyle/>
          <a:p>
            <a:pPr indent="0" marL="0">
              <a:buNone/>
            </a:pPr>
            <a:r>
              <a:rPr lang="en-US" sz="2000" dirty="0">
                <a:solidFill>
                  <a:srgbClr val="9E93A4"/>
                </a:solidFill>
                <a:latin typeface="Calibri" pitchFamily="34" charset="0"/>
                <a:ea typeface="Calibri" pitchFamily="34" charset="-122"/>
                <a:cs typeface="Calibri" pitchFamily="34" charset="-120"/>
              </a:rPr>
              <a:t>→</a:t>
            </a:r>
            <a:endParaRPr lang="en-US" sz="2000" dirty="0"/>
          </a:p>
        </p:txBody>
      </p:sp>
      <p:sp>
        <p:nvSpPr>
          <p:cNvPr id="24" name="Text 22"/>
          <p:cNvSpPr/>
          <p:nvPr/>
        </p:nvSpPr>
        <p:spPr>
          <a:xfrm>
            <a:off x="8046720" y="4800600"/>
            <a:ext cx="3291840" cy="457200"/>
          </a:xfrm>
          <a:prstGeom prst="rect">
            <a:avLst/>
          </a:prstGeom>
          <a:noFill/>
          <a:ln/>
        </p:spPr>
        <p:txBody>
          <a:bodyPr wrap="square" rtlCol="0" anchor="ctr"/>
          <a:lstStyle/>
          <a:p>
            <a:pPr indent="0" marL="0">
              <a:buNone/>
            </a:pPr>
            <a:r>
              <a:rPr lang="en-US" sz="2200" b="1" dirty="0">
                <a:solidFill>
                  <a:srgbClr val="A32B68"/>
                </a:solidFill>
                <a:latin typeface="Cambria" pitchFamily="34" charset="0"/>
                <a:ea typeface="Cambria" pitchFamily="34" charset="-122"/>
                <a:cs typeface="Cambria" pitchFamily="34" charset="-120"/>
              </a:rPr>
              <a:t>&lt; 100 bytes</a:t>
            </a:r>
            <a:endParaRPr lang="en-US" sz="2200" dirty="0"/>
          </a:p>
        </p:txBody>
      </p:sp>
      <p:sp>
        <p:nvSpPr>
          <p:cNvPr id="25" name="Text 23"/>
          <p:cNvSpPr/>
          <p:nvPr/>
        </p:nvSpPr>
        <p:spPr>
          <a:xfrm>
            <a:off x="8046720" y="5303520"/>
            <a:ext cx="3291840" cy="320040"/>
          </a:xfrm>
          <a:prstGeom prst="rect">
            <a:avLst/>
          </a:prstGeom>
          <a:noFill/>
          <a:ln/>
        </p:spPr>
        <p:txBody>
          <a:bodyPr wrap="square" rtlCol="0" anchor="ctr"/>
          <a:lstStyle/>
          <a:p>
            <a:pPr indent="0" marL="0">
              <a:buNone/>
            </a:pPr>
            <a:r>
              <a:rPr lang="en-US" sz="1100" dirty="0">
                <a:solidFill>
                  <a:srgbClr val="6B6472"/>
                </a:solidFill>
                <a:latin typeface="Calibri" pitchFamily="34" charset="0"/>
                <a:ea typeface="Calibri" pitchFamily="34" charset="-122"/>
                <a:cs typeface="Calibri" pitchFamily="34" charset="-120"/>
              </a:rPr>
              <a:t>committed on-chain</a:t>
            </a:r>
            <a:endParaRPr lang="en-US" sz="1100" dirty="0"/>
          </a:p>
        </p:txBody>
      </p:sp>
      <p:sp>
        <p:nvSpPr>
          <p:cNvPr id="26" name="Text 24"/>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6B6472"/>
                </a:solidFill>
                <a:latin typeface="Calibri" pitchFamily="34" charset="0"/>
                <a:ea typeface="Calibri" pitchFamily="34" charset="-122"/>
                <a:cs typeface="Calibri" pitchFamily="34" charset="-120"/>
              </a:rPr>
              <a:t>MedChain-FL  ·  Team FedGuard  ·  BCOLBD 2026</a:t>
            </a:r>
            <a:endParaRPr lang="en-US" sz="900" dirty="0"/>
          </a:p>
        </p:txBody>
      </p:sp>
      <p:sp>
        <p:nvSpPr>
          <p:cNvPr id="27" name="Text 2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472"/>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100" b="1" spc="200" kern="0" dirty="0">
                <a:solidFill>
                  <a:srgbClr val="A32B68"/>
                </a:solidFill>
                <a:latin typeface="Calibri" pitchFamily="34" charset="0"/>
                <a:ea typeface="Calibri" pitchFamily="34" charset="-122"/>
                <a:cs typeface="Calibri" pitchFamily="34" charset="-120"/>
              </a:rPr>
              <a:t>THE MODEL</a:t>
            </a:r>
            <a:endParaRPr lang="en-US" sz="1100" dirty="0"/>
          </a:p>
        </p:txBody>
      </p:sp>
      <p:sp>
        <p:nvSpPr>
          <p:cNvPr id="3" name="Text 1"/>
          <p:cNvSpPr/>
          <p:nvPr/>
        </p:nvSpPr>
        <p:spPr>
          <a:xfrm>
            <a:off x="548640" y="685800"/>
            <a:ext cx="11064240" cy="731520"/>
          </a:xfrm>
          <a:prstGeom prst="rect">
            <a:avLst/>
          </a:prstGeom>
          <a:noFill/>
          <a:ln/>
        </p:spPr>
        <p:txBody>
          <a:bodyPr wrap="square" rtlCol="0" anchor="ctr"/>
          <a:lstStyle/>
          <a:p>
            <a:pPr indent="0" marL="0">
              <a:lnSpc>
                <a:spcPts val="2900"/>
              </a:lnSpc>
              <a:buNone/>
            </a:pPr>
            <a:r>
              <a:rPr lang="en-US" sz="2500" b="1" dirty="0">
                <a:solidFill>
                  <a:srgbClr val="2E2733"/>
                </a:solidFill>
                <a:latin typeface="Cambria" pitchFamily="34" charset="0"/>
                <a:ea typeface="Cambria" pitchFamily="34" charset="-122"/>
                <a:cs typeface="Cambria" pitchFamily="34" charset="-120"/>
              </a:rPr>
              <a:t>CoAtt-FedNet — 5.9M parameters, built for the wire</a:t>
            </a:r>
            <a:endParaRPr lang="en-US" sz="2500" dirty="0"/>
          </a:p>
        </p:txBody>
      </p:sp>
      <p:pic>
        <p:nvPicPr>
          <p:cNvPr id="4" name="Image 0" descr="assets/model_arch.png">    </p:cNvPr>
          <p:cNvPicPr>
            <a:picLocks noChangeAspect="1"/>
          </p:cNvPicPr>
          <p:nvPr/>
        </p:nvPicPr>
        <p:blipFill>
          <a:blip r:embed="rId1"/>
          <a:stretch>
            <a:fillRect/>
          </a:stretch>
        </p:blipFill>
        <p:spPr>
          <a:xfrm>
            <a:off x="548640" y="1691640"/>
            <a:ext cx="6309360" cy="3840480"/>
          </a:xfrm>
          <a:prstGeom prst="rect">
            <a:avLst/>
          </a:prstGeom>
        </p:spPr>
      </p:pic>
      <p:graphicFrame>
        <p:nvGraphicFramePr>
          <p:cNvPr id="5" name="Chart 0" descr=""/>
          <p:cNvGraphicFramePr/>
          <p:nvPr/>
        </p:nvGraphicFramePr>
        <p:xfrm>
          <a:off x="7040880" y="1737360"/>
          <a:ext cx="4617720" cy="2880360"/>
        </p:xfrm>
        <a:graphic xmlns:a="http://schemas.openxmlformats.org/drawingml/2006/main">
          <a:graphicData uri="http://schemas.openxmlformats.org/drawingml/2006/chart">
            <c:chart xmlns:c="http://schemas.openxmlformats.org/drawingml/2006/chart" r:id="rId2"/>
          </a:graphicData>
        </a:graphic>
      </p:graphicFrame>
      <p:sp>
        <p:nvSpPr>
          <p:cNvPr id="6" name="Text 2"/>
          <p:cNvSpPr/>
          <p:nvPr/>
        </p:nvSpPr>
        <p:spPr>
          <a:xfrm>
            <a:off x="7040880" y="4754880"/>
            <a:ext cx="4617720" cy="1005840"/>
          </a:xfrm>
          <a:prstGeom prst="rect">
            <a:avLst/>
          </a:prstGeom>
          <a:noFill/>
          <a:ln/>
        </p:spPr>
        <p:txBody>
          <a:bodyPr wrap="square" rtlCol="0" anchor="ctr"/>
          <a:lstStyle/>
          <a:p>
            <a:pPr indent="0" marL="0">
              <a:lnSpc>
                <a:spcPct val="125000"/>
              </a:lnSpc>
              <a:buNone/>
            </a:pPr>
            <a:r>
              <a:rPr lang="en-US" sz="1150" dirty="0">
                <a:solidFill>
                  <a:srgbClr val="6B6472"/>
                </a:solidFill>
                <a:latin typeface="Calibri" pitchFamily="34" charset="0"/>
                <a:ea typeface="Calibri" pitchFamily="34" charset="-122"/>
                <a:cs typeface="Calibri" pitchFamily="34" charset="-120"/>
              </a:rPr>
              <a:t>Fast Coordinate Attention keeps positional information ordinary channel attention discards — at negligible parameter cost. 15× lighter than transformer baselines, and it scores higher.</a:t>
            </a:r>
            <a:endParaRPr lang="en-US" sz="1150" dirty="0"/>
          </a:p>
        </p:txBody>
      </p:sp>
      <p:sp>
        <p:nvSpPr>
          <p:cNvPr id="7" name="Text 3"/>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6B6472"/>
                </a:solidFill>
                <a:latin typeface="Calibri" pitchFamily="34" charset="0"/>
                <a:ea typeface="Calibri" pitchFamily="34" charset="-122"/>
                <a:cs typeface="Calibri" pitchFamily="34" charset="-120"/>
              </a:rPr>
              <a:t>MedChain-FL  ·  Team FedGuard  ·  BCOLBD 2026</a:t>
            </a:r>
            <a:endParaRPr lang="en-US" sz="900" dirty="0"/>
          </a:p>
        </p:txBody>
      </p:sp>
      <p:sp>
        <p:nvSpPr>
          <p:cNvPr id="8" name="Text 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472"/>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100" b="1" spc="200" kern="0" dirty="0">
                <a:solidFill>
                  <a:srgbClr val="A32B68"/>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685800"/>
            <a:ext cx="11064240" cy="777240"/>
          </a:xfrm>
          <a:prstGeom prst="rect">
            <a:avLst/>
          </a:prstGeom>
          <a:noFill/>
          <a:ln/>
        </p:spPr>
        <p:txBody>
          <a:bodyPr wrap="square" rtlCol="0" anchor="ctr"/>
          <a:lstStyle/>
          <a:p>
            <a:pPr indent="0" marL="0">
              <a:lnSpc>
                <a:spcPts val="2800"/>
              </a:lnSpc>
              <a:buNone/>
            </a:pPr>
            <a:r>
              <a:rPr lang="en-US" sz="2400" b="1" dirty="0">
                <a:solidFill>
                  <a:srgbClr val="2E2733"/>
                </a:solidFill>
                <a:latin typeface="Cambria" pitchFamily="34" charset="0"/>
                <a:ea typeface="Cambria" pitchFamily="34" charset="-122"/>
                <a:cs typeface="Cambria" pitchFamily="34" charset="-120"/>
              </a:rPr>
              <a:t>Clinical-grade accuracy, above the published state of the art</a:t>
            </a:r>
            <a:endParaRPr lang="en-US" sz="2400" dirty="0"/>
          </a:p>
        </p:txBody>
      </p:sp>
      <p:sp>
        <p:nvSpPr>
          <p:cNvPr id="4" name="Text 2"/>
          <p:cNvSpPr/>
          <p:nvPr/>
        </p:nvSpPr>
        <p:spPr>
          <a:xfrm>
            <a:off x="548640" y="1691640"/>
            <a:ext cx="2651760" cy="594360"/>
          </a:xfrm>
          <a:prstGeom prst="rect">
            <a:avLst/>
          </a:prstGeom>
          <a:noFill/>
          <a:ln/>
        </p:spPr>
        <p:txBody>
          <a:bodyPr wrap="square" rtlCol="0" anchor="ctr"/>
          <a:lstStyle/>
          <a:p>
            <a:pPr indent="0" marL="0">
              <a:buNone/>
            </a:pPr>
            <a:r>
              <a:rPr lang="en-US" sz="3200" b="1" dirty="0">
                <a:solidFill>
                  <a:srgbClr val="A32B68"/>
                </a:solidFill>
                <a:latin typeface="Cambria" pitchFamily="34" charset="0"/>
                <a:ea typeface="Cambria" pitchFamily="34" charset="-122"/>
                <a:cs typeface="Cambria" pitchFamily="34" charset="-120"/>
              </a:rPr>
              <a:t>98.95%</a:t>
            </a:r>
            <a:endParaRPr lang="en-US" sz="3200" dirty="0"/>
          </a:p>
        </p:txBody>
      </p:sp>
      <p:sp>
        <p:nvSpPr>
          <p:cNvPr id="5" name="Text 3"/>
          <p:cNvSpPr/>
          <p:nvPr/>
        </p:nvSpPr>
        <p:spPr>
          <a:xfrm>
            <a:off x="548640" y="2240280"/>
            <a:ext cx="2651760" cy="274320"/>
          </a:xfrm>
          <a:prstGeom prst="rect">
            <a:avLst/>
          </a:prstGeom>
          <a:noFill/>
          <a:ln/>
        </p:spPr>
        <p:txBody>
          <a:bodyPr wrap="square" rtlCol="0" anchor="ctr"/>
          <a:lstStyle/>
          <a:p>
            <a:pPr indent="0" marL="0">
              <a:buNone/>
            </a:pPr>
            <a:r>
              <a:rPr lang="en-US" sz="1250" b="1" dirty="0">
                <a:solidFill>
                  <a:srgbClr val="2E2733"/>
                </a:solidFill>
                <a:latin typeface="Calibri" pitchFamily="34" charset="0"/>
                <a:ea typeface="Calibri" pitchFamily="34" charset="-122"/>
                <a:cs typeface="Calibri" pitchFamily="34" charset="-120"/>
              </a:rPr>
              <a:t>Accuracy</a:t>
            </a:r>
            <a:endParaRPr lang="en-US" sz="1250" dirty="0"/>
          </a:p>
        </p:txBody>
      </p:sp>
      <p:sp>
        <p:nvSpPr>
          <p:cNvPr id="6" name="Text 4"/>
          <p:cNvSpPr/>
          <p:nvPr/>
        </p:nvSpPr>
        <p:spPr>
          <a:xfrm>
            <a:off x="548640" y="2496312"/>
            <a:ext cx="2651760" cy="274320"/>
          </a:xfrm>
          <a:prstGeom prst="rect">
            <a:avLst/>
          </a:prstGeom>
          <a:noFill/>
          <a:ln/>
        </p:spPr>
        <p:txBody>
          <a:bodyPr wrap="square" rtlCol="0" anchor="ctr"/>
          <a:lstStyle/>
          <a:p>
            <a:pPr indent="0" marL="0">
              <a:buNone/>
            </a:pPr>
            <a:r>
              <a:rPr lang="en-US" sz="1050" dirty="0">
                <a:solidFill>
                  <a:srgbClr val="6B6472"/>
                </a:solidFill>
                <a:latin typeface="Calibri" pitchFamily="34" charset="0"/>
                <a:ea typeface="Calibri" pitchFamily="34" charset="-122"/>
                <a:cs typeface="Calibri" pitchFamily="34" charset="-120"/>
              </a:rPr>
              <a:t>vs 97.54% literature peak</a:t>
            </a:r>
            <a:endParaRPr lang="en-US" sz="1050" dirty="0"/>
          </a:p>
        </p:txBody>
      </p:sp>
      <p:sp>
        <p:nvSpPr>
          <p:cNvPr id="7" name="Text 5"/>
          <p:cNvSpPr/>
          <p:nvPr/>
        </p:nvSpPr>
        <p:spPr>
          <a:xfrm>
            <a:off x="548640" y="2862072"/>
            <a:ext cx="2651760" cy="594360"/>
          </a:xfrm>
          <a:prstGeom prst="rect">
            <a:avLst/>
          </a:prstGeom>
          <a:noFill/>
          <a:ln/>
        </p:spPr>
        <p:txBody>
          <a:bodyPr wrap="square" rtlCol="0" anchor="ctr"/>
          <a:lstStyle/>
          <a:p>
            <a:pPr indent="0" marL="0">
              <a:buNone/>
            </a:pPr>
            <a:r>
              <a:rPr lang="en-US" sz="3200" b="1" dirty="0">
                <a:solidFill>
                  <a:srgbClr val="A32B68"/>
                </a:solidFill>
                <a:latin typeface="Cambria" pitchFamily="34" charset="0"/>
                <a:ea typeface="Cambria" pitchFamily="34" charset="-122"/>
                <a:cs typeface="Cambria" pitchFamily="34" charset="-120"/>
              </a:rPr>
              <a:t>99.45%</a:t>
            </a:r>
            <a:endParaRPr lang="en-US" sz="3200" dirty="0"/>
          </a:p>
        </p:txBody>
      </p:sp>
      <p:sp>
        <p:nvSpPr>
          <p:cNvPr id="8" name="Text 6"/>
          <p:cNvSpPr/>
          <p:nvPr/>
        </p:nvSpPr>
        <p:spPr>
          <a:xfrm>
            <a:off x="548640" y="3410712"/>
            <a:ext cx="2651760" cy="274320"/>
          </a:xfrm>
          <a:prstGeom prst="rect">
            <a:avLst/>
          </a:prstGeom>
          <a:noFill/>
          <a:ln/>
        </p:spPr>
        <p:txBody>
          <a:bodyPr wrap="square" rtlCol="0" anchor="ctr"/>
          <a:lstStyle/>
          <a:p>
            <a:pPr indent="0" marL="0">
              <a:buNone/>
            </a:pPr>
            <a:r>
              <a:rPr lang="en-US" sz="1250" b="1" dirty="0">
                <a:solidFill>
                  <a:srgbClr val="2E2733"/>
                </a:solidFill>
                <a:latin typeface="Calibri" pitchFamily="34" charset="0"/>
                <a:ea typeface="Calibri" pitchFamily="34" charset="-122"/>
                <a:cs typeface="Calibri" pitchFamily="34" charset="-120"/>
              </a:rPr>
              <a:t>Recall</a:t>
            </a:r>
            <a:endParaRPr lang="en-US" sz="1250" dirty="0"/>
          </a:p>
        </p:txBody>
      </p:sp>
      <p:sp>
        <p:nvSpPr>
          <p:cNvPr id="9" name="Text 7"/>
          <p:cNvSpPr/>
          <p:nvPr/>
        </p:nvSpPr>
        <p:spPr>
          <a:xfrm>
            <a:off x="548640" y="3666744"/>
            <a:ext cx="2651760" cy="274320"/>
          </a:xfrm>
          <a:prstGeom prst="rect">
            <a:avLst/>
          </a:prstGeom>
          <a:noFill/>
          <a:ln/>
        </p:spPr>
        <p:txBody>
          <a:bodyPr wrap="square" rtlCol="0" anchor="ctr"/>
          <a:lstStyle/>
          <a:p>
            <a:pPr indent="0" marL="0">
              <a:buNone/>
            </a:pPr>
            <a:r>
              <a:rPr lang="en-US" sz="1050" dirty="0">
                <a:solidFill>
                  <a:srgbClr val="6B6472"/>
                </a:solidFill>
                <a:latin typeface="Calibri" pitchFamily="34" charset="0"/>
                <a:ea typeface="Calibri" pitchFamily="34" charset="-122"/>
                <a:cs typeface="Calibri" pitchFamily="34" charset="-120"/>
              </a:rPr>
              <a:t>malignant cases caught</a:t>
            </a:r>
            <a:endParaRPr lang="en-US" sz="1050" dirty="0"/>
          </a:p>
        </p:txBody>
      </p:sp>
      <p:sp>
        <p:nvSpPr>
          <p:cNvPr id="10" name="Text 8"/>
          <p:cNvSpPr/>
          <p:nvPr/>
        </p:nvSpPr>
        <p:spPr>
          <a:xfrm>
            <a:off x="548640" y="4032504"/>
            <a:ext cx="2651760" cy="594360"/>
          </a:xfrm>
          <a:prstGeom prst="rect">
            <a:avLst/>
          </a:prstGeom>
          <a:noFill/>
          <a:ln/>
        </p:spPr>
        <p:txBody>
          <a:bodyPr wrap="square" rtlCol="0" anchor="ctr"/>
          <a:lstStyle/>
          <a:p>
            <a:pPr indent="0" marL="0">
              <a:buNone/>
            </a:pPr>
            <a:r>
              <a:rPr lang="en-US" sz="3200" b="1" dirty="0">
                <a:solidFill>
                  <a:srgbClr val="A32B68"/>
                </a:solidFill>
                <a:latin typeface="Cambria" pitchFamily="34" charset="0"/>
                <a:ea typeface="Cambria" pitchFamily="34" charset="-122"/>
                <a:cs typeface="Cambria" pitchFamily="34" charset="-120"/>
              </a:rPr>
              <a:t>0.9995</a:t>
            </a:r>
            <a:endParaRPr lang="en-US" sz="3200" dirty="0"/>
          </a:p>
        </p:txBody>
      </p:sp>
      <p:sp>
        <p:nvSpPr>
          <p:cNvPr id="11" name="Text 9"/>
          <p:cNvSpPr/>
          <p:nvPr/>
        </p:nvSpPr>
        <p:spPr>
          <a:xfrm>
            <a:off x="548640" y="4581144"/>
            <a:ext cx="2651760" cy="274320"/>
          </a:xfrm>
          <a:prstGeom prst="rect">
            <a:avLst/>
          </a:prstGeom>
          <a:noFill/>
          <a:ln/>
        </p:spPr>
        <p:txBody>
          <a:bodyPr wrap="square" rtlCol="0" anchor="ctr"/>
          <a:lstStyle/>
          <a:p>
            <a:pPr indent="0" marL="0">
              <a:buNone/>
            </a:pPr>
            <a:r>
              <a:rPr lang="en-US" sz="1250" b="1" dirty="0">
                <a:solidFill>
                  <a:srgbClr val="2E2733"/>
                </a:solidFill>
                <a:latin typeface="Calibri" pitchFamily="34" charset="0"/>
                <a:ea typeface="Calibri" pitchFamily="34" charset="-122"/>
                <a:cs typeface="Calibri" pitchFamily="34" charset="-120"/>
              </a:rPr>
              <a:t>ROC AUC</a:t>
            </a:r>
            <a:endParaRPr lang="en-US" sz="1250" dirty="0"/>
          </a:p>
        </p:txBody>
      </p:sp>
      <p:sp>
        <p:nvSpPr>
          <p:cNvPr id="12" name="Text 10"/>
          <p:cNvSpPr/>
          <p:nvPr/>
        </p:nvSpPr>
        <p:spPr>
          <a:xfrm>
            <a:off x="548640" y="4837176"/>
            <a:ext cx="2651760" cy="274320"/>
          </a:xfrm>
          <a:prstGeom prst="rect">
            <a:avLst/>
          </a:prstGeom>
          <a:noFill/>
          <a:ln/>
        </p:spPr>
        <p:txBody>
          <a:bodyPr wrap="square" rtlCol="0" anchor="ctr"/>
          <a:lstStyle/>
          <a:p>
            <a:pPr indent="0" marL="0">
              <a:buNone/>
            </a:pPr>
            <a:r>
              <a:rPr lang="en-US" sz="1050" dirty="0">
                <a:solidFill>
                  <a:srgbClr val="6B6472"/>
                </a:solidFill>
                <a:latin typeface="Calibri" pitchFamily="34" charset="0"/>
                <a:ea typeface="Calibri" pitchFamily="34" charset="-122"/>
                <a:cs typeface="Calibri" pitchFamily="34" charset="-120"/>
              </a:rPr>
              <a:t>AP 0.9984</a:t>
            </a:r>
            <a:endParaRPr lang="en-US" sz="1050" dirty="0"/>
          </a:p>
        </p:txBody>
      </p:sp>
      <p:pic>
        <p:nvPicPr>
          <p:cNvPr id="13" name="Image 0" descr="assets/pr_roc.png">    </p:cNvPr>
          <p:cNvPicPr>
            <a:picLocks noChangeAspect="1"/>
          </p:cNvPicPr>
          <p:nvPr/>
        </p:nvPicPr>
        <p:blipFill>
          <a:blip r:embed="rId1"/>
          <a:stretch>
            <a:fillRect/>
          </a:stretch>
        </p:blipFill>
        <p:spPr>
          <a:xfrm>
            <a:off x="3520440" y="1737360"/>
            <a:ext cx="8138160" cy="3063240"/>
          </a:xfrm>
          <a:prstGeom prst="rect">
            <a:avLst/>
          </a:prstGeom>
        </p:spPr>
      </p:pic>
      <p:sp>
        <p:nvSpPr>
          <p:cNvPr id="14" name="Shape 11"/>
          <p:cNvSpPr/>
          <p:nvPr/>
        </p:nvSpPr>
        <p:spPr>
          <a:xfrm>
            <a:off x="548640" y="5212080"/>
            <a:ext cx="11064240" cy="731520"/>
          </a:xfrm>
          <a:prstGeom prst="roundRect">
            <a:avLst>
              <a:gd name="adj" fmla="val 10000"/>
            </a:avLst>
          </a:prstGeom>
          <a:solidFill>
            <a:srgbClr val="F4EDF1"/>
          </a:solidFill>
          <a:ln/>
        </p:spPr>
      </p:sp>
      <p:sp>
        <p:nvSpPr>
          <p:cNvPr id="15" name="Text 12"/>
          <p:cNvSpPr/>
          <p:nvPr/>
        </p:nvSpPr>
        <p:spPr>
          <a:xfrm>
            <a:off x="822960" y="5212080"/>
            <a:ext cx="10515600" cy="731520"/>
          </a:xfrm>
          <a:prstGeom prst="rect">
            <a:avLst/>
          </a:prstGeom>
          <a:noFill/>
          <a:ln/>
        </p:spPr>
        <p:txBody>
          <a:bodyPr wrap="square" rtlCol="0" anchor="ctr"/>
          <a:lstStyle/>
          <a:p>
            <a:pPr indent="0" marL="0">
              <a:buNone/>
            </a:pPr>
            <a:r>
              <a:rPr lang="en-US" sz="1150" dirty="0">
                <a:solidFill>
                  <a:srgbClr val="6B6472"/>
                </a:solidFill>
                <a:latin typeface="Calibri" pitchFamily="34" charset="0"/>
                <a:ea typeface="Calibri" pitchFamily="34" charset="-122"/>
                <a:cs typeface="Calibri" pitchFamily="34" charset="-120"/>
              </a:rPr>
              <a:t>Precision 98.80%  ·  F1 99.10%  ·  held-out split of combined BreakHis, Breast Cancer Histopathology &amp; MSI corpora. Differentially private federated baselines cap below 85%.</a:t>
            </a:r>
            <a:endParaRPr lang="en-US" sz="1150" dirty="0"/>
          </a:p>
        </p:txBody>
      </p:sp>
      <p:sp>
        <p:nvSpPr>
          <p:cNvPr id="16" name="Text 13"/>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6B6472"/>
                </a:solidFill>
                <a:latin typeface="Calibri" pitchFamily="34" charset="0"/>
                <a:ea typeface="Calibri" pitchFamily="34" charset="-122"/>
                <a:cs typeface="Calibri" pitchFamily="34" charset="-120"/>
              </a:rPr>
              <a:t>MedChain-FL  ·  Team FedGuard  ·  BCOLBD 2026</a:t>
            </a:r>
            <a:endParaRPr lang="en-US" sz="900" dirty="0"/>
          </a:p>
        </p:txBody>
      </p:sp>
      <p:sp>
        <p:nvSpPr>
          <p:cNvPr id="17" name="Text 1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472"/>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100" b="1" spc="200" kern="0" dirty="0">
                <a:solidFill>
                  <a:srgbClr val="A32B68"/>
                </a:solidFill>
                <a:latin typeface="Calibri" pitchFamily="34" charset="0"/>
                <a:ea typeface="Calibri" pitchFamily="34" charset="-122"/>
                <a:cs typeface="Calibri" pitchFamily="34" charset="-120"/>
              </a:rPr>
              <a:t>FEDERATED VALIDATION</a:t>
            </a:r>
            <a:endParaRPr lang="en-US" sz="1100" dirty="0"/>
          </a:p>
        </p:txBody>
      </p:sp>
      <p:sp>
        <p:nvSpPr>
          <p:cNvPr id="3" name="Text 1"/>
          <p:cNvSpPr/>
          <p:nvPr/>
        </p:nvSpPr>
        <p:spPr>
          <a:xfrm>
            <a:off x="548640" y="685800"/>
            <a:ext cx="11064240" cy="777240"/>
          </a:xfrm>
          <a:prstGeom prst="rect">
            <a:avLst/>
          </a:prstGeom>
          <a:noFill/>
          <a:ln/>
        </p:spPr>
        <p:txBody>
          <a:bodyPr wrap="square" rtlCol="0" anchor="ctr"/>
          <a:lstStyle/>
          <a:p>
            <a:pPr indent="0" marL="0">
              <a:lnSpc>
                <a:spcPts val="2900"/>
              </a:lnSpc>
              <a:buNone/>
            </a:pPr>
            <a:r>
              <a:rPr lang="en-US" sz="2500" b="1" dirty="0">
                <a:solidFill>
                  <a:srgbClr val="2E2733"/>
                </a:solidFill>
                <a:latin typeface="Cambria" pitchFamily="34" charset="0"/>
                <a:ea typeface="Cambria" pitchFamily="34" charset="-122"/>
                <a:cs typeface="Cambria" pitchFamily="34" charset="-120"/>
              </a:rPr>
              <a:t>Three hospitals, twenty rounds, one converging model</a:t>
            </a:r>
            <a:endParaRPr lang="en-US" sz="2500" dirty="0"/>
          </a:p>
        </p:txBody>
      </p:sp>
      <p:pic>
        <p:nvPicPr>
          <p:cNvPr id="4" name="Image 0" descr="assets/fed_validation.png">    </p:cNvPr>
          <p:cNvPicPr>
            <a:picLocks noChangeAspect="1"/>
          </p:cNvPicPr>
          <p:nvPr/>
        </p:nvPicPr>
        <p:blipFill>
          <a:blip r:embed="rId1"/>
          <a:stretch>
            <a:fillRect/>
          </a:stretch>
        </p:blipFill>
        <p:spPr>
          <a:xfrm>
            <a:off x="548640" y="1645920"/>
            <a:ext cx="6858000" cy="2743200"/>
          </a:xfrm>
          <a:prstGeom prst="rect">
            <a:avLst/>
          </a:prstGeom>
        </p:spPr>
      </p:pic>
      <p:sp>
        <p:nvSpPr>
          <p:cNvPr id="5" name="Shape 2"/>
          <p:cNvSpPr/>
          <p:nvPr/>
        </p:nvSpPr>
        <p:spPr>
          <a:xfrm>
            <a:off x="7635240" y="1700784"/>
            <a:ext cx="54864" cy="685800"/>
          </a:xfrm>
          <a:prstGeom prst="rect">
            <a:avLst/>
          </a:prstGeom>
          <a:solidFill>
            <a:srgbClr val="0E7C7B"/>
          </a:solidFill>
          <a:ln/>
        </p:spPr>
      </p:sp>
      <p:sp>
        <p:nvSpPr>
          <p:cNvPr id="6" name="Text 3"/>
          <p:cNvSpPr/>
          <p:nvPr/>
        </p:nvSpPr>
        <p:spPr>
          <a:xfrm>
            <a:off x="7818120" y="1645920"/>
            <a:ext cx="3840480" cy="320040"/>
          </a:xfrm>
          <a:prstGeom prst="rect">
            <a:avLst/>
          </a:prstGeom>
          <a:noFill/>
          <a:ln/>
        </p:spPr>
        <p:txBody>
          <a:bodyPr wrap="square" rtlCol="0" anchor="ctr"/>
          <a:lstStyle/>
          <a:p>
            <a:pPr indent="0" marL="0">
              <a:buNone/>
            </a:pPr>
            <a:r>
              <a:rPr lang="en-US" sz="1250" b="1" dirty="0">
                <a:solidFill>
                  <a:srgbClr val="2E2733"/>
                </a:solidFill>
                <a:latin typeface="Calibri" pitchFamily="34" charset="0"/>
                <a:ea typeface="Calibri" pitchFamily="34" charset="-122"/>
                <a:cs typeface="Calibri" pitchFamily="34" charset="-120"/>
              </a:rPr>
              <a:t>All sites above 98% by round five</a:t>
            </a:r>
            <a:endParaRPr lang="en-US" sz="1250" dirty="0"/>
          </a:p>
        </p:txBody>
      </p:sp>
      <p:sp>
        <p:nvSpPr>
          <p:cNvPr id="7" name="Text 4"/>
          <p:cNvSpPr/>
          <p:nvPr/>
        </p:nvSpPr>
        <p:spPr>
          <a:xfrm>
            <a:off x="7818120" y="1947672"/>
            <a:ext cx="3840480" cy="548640"/>
          </a:xfrm>
          <a:prstGeom prst="rect">
            <a:avLst/>
          </a:prstGeom>
          <a:noFill/>
          <a:ln/>
        </p:spPr>
        <p:txBody>
          <a:bodyPr wrap="square" rtlCol="0" anchor="ctr"/>
          <a:lstStyle/>
          <a:p>
            <a:pPr indent="0" marL="0">
              <a:lnSpc>
                <a:spcPct val="120000"/>
              </a:lnSpc>
              <a:buNone/>
            </a:pPr>
            <a:r>
              <a:rPr lang="en-US" sz="1050" dirty="0">
                <a:solidFill>
                  <a:srgbClr val="6B6472"/>
                </a:solidFill>
                <a:latin typeface="Calibri" pitchFamily="34" charset="0"/>
                <a:ea typeface="Calibri" pitchFamily="34" charset="-122"/>
                <a:cs typeface="Calibri" pitchFamily="34" charset="-120"/>
              </a:rPr>
              <a:t>Boston, London, Tokyo stay within a ~2.3-point band — no site dominates.</a:t>
            </a:r>
            <a:endParaRPr lang="en-US" sz="1050" dirty="0"/>
          </a:p>
        </p:txBody>
      </p:sp>
      <p:sp>
        <p:nvSpPr>
          <p:cNvPr id="8" name="Shape 5"/>
          <p:cNvSpPr/>
          <p:nvPr/>
        </p:nvSpPr>
        <p:spPr>
          <a:xfrm>
            <a:off x="7635240" y="2660904"/>
            <a:ext cx="54864" cy="685800"/>
          </a:xfrm>
          <a:prstGeom prst="rect">
            <a:avLst/>
          </a:prstGeom>
          <a:solidFill>
            <a:srgbClr val="0E7C7B"/>
          </a:solidFill>
          <a:ln/>
        </p:spPr>
      </p:sp>
      <p:sp>
        <p:nvSpPr>
          <p:cNvPr id="9" name="Text 6"/>
          <p:cNvSpPr/>
          <p:nvPr/>
        </p:nvSpPr>
        <p:spPr>
          <a:xfrm>
            <a:off x="7818120" y="2606040"/>
            <a:ext cx="3840480" cy="320040"/>
          </a:xfrm>
          <a:prstGeom prst="rect">
            <a:avLst/>
          </a:prstGeom>
          <a:noFill/>
          <a:ln/>
        </p:spPr>
        <p:txBody>
          <a:bodyPr wrap="square" rtlCol="0" anchor="ctr"/>
          <a:lstStyle/>
          <a:p>
            <a:pPr indent="0" marL="0">
              <a:buNone/>
            </a:pPr>
            <a:r>
              <a:rPr lang="en-US" sz="1250" b="1" dirty="0">
                <a:solidFill>
                  <a:srgbClr val="2E2733"/>
                </a:solidFill>
                <a:latin typeface="Calibri" pitchFamily="34" charset="0"/>
                <a:ea typeface="Calibri" pitchFamily="34" charset="-122"/>
                <a:cs typeface="Calibri" pitchFamily="34" charset="-120"/>
              </a:rPr>
              <a:t>Global curve is quieter than any site</a:t>
            </a:r>
            <a:endParaRPr lang="en-US" sz="1250" dirty="0"/>
          </a:p>
        </p:txBody>
      </p:sp>
      <p:sp>
        <p:nvSpPr>
          <p:cNvPr id="10" name="Text 7"/>
          <p:cNvSpPr/>
          <p:nvPr/>
        </p:nvSpPr>
        <p:spPr>
          <a:xfrm>
            <a:off x="7818120" y="2907792"/>
            <a:ext cx="3840480" cy="548640"/>
          </a:xfrm>
          <a:prstGeom prst="rect">
            <a:avLst/>
          </a:prstGeom>
          <a:noFill/>
          <a:ln/>
        </p:spPr>
        <p:txBody>
          <a:bodyPr wrap="square" rtlCol="0" anchor="ctr"/>
          <a:lstStyle/>
          <a:p>
            <a:pPr indent="0" marL="0">
              <a:lnSpc>
                <a:spcPct val="120000"/>
              </a:lnSpc>
              <a:buNone/>
            </a:pPr>
            <a:r>
              <a:rPr lang="en-US" sz="1050" dirty="0">
                <a:solidFill>
                  <a:srgbClr val="6B6472"/>
                </a:solidFill>
                <a:latin typeface="Calibri" pitchFamily="34" charset="0"/>
                <a:ea typeface="Calibri" pitchFamily="34" charset="-122"/>
                <a:cs typeface="Calibri" pitchFamily="34" charset="-120"/>
              </a:rPr>
              <a:t>Lower variance than any single hospital — FedAvg cancels noise, not just averages it.</a:t>
            </a:r>
            <a:endParaRPr lang="en-US" sz="1050" dirty="0"/>
          </a:p>
        </p:txBody>
      </p:sp>
      <p:sp>
        <p:nvSpPr>
          <p:cNvPr id="11" name="Shape 8"/>
          <p:cNvSpPr/>
          <p:nvPr/>
        </p:nvSpPr>
        <p:spPr>
          <a:xfrm>
            <a:off x="7635240" y="3621024"/>
            <a:ext cx="54864" cy="685800"/>
          </a:xfrm>
          <a:prstGeom prst="rect">
            <a:avLst/>
          </a:prstGeom>
          <a:solidFill>
            <a:srgbClr val="0E7C7B"/>
          </a:solidFill>
          <a:ln/>
        </p:spPr>
      </p:sp>
      <p:sp>
        <p:nvSpPr>
          <p:cNvPr id="12" name="Text 9"/>
          <p:cNvSpPr/>
          <p:nvPr/>
        </p:nvSpPr>
        <p:spPr>
          <a:xfrm>
            <a:off x="7818120" y="3566160"/>
            <a:ext cx="3840480" cy="320040"/>
          </a:xfrm>
          <a:prstGeom prst="rect">
            <a:avLst/>
          </a:prstGeom>
          <a:noFill/>
          <a:ln/>
        </p:spPr>
        <p:txBody>
          <a:bodyPr wrap="square" rtlCol="0" anchor="ctr"/>
          <a:lstStyle/>
          <a:p>
            <a:pPr indent="0" marL="0">
              <a:buNone/>
            </a:pPr>
            <a:r>
              <a:rPr lang="en-US" sz="1250" b="1" dirty="0">
                <a:solidFill>
                  <a:srgbClr val="2E2733"/>
                </a:solidFill>
                <a:latin typeface="Calibri" pitchFamily="34" charset="0"/>
                <a:ea typeface="Calibri" pitchFamily="34" charset="-122"/>
                <a:cs typeface="Calibri" pitchFamily="34" charset="-120"/>
              </a:rPr>
              <a:t>Practical stopping point before round 8</a:t>
            </a:r>
            <a:endParaRPr lang="en-US" sz="1250" dirty="0"/>
          </a:p>
        </p:txBody>
      </p:sp>
      <p:sp>
        <p:nvSpPr>
          <p:cNvPr id="13" name="Text 10"/>
          <p:cNvSpPr/>
          <p:nvPr/>
        </p:nvSpPr>
        <p:spPr>
          <a:xfrm>
            <a:off x="7818120" y="3867912"/>
            <a:ext cx="3840480" cy="548640"/>
          </a:xfrm>
          <a:prstGeom prst="rect">
            <a:avLst/>
          </a:prstGeom>
          <a:noFill/>
          <a:ln/>
        </p:spPr>
        <p:txBody>
          <a:bodyPr wrap="square" rtlCol="0" anchor="ctr"/>
          <a:lstStyle/>
          <a:p>
            <a:pPr indent="0" marL="0">
              <a:lnSpc>
                <a:spcPct val="120000"/>
              </a:lnSpc>
              <a:buNone/>
            </a:pPr>
            <a:r>
              <a:rPr lang="en-US" sz="1050" dirty="0">
                <a:solidFill>
                  <a:srgbClr val="6B6472"/>
                </a:solidFill>
                <a:latin typeface="Calibri" pitchFamily="34" charset="0"/>
                <a:ea typeface="Calibri" pitchFamily="34" charset="-122"/>
                <a:cs typeface="Calibri" pitchFamily="34" charset="-120"/>
              </a:rPr>
              <a:t>Past 98%, further rounds add ~0.1 points each — a usable stopping rule.</a:t>
            </a:r>
            <a:endParaRPr lang="en-US" sz="1050" dirty="0"/>
          </a:p>
        </p:txBody>
      </p:sp>
      <p:sp>
        <p:nvSpPr>
          <p:cNvPr id="14" name="Text 11"/>
          <p:cNvSpPr/>
          <p:nvPr/>
        </p:nvSpPr>
        <p:spPr>
          <a:xfrm>
            <a:off x="548640" y="4617720"/>
            <a:ext cx="6858000" cy="548640"/>
          </a:xfrm>
          <a:prstGeom prst="rect">
            <a:avLst/>
          </a:prstGeom>
          <a:noFill/>
          <a:ln/>
        </p:spPr>
        <p:txBody>
          <a:bodyPr wrap="square" rtlCol="0" anchor="ctr"/>
          <a:lstStyle/>
          <a:p>
            <a:pPr indent="0" marL="0">
              <a:buNone/>
            </a:pPr>
            <a:r>
              <a:rPr lang="en-US" sz="1100" i="1" dirty="0">
                <a:solidFill>
                  <a:srgbClr val="6B6472"/>
                </a:solidFill>
                <a:latin typeface="Calibri" pitchFamily="34" charset="0"/>
                <a:ea typeface="Calibri" pitchFamily="34" charset="-122"/>
                <a:cs typeface="Calibri" pitchFamily="34" charset="-120"/>
              </a:rPr>
              <a:t>For contrast: the federated ResNet-50 baseline collapsed to majority-class accuracy in epoch one and never recovered.</a:t>
            </a:r>
            <a:endParaRPr lang="en-US" sz="1100" dirty="0"/>
          </a:p>
        </p:txBody>
      </p:sp>
      <p:sp>
        <p:nvSpPr>
          <p:cNvPr id="15" name="Text 12"/>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6B6472"/>
                </a:solidFill>
                <a:latin typeface="Calibri" pitchFamily="34" charset="0"/>
                <a:ea typeface="Calibri" pitchFamily="34" charset="-122"/>
                <a:cs typeface="Calibri" pitchFamily="34" charset="-120"/>
              </a:rPr>
              <a:t>MedChain-FL  ·  Team FedGuard  ·  BCOLBD 2026</a:t>
            </a:r>
            <a:endParaRPr lang="en-US" sz="900" dirty="0"/>
          </a:p>
        </p:txBody>
      </p:sp>
      <p:sp>
        <p:nvSpPr>
          <p:cNvPr id="16" name="Text 13"/>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472"/>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100" b="1" spc="200" kern="0" dirty="0">
                <a:solidFill>
                  <a:srgbClr val="A32B68"/>
                </a:solidFill>
                <a:latin typeface="Calibri" pitchFamily="34" charset="0"/>
                <a:ea typeface="Calibri" pitchFamily="34" charset="-122"/>
                <a:cs typeface="Calibri" pitchFamily="34" charset="-120"/>
              </a:rPr>
              <a:t>PROTOTYPE</a:t>
            </a:r>
            <a:endParaRPr lang="en-US" sz="1100" dirty="0"/>
          </a:p>
        </p:txBody>
      </p:sp>
      <p:sp>
        <p:nvSpPr>
          <p:cNvPr id="3" name="Text 1"/>
          <p:cNvSpPr/>
          <p:nvPr/>
        </p:nvSpPr>
        <p:spPr>
          <a:xfrm>
            <a:off x="548640" y="685800"/>
            <a:ext cx="11064240" cy="777240"/>
          </a:xfrm>
          <a:prstGeom prst="rect">
            <a:avLst/>
          </a:prstGeom>
          <a:noFill/>
          <a:ln/>
        </p:spPr>
        <p:txBody>
          <a:bodyPr wrap="square" rtlCol="0" anchor="ctr"/>
          <a:lstStyle/>
          <a:p>
            <a:pPr indent="0" marL="0">
              <a:lnSpc>
                <a:spcPts val="3000"/>
              </a:lnSpc>
              <a:buNone/>
            </a:pPr>
            <a:r>
              <a:rPr lang="en-US" sz="2600" b="1" dirty="0">
                <a:solidFill>
                  <a:srgbClr val="2E2733"/>
                </a:solidFill>
                <a:latin typeface="Cambria" pitchFamily="34" charset="0"/>
                <a:ea typeface="Cambria" pitchFamily="34" charset="-122"/>
                <a:cs typeface="Cambria" pitchFamily="34" charset="-120"/>
              </a:rPr>
              <a:t>Running today — front end, contract and oracle</a:t>
            </a:r>
            <a:endParaRPr lang="en-US" sz="2600" dirty="0"/>
          </a:p>
        </p:txBody>
      </p:sp>
      <p:pic>
        <p:nvPicPr>
          <p:cNvPr id="4" name="Image 0" descr="assets/ui_screenshot.png">    </p:cNvPr>
          <p:cNvPicPr>
            <a:picLocks noChangeAspect="1"/>
          </p:cNvPicPr>
          <p:nvPr/>
        </p:nvPicPr>
        <p:blipFill>
          <a:blip r:embed="rId1"/>
          <a:stretch>
            <a:fillRect/>
          </a:stretch>
        </p:blipFill>
        <p:spPr>
          <a:xfrm>
            <a:off x="7955280" y="1600200"/>
            <a:ext cx="3657600" cy="4480560"/>
          </a:xfrm>
          <a:prstGeom prst="rect">
            <a:avLst/>
          </a:prstGeom>
        </p:spPr>
      </p:pic>
      <p:sp>
        <p:nvSpPr>
          <p:cNvPr id="5" name="Text 2"/>
          <p:cNvSpPr/>
          <p:nvPr/>
        </p:nvSpPr>
        <p:spPr>
          <a:xfrm>
            <a:off x="548640" y="1737360"/>
            <a:ext cx="2286000" cy="548640"/>
          </a:xfrm>
          <a:prstGeom prst="rect">
            <a:avLst/>
          </a:prstGeom>
          <a:noFill/>
          <a:ln/>
        </p:spPr>
        <p:txBody>
          <a:bodyPr wrap="square" rtlCol="0" anchor="t"/>
          <a:lstStyle/>
          <a:p>
            <a:pPr indent="0" marL="0">
              <a:buNone/>
            </a:pPr>
            <a:r>
              <a:rPr lang="en-US" sz="1300" b="1" dirty="0">
                <a:solidFill>
                  <a:srgbClr val="A32B68"/>
                </a:solidFill>
                <a:latin typeface="Calibri" pitchFamily="34" charset="0"/>
                <a:ea typeface="Calibri" pitchFamily="34" charset="-122"/>
                <a:cs typeface="Calibri" pitchFamily="34" charset="-120"/>
              </a:rPr>
              <a:t>Hospital client</a:t>
            </a:r>
            <a:endParaRPr lang="en-US" sz="1300" dirty="0"/>
          </a:p>
        </p:txBody>
      </p:sp>
      <p:sp>
        <p:nvSpPr>
          <p:cNvPr id="6" name="Text 3"/>
          <p:cNvSpPr/>
          <p:nvPr/>
        </p:nvSpPr>
        <p:spPr>
          <a:xfrm>
            <a:off x="2880360" y="1737360"/>
            <a:ext cx="4892040" cy="548640"/>
          </a:xfrm>
          <a:prstGeom prst="rect">
            <a:avLst/>
          </a:prstGeom>
          <a:noFill/>
          <a:ln/>
        </p:spPr>
        <p:txBody>
          <a:bodyPr wrap="square" rtlCol="0" anchor="t"/>
          <a:lstStyle/>
          <a:p>
            <a:pPr indent="0" marL="0">
              <a:buNone/>
            </a:pPr>
            <a:r>
              <a:rPr lang="en-US" sz="1150" dirty="0">
                <a:solidFill>
                  <a:srgbClr val="6B6472"/>
                </a:solidFill>
                <a:latin typeface="Calibri" pitchFamily="34" charset="0"/>
                <a:ea typeface="Calibri" pitchFamily="34" charset="-122"/>
                <a:cs typeface="Calibri" pitchFamily="34" charset="-120"/>
              </a:rPr>
              <a:t>Node.js + ethers.js — wallet auth, local training, contract calls</a:t>
            </a:r>
            <a:endParaRPr lang="en-US" sz="1150" dirty="0"/>
          </a:p>
        </p:txBody>
      </p:sp>
      <p:sp>
        <p:nvSpPr>
          <p:cNvPr id="7" name="Shape 4"/>
          <p:cNvSpPr/>
          <p:nvPr/>
        </p:nvSpPr>
        <p:spPr>
          <a:xfrm>
            <a:off x="548640" y="2304288"/>
            <a:ext cx="7223760" cy="0"/>
          </a:xfrm>
          <a:prstGeom prst="line">
            <a:avLst/>
          </a:prstGeom>
          <a:noFill/>
          <a:ln w="9525">
            <a:solidFill>
              <a:srgbClr val="DFD7DC"/>
            </a:solidFill>
            <a:prstDash val="solid"/>
          </a:ln>
        </p:spPr>
      </p:sp>
      <p:sp>
        <p:nvSpPr>
          <p:cNvPr id="8" name="Text 5"/>
          <p:cNvSpPr/>
          <p:nvPr/>
        </p:nvSpPr>
        <p:spPr>
          <a:xfrm>
            <a:off x="548640" y="2395728"/>
            <a:ext cx="2286000" cy="548640"/>
          </a:xfrm>
          <a:prstGeom prst="rect">
            <a:avLst/>
          </a:prstGeom>
          <a:noFill/>
          <a:ln/>
        </p:spPr>
        <p:txBody>
          <a:bodyPr wrap="square" rtlCol="0" anchor="t"/>
          <a:lstStyle/>
          <a:p>
            <a:pPr indent="0" marL="0">
              <a:buNone/>
            </a:pPr>
            <a:r>
              <a:rPr lang="en-US" sz="1300" b="1" dirty="0">
                <a:solidFill>
                  <a:srgbClr val="A32B68"/>
                </a:solidFill>
                <a:latin typeface="Calibri" pitchFamily="34" charset="0"/>
                <a:ea typeface="Calibri" pitchFamily="34" charset="-122"/>
                <a:cs typeface="Calibri" pitchFamily="34" charset="-120"/>
              </a:rPr>
              <a:t>Global controller</a:t>
            </a:r>
            <a:endParaRPr lang="en-US" sz="1300" dirty="0"/>
          </a:p>
        </p:txBody>
      </p:sp>
      <p:sp>
        <p:nvSpPr>
          <p:cNvPr id="9" name="Text 6"/>
          <p:cNvSpPr/>
          <p:nvPr/>
        </p:nvSpPr>
        <p:spPr>
          <a:xfrm>
            <a:off x="2880360" y="2395728"/>
            <a:ext cx="4892040" cy="548640"/>
          </a:xfrm>
          <a:prstGeom prst="rect">
            <a:avLst/>
          </a:prstGeom>
          <a:noFill/>
          <a:ln/>
        </p:spPr>
        <p:txBody>
          <a:bodyPr wrap="square" rtlCol="0" anchor="t"/>
          <a:lstStyle/>
          <a:p>
            <a:pPr indent="0" marL="0">
              <a:buNone/>
            </a:pPr>
            <a:r>
              <a:rPr lang="en-US" sz="1150" dirty="0">
                <a:solidFill>
                  <a:srgbClr val="6B6472"/>
                </a:solidFill>
                <a:latin typeface="Calibri" pitchFamily="34" charset="0"/>
                <a:ea typeface="Calibri" pitchFamily="34" charset="-122"/>
                <a:cs typeface="Calibri" pitchFamily="34" charset="-120"/>
              </a:rPr>
              <a:t>Python + PyTorch — round mgmt, FedAvg, model dissemination</a:t>
            </a:r>
            <a:endParaRPr lang="en-US" sz="1150" dirty="0"/>
          </a:p>
        </p:txBody>
      </p:sp>
      <p:sp>
        <p:nvSpPr>
          <p:cNvPr id="10" name="Shape 7"/>
          <p:cNvSpPr/>
          <p:nvPr/>
        </p:nvSpPr>
        <p:spPr>
          <a:xfrm>
            <a:off x="548640" y="2962656"/>
            <a:ext cx="7223760" cy="0"/>
          </a:xfrm>
          <a:prstGeom prst="line">
            <a:avLst/>
          </a:prstGeom>
          <a:noFill/>
          <a:ln w="9525">
            <a:solidFill>
              <a:srgbClr val="DFD7DC"/>
            </a:solidFill>
            <a:prstDash val="solid"/>
          </a:ln>
        </p:spPr>
      </p:sp>
      <p:sp>
        <p:nvSpPr>
          <p:cNvPr id="11" name="Text 8"/>
          <p:cNvSpPr/>
          <p:nvPr/>
        </p:nvSpPr>
        <p:spPr>
          <a:xfrm>
            <a:off x="548640" y="3054096"/>
            <a:ext cx="2286000" cy="548640"/>
          </a:xfrm>
          <a:prstGeom prst="rect">
            <a:avLst/>
          </a:prstGeom>
          <a:noFill/>
          <a:ln/>
        </p:spPr>
        <p:txBody>
          <a:bodyPr wrap="square" rtlCol="0" anchor="t"/>
          <a:lstStyle/>
          <a:p>
            <a:pPr indent="0" marL="0">
              <a:buNone/>
            </a:pPr>
            <a:r>
              <a:rPr lang="en-US" sz="1300" b="1" dirty="0">
                <a:solidFill>
                  <a:srgbClr val="A32B68"/>
                </a:solidFill>
                <a:latin typeface="Calibri" pitchFamily="34" charset="0"/>
                <a:ea typeface="Calibri" pitchFamily="34" charset="-122"/>
                <a:cs typeface="Calibri" pitchFamily="34" charset="-120"/>
              </a:rPr>
              <a:t>Smart contract</a:t>
            </a:r>
            <a:endParaRPr lang="en-US" sz="1300" dirty="0"/>
          </a:p>
        </p:txBody>
      </p:sp>
      <p:sp>
        <p:nvSpPr>
          <p:cNvPr id="12" name="Text 9"/>
          <p:cNvSpPr/>
          <p:nvPr/>
        </p:nvSpPr>
        <p:spPr>
          <a:xfrm>
            <a:off x="2880360" y="3054096"/>
            <a:ext cx="4892040" cy="548640"/>
          </a:xfrm>
          <a:prstGeom prst="rect">
            <a:avLst/>
          </a:prstGeom>
          <a:noFill/>
          <a:ln/>
        </p:spPr>
        <p:txBody>
          <a:bodyPr wrap="square" rtlCol="0" anchor="t"/>
          <a:lstStyle/>
          <a:p>
            <a:pPr indent="0" marL="0">
              <a:buNone/>
            </a:pPr>
            <a:r>
              <a:rPr lang="en-US" sz="1150" dirty="0">
                <a:solidFill>
                  <a:srgbClr val="6B6472"/>
                </a:solidFill>
                <a:latin typeface="Calibri" pitchFamily="34" charset="0"/>
                <a:ea typeface="Calibri" pitchFamily="34" charset="-122"/>
                <a:cs typeface="Calibri" pitchFamily="34" charset="-120"/>
              </a:rPr>
              <a:t>Solidity + OpenZeppelin, deployed on Ethereum Sepolia</a:t>
            </a:r>
            <a:endParaRPr lang="en-US" sz="1150" dirty="0"/>
          </a:p>
        </p:txBody>
      </p:sp>
      <p:sp>
        <p:nvSpPr>
          <p:cNvPr id="13" name="Shape 10"/>
          <p:cNvSpPr/>
          <p:nvPr/>
        </p:nvSpPr>
        <p:spPr>
          <a:xfrm>
            <a:off x="548640" y="3621024"/>
            <a:ext cx="7223760" cy="0"/>
          </a:xfrm>
          <a:prstGeom prst="line">
            <a:avLst/>
          </a:prstGeom>
          <a:noFill/>
          <a:ln w="9525">
            <a:solidFill>
              <a:srgbClr val="DFD7DC"/>
            </a:solidFill>
            <a:prstDash val="solid"/>
          </a:ln>
        </p:spPr>
      </p:sp>
      <p:sp>
        <p:nvSpPr>
          <p:cNvPr id="14" name="Text 11"/>
          <p:cNvSpPr/>
          <p:nvPr/>
        </p:nvSpPr>
        <p:spPr>
          <a:xfrm>
            <a:off x="548640" y="3712464"/>
            <a:ext cx="2286000" cy="548640"/>
          </a:xfrm>
          <a:prstGeom prst="rect">
            <a:avLst/>
          </a:prstGeom>
          <a:noFill/>
          <a:ln/>
        </p:spPr>
        <p:txBody>
          <a:bodyPr wrap="square" rtlCol="0" anchor="t"/>
          <a:lstStyle/>
          <a:p>
            <a:pPr indent="0" marL="0">
              <a:buNone/>
            </a:pPr>
            <a:r>
              <a:rPr lang="en-US" sz="1300" b="1" dirty="0">
                <a:solidFill>
                  <a:srgbClr val="A32B68"/>
                </a:solidFill>
                <a:latin typeface="Calibri" pitchFamily="34" charset="0"/>
                <a:ea typeface="Calibri" pitchFamily="34" charset="-122"/>
                <a:cs typeface="Calibri" pitchFamily="34" charset="-120"/>
              </a:rPr>
              <a:t>Storage</a:t>
            </a:r>
            <a:endParaRPr lang="en-US" sz="1300" dirty="0"/>
          </a:p>
        </p:txBody>
      </p:sp>
      <p:sp>
        <p:nvSpPr>
          <p:cNvPr id="15" name="Text 12"/>
          <p:cNvSpPr/>
          <p:nvPr/>
        </p:nvSpPr>
        <p:spPr>
          <a:xfrm>
            <a:off x="2880360" y="3712464"/>
            <a:ext cx="4892040" cy="548640"/>
          </a:xfrm>
          <a:prstGeom prst="rect">
            <a:avLst/>
          </a:prstGeom>
          <a:noFill/>
          <a:ln/>
        </p:spPr>
        <p:txBody>
          <a:bodyPr wrap="square" rtlCol="0" anchor="t"/>
          <a:lstStyle/>
          <a:p>
            <a:pPr indent="0" marL="0">
              <a:buNone/>
            </a:pPr>
            <a:r>
              <a:rPr lang="en-US" sz="1150" dirty="0">
                <a:solidFill>
                  <a:srgbClr val="6B6472"/>
                </a:solidFill>
                <a:latin typeface="Calibri" pitchFamily="34" charset="0"/>
                <a:ea typeface="Calibri" pitchFamily="34" charset="-122"/>
                <a:cs typeface="Calibri" pitchFamily="34" charset="-120"/>
              </a:rPr>
              <a:t>IPFS via Pinata — 46-character content identifiers</a:t>
            </a:r>
            <a:endParaRPr lang="en-US" sz="1150" dirty="0"/>
          </a:p>
        </p:txBody>
      </p:sp>
      <p:sp>
        <p:nvSpPr>
          <p:cNvPr id="16" name="Shape 13"/>
          <p:cNvSpPr/>
          <p:nvPr/>
        </p:nvSpPr>
        <p:spPr>
          <a:xfrm>
            <a:off x="548640" y="4279392"/>
            <a:ext cx="7223760" cy="0"/>
          </a:xfrm>
          <a:prstGeom prst="line">
            <a:avLst/>
          </a:prstGeom>
          <a:noFill/>
          <a:ln w="9525">
            <a:solidFill>
              <a:srgbClr val="DFD7DC"/>
            </a:solidFill>
            <a:prstDash val="solid"/>
          </a:ln>
        </p:spPr>
      </p:sp>
      <p:sp>
        <p:nvSpPr>
          <p:cNvPr id="17" name="Text 14"/>
          <p:cNvSpPr/>
          <p:nvPr/>
        </p:nvSpPr>
        <p:spPr>
          <a:xfrm>
            <a:off x="548640" y="4370832"/>
            <a:ext cx="2286000" cy="548640"/>
          </a:xfrm>
          <a:prstGeom prst="rect">
            <a:avLst/>
          </a:prstGeom>
          <a:noFill/>
          <a:ln/>
        </p:spPr>
        <p:txBody>
          <a:bodyPr wrap="square" rtlCol="0" anchor="t"/>
          <a:lstStyle/>
          <a:p>
            <a:pPr indent="0" marL="0">
              <a:buNone/>
            </a:pPr>
            <a:r>
              <a:rPr lang="en-US" sz="1300" b="1" dirty="0">
                <a:solidFill>
                  <a:srgbClr val="A32B68"/>
                </a:solidFill>
                <a:latin typeface="Calibri" pitchFamily="34" charset="0"/>
                <a:ea typeface="Calibri" pitchFamily="34" charset="-122"/>
                <a:cs typeface="Calibri" pitchFamily="34" charset="-120"/>
              </a:rPr>
              <a:t>Admin interface</a:t>
            </a:r>
            <a:endParaRPr lang="en-US" sz="1300" dirty="0"/>
          </a:p>
        </p:txBody>
      </p:sp>
      <p:sp>
        <p:nvSpPr>
          <p:cNvPr id="18" name="Text 15"/>
          <p:cNvSpPr/>
          <p:nvPr/>
        </p:nvSpPr>
        <p:spPr>
          <a:xfrm>
            <a:off x="2880360" y="4370832"/>
            <a:ext cx="4892040" cy="548640"/>
          </a:xfrm>
          <a:prstGeom prst="rect">
            <a:avLst/>
          </a:prstGeom>
          <a:noFill/>
          <a:ln/>
        </p:spPr>
        <p:txBody>
          <a:bodyPr wrap="square" rtlCol="0" anchor="t"/>
          <a:lstStyle/>
          <a:p>
            <a:pPr indent="0" marL="0">
              <a:buNone/>
            </a:pPr>
            <a:r>
              <a:rPr lang="en-US" sz="1150" dirty="0">
                <a:solidFill>
                  <a:srgbClr val="6B6472"/>
                </a:solidFill>
                <a:latin typeface="Calibri" pitchFamily="34" charset="0"/>
                <a:ea typeface="Calibri" pitchFamily="34" charset="-122"/>
                <a:cs typeface="Calibri" pitchFamily="34" charset="-120"/>
              </a:rPr>
              <a:t>Web dashboard for registration, monitoring, audit</a:t>
            </a:r>
            <a:endParaRPr lang="en-US" sz="1150" dirty="0"/>
          </a:p>
        </p:txBody>
      </p:sp>
      <p:sp>
        <p:nvSpPr>
          <p:cNvPr id="19" name="Shape 16"/>
          <p:cNvSpPr/>
          <p:nvPr/>
        </p:nvSpPr>
        <p:spPr>
          <a:xfrm>
            <a:off x="548640" y="5669280"/>
            <a:ext cx="7223760" cy="640080"/>
          </a:xfrm>
          <a:prstGeom prst="roundRect">
            <a:avLst>
              <a:gd name="adj" fmla="val 8571"/>
            </a:avLst>
          </a:prstGeom>
          <a:solidFill>
            <a:srgbClr val="F4EDF1"/>
          </a:solidFill>
          <a:ln/>
        </p:spPr>
      </p:sp>
      <p:sp>
        <p:nvSpPr>
          <p:cNvPr id="20" name="Text 17"/>
          <p:cNvSpPr/>
          <p:nvPr/>
        </p:nvSpPr>
        <p:spPr>
          <a:xfrm>
            <a:off x="731520" y="5669280"/>
            <a:ext cx="6858000" cy="640080"/>
          </a:xfrm>
          <a:prstGeom prst="rect">
            <a:avLst/>
          </a:prstGeom>
          <a:noFill/>
          <a:ln/>
        </p:spPr>
        <p:txBody>
          <a:bodyPr wrap="square" rtlCol="0" anchor="ctr"/>
          <a:lstStyle/>
          <a:p>
            <a:pPr indent="0" marL="0">
              <a:buNone/>
            </a:pPr>
            <a:r>
              <a:rPr lang="en-US" sz="1050" b="1" dirty="0">
                <a:solidFill>
                  <a:srgbClr val="2E2733"/>
                </a:solidFill>
                <a:latin typeface="Calibri" pitchFamily="34" charset="0"/>
                <a:ea typeface="Calibri" pitchFamily="34" charset="-122"/>
                <a:cs typeface="Calibri" pitchFamily="34" charset="-120"/>
              </a:rPr>
              <a:t>Both mandatory criteria met. </a:t>
            </a:r>
            <a:pPr indent="0" marL="0">
              <a:buNone/>
            </a:pPr>
            <a:r>
              <a:rPr lang="en-US" sz="1050" dirty="0">
                <a:solidFill>
                  <a:srgbClr val="6B6472"/>
                </a:solidFill>
                <a:latin typeface="Calibri" pitchFamily="34" charset="0"/>
                <a:ea typeface="Calibri" pitchFamily="34" charset="-122"/>
                <a:cs typeface="Calibri" pitchFamily="34" charset="-120"/>
              </a:rPr>
              <a:t>Working UI; back end writes to a live Sepolia contract.</a:t>
            </a:r>
            <a:endParaRPr lang="en-US" sz="1050" dirty="0"/>
          </a:p>
        </p:txBody>
      </p:sp>
      <p:sp>
        <p:nvSpPr>
          <p:cNvPr id="21" name="Text 18"/>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6B6472"/>
                </a:solidFill>
                <a:latin typeface="Calibri" pitchFamily="34" charset="0"/>
                <a:ea typeface="Calibri" pitchFamily="34" charset="-122"/>
                <a:cs typeface="Calibri" pitchFamily="34" charset="-120"/>
              </a:rPr>
              <a:t>MedChain-FL  ·  Team FedGuard  ·  BCOLBD 2026</a:t>
            </a:r>
            <a:endParaRPr lang="en-US" sz="900" dirty="0"/>
          </a:p>
        </p:txBody>
      </p:sp>
      <p:sp>
        <p:nvSpPr>
          <p:cNvPr id="22" name="Text 1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4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100" b="1" spc="200" kern="0" dirty="0">
                <a:solidFill>
                  <a:srgbClr val="A32B68"/>
                </a:solidFill>
                <a:latin typeface="Calibri" pitchFamily="34" charset="0"/>
                <a:ea typeface="Calibri" pitchFamily="34" charset="-122"/>
                <a:cs typeface="Calibri" pitchFamily="34" charset="-120"/>
              </a:rPr>
              <a:t>GOVERNANCE</a:t>
            </a:r>
            <a:endParaRPr lang="en-US" sz="1100" dirty="0"/>
          </a:p>
        </p:txBody>
      </p:sp>
      <p:sp>
        <p:nvSpPr>
          <p:cNvPr id="3" name="Text 1"/>
          <p:cNvSpPr/>
          <p:nvPr/>
        </p:nvSpPr>
        <p:spPr>
          <a:xfrm>
            <a:off x="548640" y="685800"/>
            <a:ext cx="11064240" cy="777240"/>
          </a:xfrm>
          <a:prstGeom prst="rect">
            <a:avLst/>
          </a:prstGeom>
          <a:noFill/>
          <a:ln/>
        </p:spPr>
        <p:txBody>
          <a:bodyPr wrap="square" rtlCol="0" anchor="ctr"/>
          <a:lstStyle/>
          <a:p>
            <a:pPr indent="0" marL="0">
              <a:lnSpc>
                <a:spcPts val="3000"/>
              </a:lnSpc>
              <a:buNone/>
            </a:pPr>
            <a:r>
              <a:rPr lang="en-US" sz="2600" b="1" dirty="0">
                <a:solidFill>
                  <a:srgbClr val="2E2733"/>
                </a:solidFill>
                <a:latin typeface="Cambria" pitchFamily="34" charset="0"/>
                <a:ea typeface="Cambria" pitchFamily="34" charset="-122"/>
                <a:cs typeface="Cambria" pitchFamily="34" charset="-120"/>
              </a:rPr>
              <a:t>A consortium, with the rules enforced in Solidity</a:t>
            </a:r>
            <a:endParaRPr lang="en-US" sz="2600" dirty="0"/>
          </a:p>
        </p:txBody>
      </p:sp>
      <p:sp>
        <p:nvSpPr>
          <p:cNvPr id="4" name="Shape 2"/>
          <p:cNvSpPr/>
          <p:nvPr/>
        </p:nvSpPr>
        <p:spPr>
          <a:xfrm>
            <a:off x="548640" y="1737360"/>
            <a:ext cx="3520440" cy="3931920"/>
          </a:xfrm>
          <a:prstGeom prst="roundRect">
            <a:avLst>
              <a:gd name="adj" fmla="val 2078"/>
            </a:avLst>
          </a:prstGeom>
          <a:solidFill>
            <a:srgbClr val="FFFFFF"/>
          </a:solidFill>
          <a:ln w="12700">
            <a:solidFill>
              <a:srgbClr val="DFD7DC"/>
            </a:solidFill>
            <a:prstDash val="solid"/>
          </a:ln>
          <a:effectLst>
            <a:outerShdw sx="100000" sy="100000" kx="0" ky="0" algn="bl" rotWithShape="0" blurRad="101600" dist="25400" dir="5400000">
              <a:srgbClr val="000000">
                <a:alpha val="7000"/>
              </a:srgbClr>
            </a:outerShdw>
          </a:effectLst>
        </p:spPr>
      </p:sp>
      <p:sp>
        <p:nvSpPr>
          <p:cNvPr id="5" name="Shape 3"/>
          <p:cNvSpPr/>
          <p:nvPr/>
        </p:nvSpPr>
        <p:spPr>
          <a:xfrm>
            <a:off x="822960" y="1993392"/>
            <a:ext cx="365760" cy="365760"/>
          </a:xfrm>
          <a:prstGeom prst="ellipse">
            <a:avLst/>
          </a:prstGeom>
          <a:solidFill>
            <a:srgbClr val="0E7C7B"/>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325880" y="1965960"/>
            <a:ext cx="2514600" cy="457200"/>
          </a:xfrm>
          <a:prstGeom prst="rect">
            <a:avLst/>
          </a:prstGeom>
          <a:noFill/>
          <a:ln/>
        </p:spPr>
        <p:txBody>
          <a:bodyPr wrap="square" rtlCol="0" anchor="ctr"/>
          <a:lstStyle/>
          <a:p>
            <a:pPr indent="0" marL="0">
              <a:buNone/>
            </a:pPr>
            <a:r>
              <a:rPr lang="en-US" sz="1450" b="1" dirty="0">
                <a:solidFill>
                  <a:srgbClr val="2E2733"/>
                </a:solidFill>
                <a:latin typeface="Calibri" pitchFamily="34" charset="0"/>
                <a:ea typeface="Calibri" pitchFamily="34" charset="-122"/>
                <a:cs typeface="Calibri" pitchFamily="34" charset="-120"/>
              </a:rPr>
              <a:t>Network membership</a:t>
            </a:r>
            <a:endParaRPr lang="en-US" sz="1450" dirty="0"/>
          </a:p>
        </p:txBody>
      </p:sp>
      <p:sp>
        <p:nvSpPr>
          <p:cNvPr id="8" name="Text 6"/>
          <p:cNvSpPr/>
          <p:nvPr/>
        </p:nvSpPr>
        <p:spPr>
          <a:xfrm>
            <a:off x="822960" y="2514600"/>
            <a:ext cx="3063240" cy="731520"/>
          </a:xfrm>
          <a:prstGeom prst="rect">
            <a:avLst/>
          </a:prstGeom>
          <a:noFill/>
          <a:ln/>
        </p:spPr>
        <p:txBody>
          <a:bodyPr wrap="square" rtlCol="0" anchor="ctr"/>
          <a:lstStyle/>
          <a:p>
            <a:pPr indent="0" marL="0">
              <a:lnSpc>
                <a:spcPct val="120000"/>
              </a:lnSpc>
              <a:buNone/>
            </a:pPr>
            <a:r>
              <a:rPr lang="en-US" sz="1200" dirty="0">
                <a:solidFill>
                  <a:srgbClr val="6B6472"/>
                </a:solidFill>
                <a:latin typeface="Calibri" pitchFamily="34" charset="0"/>
                <a:ea typeface="Calibri" pitchFamily="34" charset="-122"/>
                <a:cs typeface="Calibri" pitchFamily="34" charset="-120"/>
              </a:rPr>
              <a:t>•  Operator-approved joining only</a:t>
            </a:r>
            <a:endParaRPr lang="en-US" sz="1200" dirty="0"/>
          </a:p>
        </p:txBody>
      </p:sp>
      <p:sp>
        <p:nvSpPr>
          <p:cNvPr id="9" name="Text 7"/>
          <p:cNvSpPr/>
          <p:nvPr/>
        </p:nvSpPr>
        <p:spPr>
          <a:xfrm>
            <a:off x="822960" y="3291840"/>
            <a:ext cx="3063240" cy="731520"/>
          </a:xfrm>
          <a:prstGeom prst="rect">
            <a:avLst/>
          </a:prstGeom>
          <a:noFill/>
          <a:ln/>
        </p:spPr>
        <p:txBody>
          <a:bodyPr wrap="square" rtlCol="0" anchor="ctr"/>
          <a:lstStyle/>
          <a:p>
            <a:pPr indent="0" marL="0">
              <a:lnSpc>
                <a:spcPct val="120000"/>
              </a:lnSpc>
              <a:buNone/>
            </a:pPr>
            <a:r>
              <a:rPr lang="en-US" sz="1200" dirty="0">
                <a:solidFill>
                  <a:srgbClr val="6B6472"/>
                </a:solidFill>
                <a:latin typeface="Calibri" pitchFamily="34" charset="0"/>
                <a:ea typeface="Calibri" pitchFamily="34" charset="-122"/>
                <a:cs typeface="Calibri" pitchFamily="34" charset="-120"/>
              </a:rPr>
              <a:t>•  Wallet-bound on-chain identity</a:t>
            </a:r>
            <a:endParaRPr lang="en-US" sz="1200" dirty="0"/>
          </a:p>
        </p:txBody>
      </p:sp>
      <p:sp>
        <p:nvSpPr>
          <p:cNvPr id="10" name="Text 8"/>
          <p:cNvSpPr/>
          <p:nvPr/>
        </p:nvSpPr>
        <p:spPr>
          <a:xfrm>
            <a:off x="822960" y="4069080"/>
            <a:ext cx="3063240" cy="731520"/>
          </a:xfrm>
          <a:prstGeom prst="rect">
            <a:avLst/>
          </a:prstGeom>
          <a:noFill/>
          <a:ln/>
        </p:spPr>
        <p:txBody>
          <a:bodyPr wrap="square" rtlCol="0" anchor="ctr"/>
          <a:lstStyle/>
          <a:p>
            <a:pPr indent="0" marL="0">
              <a:lnSpc>
                <a:spcPct val="120000"/>
              </a:lnSpc>
              <a:buNone/>
            </a:pPr>
            <a:r>
              <a:rPr lang="en-US" sz="1200" dirty="0">
                <a:solidFill>
                  <a:srgbClr val="6B6472"/>
                </a:solidFill>
                <a:latin typeface="Calibri" pitchFamily="34" charset="0"/>
                <a:ea typeface="Calibri" pitchFamily="34" charset="-122"/>
                <a:cs typeface="Calibri" pitchFamily="34" charset="-120"/>
              </a:rPr>
              <a:t>•  Revocable — audit history preserved</a:t>
            </a:r>
            <a:endParaRPr lang="en-US" sz="1200" dirty="0"/>
          </a:p>
        </p:txBody>
      </p:sp>
      <p:sp>
        <p:nvSpPr>
          <p:cNvPr id="11" name="Shape 9"/>
          <p:cNvSpPr/>
          <p:nvPr/>
        </p:nvSpPr>
        <p:spPr>
          <a:xfrm>
            <a:off x="4297680" y="1737360"/>
            <a:ext cx="3520440" cy="3931920"/>
          </a:xfrm>
          <a:prstGeom prst="roundRect">
            <a:avLst>
              <a:gd name="adj" fmla="val 2078"/>
            </a:avLst>
          </a:prstGeom>
          <a:solidFill>
            <a:srgbClr val="FFFFFF"/>
          </a:solidFill>
          <a:ln w="12700">
            <a:solidFill>
              <a:srgbClr val="DFD7DC"/>
            </a:solidFill>
            <a:prstDash val="solid"/>
          </a:ln>
          <a:effectLst>
            <a:outerShdw sx="100000" sy="100000" kx="0" ky="0" algn="bl" rotWithShape="0" blurRad="101600" dist="25400" dir="5400000">
              <a:srgbClr val="000000">
                <a:alpha val="7000"/>
              </a:srgbClr>
            </a:outerShdw>
          </a:effectLst>
        </p:spPr>
      </p:sp>
      <p:sp>
        <p:nvSpPr>
          <p:cNvPr id="12" name="Shape 10"/>
          <p:cNvSpPr/>
          <p:nvPr/>
        </p:nvSpPr>
        <p:spPr>
          <a:xfrm>
            <a:off x="4572000" y="1993392"/>
            <a:ext cx="365760" cy="365760"/>
          </a:xfrm>
          <a:prstGeom prst="ellipse">
            <a:avLst/>
          </a:prstGeom>
          <a:solidFill>
            <a:srgbClr val="0E7C7B"/>
          </a:solidFill>
          <a:ln/>
        </p:spPr>
      </p:sp>
      <p:sp>
        <p:nvSpPr>
          <p:cNvPr id="13" name="Text 11"/>
          <p:cNvSpPr/>
          <p:nvPr/>
        </p:nvSpPr>
        <p:spPr>
          <a:xfrm>
            <a:off x="4572000" y="1993392"/>
            <a:ext cx="365760" cy="36576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2"/>
          <p:cNvSpPr/>
          <p:nvPr/>
        </p:nvSpPr>
        <p:spPr>
          <a:xfrm>
            <a:off x="5074920" y="1965960"/>
            <a:ext cx="2514600" cy="457200"/>
          </a:xfrm>
          <a:prstGeom prst="rect">
            <a:avLst/>
          </a:prstGeom>
          <a:noFill/>
          <a:ln/>
        </p:spPr>
        <p:txBody>
          <a:bodyPr wrap="square" rtlCol="0" anchor="ctr"/>
          <a:lstStyle/>
          <a:p>
            <a:pPr indent="0" marL="0">
              <a:buNone/>
            </a:pPr>
            <a:r>
              <a:rPr lang="en-US" sz="1450" b="1" dirty="0">
                <a:solidFill>
                  <a:srgbClr val="2E2733"/>
                </a:solidFill>
                <a:latin typeface="Calibri" pitchFamily="34" charset="0"/>
                <a:ea typeface="Calibri" pitchFamily="34" charset="-122"/>
                <a:cs typeface="Calibri" pitchFamily="34" charset="-120"/>
              </a:rPr>
              <a:t>Business network</a:t>
            </a:r>
            <a:endParaRPr lang="en-US" sz="1450" dirty="0"/>
          </a:p>
        </p:txBody>
      </p:sp>
      <p:sp>
        <p:nvSpPr>
          <p:cNvPr id="15" name="Text 13"/>
          <p:cNvSpPr/>
          <p:nvPr/>
        </p:nvSpPr>
        <p:spPr>
          <a:xfrm>
            <a:off x="4572000" y="2514600"/>
            <a:ext cx="3063240" cy="731520"/>
          </a:xfrm>
          <a:prstGeom prst="rect">
            <a:avLst/>
          </a:prstGeom>
          <a:noFill/>
          <a:ln/>
        </p:spPr>
        <p:txBody>
          <a:bodyPr wrap="square" rtlCol="0" anchor="ctr"/>
          <a:lstStyle/>
          <a:p>
            <a:pPr indent="0" marL="0">
              <a:lnSpc>
                <a:spcPct val="120000"/>
              </a:lnSpc>
              <a:buNone/>
            </a:pPr>
            <a:r>
              <a:rPr lang="en-US" sz="1200" dirty="0">
                <a:solidFill>
                  <a:srgbClr val="6B6472"/>
                </a:solidFill>
                <a:latin typeface="Calibri" pitchFamily="34" charset="0"/>
                <a:ea typeface="Calibri" pitchFamily="34" charset="-122"/>
                <a:cs typeface="Calibri" pitchFamily="34" charset="-120"/>
              </a:rPr>
              <a:t>•  Charter fixes schedule &amp; versioning</a:t>
            </a:r>
            <a:endParaRPr lang="en-US" sz="1200" dirty="0"/>
          </a:p>
        </p:txBody>
      </p:sp>
      <p:sp>
        <p:nvSpPr>
          <p:cNvPr id="16" name="Text 14"/>
          <p:cNvSpPr/>
          <p:nvPr/>
        </p:nvSpPr>
        <p:spPr>
          <a:xfrm>
            <a:off x="4572000" y="3291840"/>
            <a:ext cx="3063240" cy="731520"/>
          </a:xfrm>
          <a:prstGeom prst="rect">
            <a:avLst/>
          </a:prstGeom>
          <a:noFill/>
          <a:ln/>
        </p:spPr>
        <p:txBody>
          <a:bodyPr wrap="square" rtlCol="0" anchor="ctr"/>
          <a:lstStyle/>
          <a:p>
            <a:pPr indent="0" marL="0">
              <a:lnSpc>
                <a:spcPct val="120000"/>
              </a:lnSpc>
              <a:buNone/>
            </a:pPr>
            <a:r>
              <a:rPr lang="en-US" sz="1200" dirty="0">
                <a:solidFill>
                  <a:srgbClr val="6B6472"/>
                </a:solidFill>
                <a:latin typeface="Calibri" pitchFamily="34" charset="0"/>
                <a:ea typeface="Calibri" pitchFamily="34" charset="-122"/>
                <a:cs typeface="Calibri" pitchFamily="34" charset="-120"/>
              </a:rPr>
              <a:t>•  SLA: weekly rounds, 99% completion</a:t>
            </a:r>
            <a:endParaRPr lang="en-US" sz="1200" dirty="0"/>
          </a:p>
        </p:txBody>
      </p:sp>
      <p:sp>
        <p:nvSpPr>
          <p:cNvPr id="17" name="Text 15"/>
          <p:cNvSpPr/>
          <p:nvPr/>
        </p:nvSpPr>
        <p:spPr>
          <a:xfrm>
            <a:off x="4572000" y="4069080"/>
            <a:ext cx="3063240" cy="731520"/>
          </a:xfrm>
          <a:prstGeom prst="rect">
            <a:avLst/>
          </a:prstGeom>
          <a:noFill/>
          <a:ln/>
        </p:spPr>
        <p:txBody>
          <a:bodyPr wrap="square" rtlCol="0" anchor="ctr"/>
          <a:lstStyle/>
          <a:p>
            <a:pPr indent="0" marL="0">
              <a:lnSpc>
                <a:spcPct val="120000"/>
              </a:lnSpc>
              <a:buNone/>
            </a:pPr>
            <a:r>
              <a:rPr lang="en-US" sz="1200" dirty="0">
                <a:solidFill>
                  <a:srgbClr val="6B6472"/>
                </a:solidFill>
                <a:latin typeface="Calibri" pitchFamily="34" charset="0"/>
                <a:ea typeface="Calibri" pitchFamily="34" charset="-122"/>
                <a:cs typeface="Calibri" pitchFamily="34" charset="-120"/>
              </a:rPr>
              <a:t>•  PDPO-aligned reporting, standing</a:t>
            </a:r>
            <a:endParaRPr lang="en-US" sz="1200" dirty="0"/>
          </a:p>
        </p:txBody>
      </p:sp>
      <p:sp>
        <p:nvSpPr>
          <p:cNvPr id="18" name="Shape 16"/>
          <p:cNvSpPr/>
          <p:nvPr/>
        </p:nvSpPr>
        <p:spPr>
          <a:xfrm>
            <a:off x="8046720" y="1737360"/>
            <a:ext cx="3520440" cy="3931920"/>
          </a:xfrm>
          <a:prstGeom prst="roundRect">
            <a:avLst>
              <a:gd name="adj" fmla="val 2078"/>
            </a:avLst>
          </a:prstGeom>
          <a:solidFill>
            <a:srgbClr val="FFFFFF"/>
          </a:solidFill>
          <a:ln w="12700">
            <a:solidFill>
              <a:srgbClr val="DFD7DC"/>
            </a:solidFill>
            <a:prstDash val="solid"/>
          </a:ln>
          <a:effectLst>
            <a:outerShdw sx="100000" sy="100000" kx="0" ky="0" algn="bl" rotWithShape="0" blurRad="101600" dist="25400" dir="5400000">
              <a:srgbClr val="000000">
                <a:alpha val="7000"/>
              </a:srgbClr>
            </a:outerShdw>
          </a:effectLst>
        </p:spPr>
      </p:sp>
      <p:sp>
        <p:nvSpPr>
          <p:cNvPr id="19" name="Shape 17"/>
          <p:cNvSpPr/>
          <p:nvPr/>
        </p:nvSpPr>
        <p:spPr>
          <a:xfrm>
            <a:off x="8321040" y="1993392"/>
            <a:ext cx="365760" cy="365760"/>
          </a:xfrm>
          <a:prstGeom prst="ellipse">
            <a:avLst/>
          </a:prstGeom>
          <a:solidFill>
            <a:srgbClr val="0E7C7B"/>
          </a:solidFill>
          <a:ln/>
        </p:spPr>
      </p:sp>
      <p:sp>
        <p:nvSpPr>
          <p:cNvPr id="20" name="Text 18"/>
          <p:cNvSpPr/>
          <p:nvPr/>
        </p:nvSpPr>
        <p:spPr>
          <a:xfrm>
            <a:off x="8321040" y="1993392"/>
            <a:ext cx="365760" cy="36576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1" name="Text 19"/>
          <p:cNvSpPr/>
          <p:nvPr/>
        </p:nvSpPr>
        <p:spPr>
          <a:xfrm>
            <a:off x="8823960" y="1965960"/>
            <a:ext cx="2514600" cy="457200"/>
          </a:xfrm>
          <a:prstGeom prst="rect">
            <a:avLst/>
          </a:prstGeom>
          <a:noFill/>
          <a:ln/>
        </p:spPr>
        <p:txBody>
          <a:bodyPr wrap="square" rtlCol="0" anchor="ctr"/>
          <a:lstStyle/>
          <a:p>
            <a:pPr indent="0" marL="0">
              <a:buNone/>
            </a:pPr>
            <a:r>
              <a:rPr lang="en-US" sz="1450" b="1" dirty="0">
                <a:solidFill>
                  <a:srgbClr val="2E2733"/>
                </a:solidFill>
                <a:latin typeface="Calibri" pitchFamily="34" charset="0"/>
                <a:ea typeface="Calibri" pitchFamily="34" charset="-122"/>
                <a:cs typeface="Calibri" pitchFamily="34" charset="-120"/>
              </a:rPr>
              <a:t>Technology infrastructure</a:t>
            </a:r>
            <a:endParaRPr lang="en-US" sz="1450" dirty="0"/>
          </a:p>
        </p:txBody>
      </p:sp>
      <p:sp>
        <p:nvSpPr>
          <p:cNvPr id="22" name="Text 20"/>
          <p:cNvSpPr/>
          <p:nvPr/>
        </p:nvSpPr>
        <p:spPr>
          <a:xfrm>
            <a:off x="8321040" y="2514600"/>
            <a:ext cx="3063240" cy="731520"/>
          </a:xfrm>
          <a:prstGeom prst="rect">
            <a:avLst/>
          </a:prstGeom>
          <a:noFill/>
          <a:ln/>
        </p:spPr>
        <p:txBody>
          <a:bodyPr wrap="square" rtlCol="0" anchor="ctr"/>
          <a:lstStyle/>
          <a:p>
            <a:pPr indent="0" marL="0">
              <a:lnSpc>
                <a:spcPct val="120000"/>
              </a:lnSpc>
              <a:buNone/>
            </a:pPr>
            <a:r>
              <a:rPr lang="en-US" sz="1200" dirty="0">
                <a:solidFill>
                  <a:srgbClr val="6B6472"/>
                </a:solidFill>
                <a:latin typeface="Calibri" pitchFamily="34" charset="0"/>
                <a:ea typeface="Calibri" pitchFamily="34" charset="-122"/>
                <a:cs typeface="Calibri" pitchFamily="34" charset="-120"/>
              </a:rPr>
              <a:t>•  On-premise clients at each hospital</a:t>
            </a:r>
            <a:endParaRPr lang="en-US" sz="1200" dirty="0"/>
          </a:p>
        </p:txBody>
      </p:sp>
      <p:sp>
        <p:nvSpPr>
          <p:cNvPr id="23" name="Text 21"/>
          <p:cNvSpPr/>
          <p:nvPr/>
        </p:nvSpPr>
        <p:spPr>
          <a:xfrm>
            <a:off x="8321040" y="3291840"/>
            <a:ext cx="3063240" cy="731520"/>
          </a:xfrm>
          <a:prstGeom prst="rect">
            <a:avLst/>
          </a:prstGeom>
          <a:noFill/>
          <a:ln/>
        </p:spPr>
        <p:txBody>
          <a:bodyPr wrap="square" rtlCol="0" anchor="ctr"/>
          <a:lstStyle/>
          <a:p>
            <a:pPr indent="0" marL="0">
              <a:lnSpc>
                <a:spcPct val="120000"/>
              </a:lnSpc>
              <a:buNone/>
            </a:pPr>
            <a:r>
              <a:rPr lang="en-US" sz="1200" dirty="0">
                <a:solidFill>
                  <a:srgbClr val="6B6472"/>
                </a:solidFill>
                <a:latin typeface="Calibri" pitchFamily="34" charset="0"/>
                <a:ea typeface="Calibri" pitchFamily="34" charset="-122"/>
                <a:cs typeface="Calibri" pitchFamily="34" charset="-120"/>
              </a:rPr>
              <a:t>•  Redundant IPFS pinning network</a:t>
            </a:r>
            <a:endParaRPr lang="en-US" sz="1200" dirty="0"/>
          </a:p>
        </p:txBody>
      </p:sp>
      <p:sp>
        <p:nvSpPr>
          <p:cNvPr id="24" name="Text 22"/>
          <p:cNvSpPr/>
          <p:nvPr/>
        </p:nvSpPr>
        <p:spPr>
          <a:xfrm>
            <a:off x="8321040" y="4069080"/>
            <a:ext cx="3063240" cy="731520"/>
          </a:xfrm>
          <a:prstGeom prst="rect">
            <a:avLst/>
          </a:prstGeom>
          <a:noFill/>
          <a:ln/>
        </p:spPr>
        <p:txBody>
          <a:bodyPr wrap="square" rtlCol="0" anchor="ctr"/>
          <a:lstStyle/>
          <a:p>
            <a:pPr indent="0" marL="0">
              <a:lnSpc>
                <a:spcPct val="120000"/>
              </a:lnSpc>
              <a:buNone/>
            </a:pPr>
            <a:r>
              <a:rPr lang="en-US" sz="1200" dirty="0">
                <a:solidFill>
                  <a:srgbClr val="6B6472"/>
                </a:solidFill>
                <a:latin typeface="Calibri" pitchFamily="34" charset="0"/>
                <a:ea typeface="Calibri" pitchFamily="34" charset="-122"/>
                <a:cs typeface="Calibri" pitchFamily="34" charset="-120"/>
              </a:rPr>
              <a:t>•  Shared node operation, no single custodian</a:t>
            </a:r>
            <a:endParaRPr lang="en-US" sz="1200" dirty="0"/>
          </a:p>
        </p:txBody>
      </p:sp>
      <p:sp>
        <p:nvSpPr>
          <p:cNvPr id="25" name="Text 23"/>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6B6472"/>
                </a:solidFill>
                <a:latin typeface="Calibri" pitchFamily="34" charset="0"/>
                <a:ea typeface="Calibri" pitchFamily="34" charset="-122"/>
                <a:cs typeface="Calibri" pitchFamily="34" charset="-120"/>
              </a:rPr>
              <a:t>MedChain-FL  ·  Team FedGuard  ·  BCOLBD 2026</a:t>
            </a:r>
            <a:endParaRPr lang="en-US" sz="900" dirty="0"/>
          </a:p>
        </p:txBody>
      </p:sp>
      <p:sp>
        <p:nvSpPr>
          <p:cNvPr id="26" name="Text 2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47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100" b="1" spc="200" kern="0" dirty="0">
                <a:solidFill>
                  <a:srgbClr val="A32B68"/>
                </a:solidFill>
                <a:latin typeface="Calibri" pitchFamily="34" charset="0"/>
                <a:ea typeface="Calibri" pitchFamily="34" charset="-122"/>
                <a:cs typeface="Calibri" pitchFamily="34" charset="-120"/>
              </a:rPr>
              <a:t>PRIVACY, SECURITY &amp; RISK</a:t>
            </a:r>
            <a:endParaRPr lang="en-US" sz="1100" dirty="0"/>
          </a:p>
        </p:txBody>
      </p:sp>
      <p:sp>
        <p:nvSpPr>
          <p:cNvPr id="3" name="Text 1"/>
          <p:cNvSpPr/>
          <p:nvPr/>
        </p:nvSpPr>
        <p:spPr>
          <a:xfrm>
            <a:off x="548640" y="685800"/>
            <a:ext cx="11064240" cy="777240"/>
          </a:xfrm>
          <a:prstGeom prst="rect">
            <a:avLst/>
          </a:prstGeom>
          <a:noFill/>
          <a:ln/>
        </p:spPr>
        <p:txBody>
          <a:bodyPr wrap="square" rtlCol="0" anchor="ctr"/>
          <a:lstStyle/>
          <a:p>
            <a:pPr indent="0" marL="0">
              <a:lnSpc>
                <a:spcPts val="3000"/>
              </a:lnSpc>
              <a:buNone/>
            </a:pPr>
            <a:r>
              <a:rPr lang="en-US" sz="2600" b="1" dirty="0">
                <a:solidFill>
                  <a:srgbClr val="2E2733"/>
                </a:solidFill>
                <a:latin typeface="Cambria" pitchFamily="34" charset="0"/>
                <a:ea typeface="Cambria" pitchFamily="34" charset="-122"/>
                <a:cs typeface="Cambria" pitchFamily="34" charset="-120"/>
              </a:rPr>
              <a:t>Six attack vectors — and where we're still exposed</a:t>
            </a:r>
            <a:endParaRPr lang="en-US" sz="2600" dirty="0"/>
          </a:p>
        </p:txBody>
      </p:sp>
      <p:sp>
        <p:nvSpPr>
          <p:cNvPr id="4" name="Text 2"/>
          <p:cNvSpPr/>
          <p:nvPr/>
        </p:nvSpPr>
        <p:spPr>
          <a:xfrm>
            <a:off x="548640" y="1737360"/>
            <a:ext cx="2377440" cy="320040"/>
          </a:xfrm>
          <a:prstGeom prst="rect">
            <a:avLst/>
          </a:prstGeom>
          <a:noFill/>
          <a:ln/>
        </p:spPr>
        <p:txBody>
          <a:bodyPr wrap="square" rtlCol="0" anchor="ctr"/>
          <a:lstStyle/>
          <a:p>
            <a:pPr indent="0" marL="0">
              <a:buNone/>
            </a:pPr>
            <a:r>
              <a:rPr lang="en-US" sz="1100" b="1" spc="100" kern="0" dirty="0">
                <a:solidFill>
                  <a:srgbClr val="6B6472"/>
                </a:solidFill>
                <a:latin typeface="Calibri" pitchFamily="34" charset="0"/>
                <a:ea typeface="Calibri" pitchFamily="34" charset="-122"/>
                <a:cs typeface="Calibri" pitchFamily="34" charset="-120"/>
              </a:rPr>
              <a:t>THREAT</a:t>
            </a:r>
            <a:endParaRPr lang="en-US" sz="1100" dirty="0"/>
          </a:p>
        </p:txBody>
      </p:sp>
      <p:sp>
        <p:nvSpPr>
          <p:cNvPr id="5" name="Text 3"/>
          <p:cNvSpPr/>
          <p:nvPr/>
        </p:nvSpPr>
        <p:spPr>
          <a:xfrm>
            <a:off x="3017520" y="1737360"/>
            <a:ext cx="6400800" cy="320040"/>
          </a:xfrm>
          <a:prstGeom prst="rect">
            <a:avLst/>
          </a:prstGeom>
          <a:noFill/>
          <a:ln/>
        </p:spPr>
        <p:txBody>
          <a:bodyPr wrap="square" rtlCol="0" anchor="ctr"/>
          <a:lstStyle/>
          <a:p>
            <a:pPr indent="0" marL="0">
              <a:buNone/>
            </a:pPr>
            <a:r>
              <a:rPr lang="en-US" sz="1100" b="1" spc="100" kern="0" dirty="0">
                <a:solidFill>
                  <a:srgbClr val="6B6472"/>
                </a:solidFill>
                <a:latin typeface="Calibri" pitchFamily="34" charset="0"/>
                <a:ea typeface="Calibri" pitchFamily="34" charset="-122"/>
                <a:cs typeface="Calibri" pitchFamily="34" charset="-120"/>
              </a:rPr>
              <a:t>RESPONSE</a:t>
            </a:r>
            <a:endParaRPr lang="en-US" sz="1100" dirty="0"/>
          </a:p>
        </p:txBody>
      </p:sp>
      <p:sp>
        <p:nvSpPr>
          <p:cNvPr id="6" name="Text 4"/>
          <p:cNvSpPr/>
          <p:nvPr/>
        </p:nvSpPr>
        <p:spPr>
          <a:xfrm>
            <a:off x="9692640" y="1737360"/>
            <a:ext cx="1828800" cy="320040"/>
          </a:xfrm>
          <a:prstGeom prst="rect">
            <a:avLst/>
          </a:prstGeom>
          <a:noFill/>
          <a:ln/>
        </p:spPr>
        <p:txBody>
          <a:bodyPr wrap="square" rtlCol="0" anchor="ctr"/>
          <a:lstStyle/>
          <a:p>
            <a:pPr indent="0" marL="0">
              <a:buNone/>
            </a:pPr>
            <a:r>
              <a:rPr lang="en-US" sz="1100" b="1" spc="100" kern="0" dirty="0">
                <a:solidFill>
                  <a:srgbClr val="6B6472"/>
                </a:solidFill>
                <a:latin typeface="Calibri" pitchFamily="34" charset="0"/>
                <a:ea typeface="Calibri" pitchFamily="34" charset="-122"/>
                <a:cs typeface="Calibri" pitchFamily="34" charset="-120"/>
              </a:rPr>
              <a:t>STATUS</a:t>
            </a:r>
            <a:endParaRPr lang="en-US" sz="1100" dirty="0"/>
          </a:p>
        </p:txBody>
      </p:sp>
      <p:sp>
        <p:nvSpPr>
          <p:cNvPr id="7" name="Shape 5"/>
          <p:cNvSpPr/>
          <p:nvPr/>
        </p:nvSpPr>
        <p:spPr>
          <a:xfrm>
            <a:off x="548640" y="2084832"/>
            <a:ext cx="11064240" cy="0"/>
          </a:xfrm>
          <a:prstGeom prst="line">
            <a:avLst/>
          </a:prstGeom>
          <a:noFill/>
          <a:ln w="12700">
            <a:solidFill>
              <a:srgbClr val="C9BFCC"/>
            </a:solidFill>
            <a:prstDash val="solid"/>
          </a:ln>
        </p:spPr>
      </p:sp>
      <p:sp>
        <p:nvSpPr>
          <p:cNvPr id="8" name="Text 6"/>
          <p:cNvSpPr/>
          <p:nvPr/>
        </p:nvSpPr>
        <p:spPr>
          <a:xfrm>
            <a:off x="548640" y="2194560"/>
            <a:ext cx="2377440" cy="438912"/>
          </a:xfrm>
          <a:prstGeom prst="rect">
            <a:avLst/>
          </a:prstGeom>
          <a:noFill/>
          <a:ln/>
        </p:spPr>
        <p:txBody>
          <a:bodyPr wrap="square" rtlCol="0" anchor="ctr"/>
          <a:lstStyle/>
          <a:p>
            <a:pPr indent="0" marL="0">
              <a:buNone/>
            </a:pPr>
            <a:r>
              <a:rPr lang="en-US" sz="1200" b="1" dirty="0">
                <a:solidFill>
                  <a:srgbClr val="2E2733"/>
                </a:solidFill>
                <a:latin typeface="Calibri" pitchFamily="34" charset="0"/>
                <a:ea typeface="Calibri" pitchFamily="34" charset="-122"/>
                <a:cs typeface="Calibri" pitchFamily="34" charset="-120"/>
              </a:rPr>
              <a:t>Data poisoning</a:t>
            </a:r>
            <a:endParaRPr lang="en-US" sz="1200" dirty="0"/>
          </a:p>
        </p:txBody>
      </p:sp>
      <p:sp>
        <p:nvSpPr>
          <p:cNvPr id="9" name="Text 7"/>
          <p:cNvSpPr/>
          <p:nvPr/>
        </p:nvSpPr>
        <p:spPr>
          <a:xfrm>
            <a:off x="3017520" y="2194560"/>
            <a:ext cx="6400800" cy="438912"/>
          </a:xfrm>
          <a:prstGeom prst="rect">
            <a:avLst/>
          </a:prstGeom>
          <a:noFill/>
          <a:ln/>
        </p:spPr>
        <p:txBody>
          <a:bodyPr wrap="square" rtlCol="0" anchor="ctr"/>
          <a:lstStyle/>
          <a:p>
            <a:pPr indent="0" marL="0">
              <a:buNone/>
            </a:pPr>
            <a:r>
              <a:rPr lang="en-US" sz="1150" dirty="0">
                <a:solidFill>
                  <a:srgbClr val="6B6472"/>
                </a:solidFill>
                <a:latin typeface="Calibri" pitchFamily="34" charset="0"/>
                <a:ea typeface="Calibri" pitchFamily="34" charset="-122"/>
                <a:cs typeface="Calibri" pitchFamily="34" charset="-120"/>
              </a:rPr>
              <a:t>Encrypted, weighted averaging + outlier detection</a:t>
            </a:r>
            <a:endParaRPr lang="en-US" sz="1150" dirty="0"/>
          </a:p>
        </p:txBody>
      </p:sp>
      <p:sp>
        <p:nvSpPr>
          <p:cNvPr id="10" name="Shape 8"/>
          <p:cNvSpPr/>
          <p:nvPr/>
        </p:nvSpPr>
        <p:spPr>
          <a:xfrm>
            <a:off x="9692640" y="2249424"/>
            <a:ext cx="1371600" cy="329184"/>
          </a:xfrm>
          <a:prstGeom prst="roundRect">
            <a:avLst>
              <a:gd name="adj" fmla="val 50000"/>
            </a:avLst>
          </a:prstGeom>
          <a:solidFill>
            <a:srgbClr val="DCEEE9"/>
          </a:solidFill>
          <a:ln/>
        </p:spPr>
      </p:sp>
      <p:sp>
        <p:nvSpPr>
          <p:cNvPr id="11" name="Text 9"/>
          <p:cNvSpPr/>
          <p:nvPr/>
        </p:nvSpPr>
        <p:spPr>
          <a:xfrm>
            <a:off x="9692640" y="2249424"/>
            <a:ext cx="1371600" cy="329184"/>
          </a:xfrm>
          <a:prstGeom prst="rect">
            <a:avLst/>
          </a:prstGeom>
          <a:noFill/>
          <a:ln/>
        </p:spPr>
        <p:txBody>
          <a:bodyPr wrap="square" rtlCol="0" anchor="ctr"/>
          <a:lstStyle/>
          <a:p>
            <a:pPr algn="ctr" indent="0" marL="0">
              <a:buNone/>
            </a:pPr>
            <a:r>
              <a:rPr lang="en-US" sz="1000" b="1" dirty="0">
                <a:solidFill>
                  <a:srgbClr val="0E7C7B"/>
                </a:solidFill>
                <a:latin typeface="Calibri" pitchFamily="34" charset="0"/>
                <a:ea typeface="Calibri" pitchFamily="34" charset="-122"/>
                <a:cs typeface="Calibri" pitchFamily="34" charset="-120"/>
              </a:rPr>
              <a:t>Mitigated</a:t>
            </a:r>
            <a:endParaRPr lang="en-US" sz="1000" dirty="0"/>
          </a:p>
        </p:txBody>
      </p:sp>
      <p:sp>
        <p:nvSpPr>
          <p:cNvPr id="12" name="Shape 10"/>
          <p:cNvSpPr/>
          <p:nvPr/>
        </p:nvSpPr>
        <p:spPr>
          <a:xfrm>
            <a:off x="548640" y="2651760"/>
            <a:ext cx="11064240" cy="0"/>
          </a:xfrm>
          <a:prstGeom prst="line">
            <a:avLst/>
          </a:prstGeom>
          <a:noFill/>
          <a:ln w="9525">
            <a:solidFill>
              <a:srgbClr val="EAE3E7"/>
            </a:solidFill>
            <a:prstDash val="solid"/>
          </a:ln>
        </p:spPr>
      </p:sp>
      <p:sp>
        <p:nvSpPr>
          <p:cNvPr id="13" name="Text 11"/>
          <p:cNvSpPr/>
          <p:nvPr/>
        </p:nvSpPr>
        <p:spPr>
          <a:xfrm>
            <a:off x="548640" y="2670048"/>
            <a:ext cx="2377440" cy="438912"/>
          </a:xfrm>
          <a:prstGeom prst="rect">
            <a:avLst/>
          </a:prstGeom>
          <a:noFill/>
          <a:ln/>
        </p:spPr>
        <p:txBody>
          <a:bodyPr wrap="square" rtlCol="0" anchor="ctr"/>
          <a:lstStyle/>
          <a:p>
            <a:pPr indent="0" marL="0">
              <a:buNone/>
            </a:pPr>
            <a:r>
              <a:rPr lang="en-US" sz="1200" b="1" dirty="0">
                <a:solidFill>
                  <a:srgbClr val="2E2733"/>
                </a:solidFill>
                <a:latin typeface="Calibri" pitchFamily="34" charset="0"/>
                <a:ea typeface="Calibri" pitchFamily="34" charset="-122"/>
                <a:cs typeface="Calibri" pitchFamily="34" charset="-120"/>
              </a:rPr>
              <a:t>Free-riding hospital</a:t>
            </a:r>
            <a:endParaRPr lang="en-US" sz="1200" dirty="0"/>
          </a:p>
        </p:txBody>
      </p:sp>
      <p:sp>
        <p:nvSpPr>
          <p:cNvPr id="14" name="Text 12"/>
          <p:cNvSpPr/>
          <p:nvPr/>
        </p:nvSpPr>
        <p:spPr>
          <a:xfrm>
            <a:off x="3017520" y="2670048"/>
            <a:ext cx="6400800" cy="438912"/>
          </a:xfrm>
          <a:prstGeom prst="rect">
            <a:avLst/>
          </a:prstGeom>
          <a:noFill/>
          <a:ln/>
        </p:spPr>
        <p:txBody>
          <a:bodyPr wrap="square" rtlCol="0" anchor="ctr"/>
          <a:lstStyle/>
          <a:p>
            <a:pPr indent="0" marL="0">
              <a:buNone/>
            </a:pPr>
            <a:r>
              <a:rPr lang="en-US" sz="1150" dirty="0">
                <a:solidFill>
                  <a:srgbClr val="6B6472"/>
                </a:solidFill>
                <a:latin typeface="Calibri" pitchFamily="34" charset="0"/>
                <a:ea typeface="Calibri" pitchFamily="34" charset="-122"/>
                <a:cs typeface="Calibri" pitchFamily="34" charset="-120"/>
              </a:rPr>
              <a:t>Round can't close without all submissions</a:t>
            </a:r>
            <a:endParaRPr lang="en-US" sz="1150" dirty="0"/>
          </a:p>
        </p:txBody>
      </p:sp>
      <p:sp>
        <p:nvSpPr>
          <p:cNvPr id="15" name="Shape 13"/>
          <p:cNvSpPr/>
          <p:nvPr/>
        </p:nvSpPr>
        <p:spPr>
          <a:xfrm>
            <a:off x="9692640" y="2724912"/>
            <a:ext cx="1371600" cy="329184"/>
          </a:xfrm>
          <a:prstGeom prst="roundRect">
            <a:avLst>
              <a:gd name="adj" fmla="val 50000"/>
            </a:avLst>
          </a:prstGeom>
          <a:solidFill>
            <a:srgbClr val="DCEEE9"/>
          </a:solidFill>
          <a:ln/>
        </p:spPr>
      </p:sp>
      <p:sp>
        <p:nvSpPr>
          <p:cNvPr id="16" name="Text 14"/>
          <p:cNvSpPr/>
          <p:nvPr/>
        </p:nvSpPr>
        <p:spPr>
          <a:xfrm>
            <a:off x="9692640" y="2724912"/>
            <a:ext cx="1371600" cy="329184"/>
          </a:xfrm>
          <a:prstGeom prst="rect">
            <a:avLst/>
          </a:prstGeom>
          <a:noFill/>
          <a:ln/>
        </p:spPr>
        <p:txBody>
          <a:bodyPr wrap="square" rtlCol="0" anchor="ctr"/>
          <a:lstStyle/>
          <a:p>
            <a:pPr algn="ctr" indent="0" marL="0">
              <a:buNone/>
            </a:pPr>
            <a:r>
              <a:rPr lang="en-US" sz="1000" b="1" dirty="0">
                <a:solidFill>
                  <a:srgbClr val="0E7C7B"/>
                </a:solidFill>
                <a:latin typeface="Calibri" pitchFamily="34" charset="0"/>
                <a:ea typeface="Calibri" pitchFamily="34" charset="-122"/>
                <a:cs typeface="Calibri" pitchFamily="34" charset="-120"/>
              </a:rPr>
              <a:t>Mitigated</a:t>
            </a:r>
            <a:endParaRPr lang="en-US" sz="1000" dirty="0"/>
          </a:p>
        </p:txBody>
      </p:sp>
      <p:sp>
        <p:nvSpPr>
          <p:cNvPr id="17" name="Shape 15"/>
          <p:cNvSpPr/>
          <p:nvPr/>
        </p:nvSpPr>
        <p:spPr>
          <a:xfrm>
            <a:off x="548640" y="3127248"/>
            <a:ext cx="11064240" cy="0"/>
          </a:xfrm>
          <a:prstGeom prst="line">
            <a:avLst/>
          </a:prstGeom>
          <a:noFill/>
          <a:ln w="9525">
            <a:solidFill>
              <a:srgbClr val="EAE3E7"/>
            </a:solidFill>
            <a:prstDash val="solid"/>
          </a:ln>
        </p:spPr>
      </p:sp>
      <p:sp>
        <p:nvSpPr>
          <p:cNvPr id="18" name="Text 16"/>
          <p:cNvSpPr/>
          <p:nvPr/>
        </p:nvSpPr>
        <p:spPr>
          <a:xfrm>
            <a:off x="548640" y="3145536"/>
            <a:ext cx="2377440" cy="438912"/>
          </a:xfrm>
          <a:prstGeom prst="rect">
            <a:avLst/>
          </a:prstGeom>
          <a:noFill/>
          <a:ln/>
        </p:spPr>
        <p:txBody>
          <a:bodyPr wrap="square" rtlCol="0" anchor="ctr"/>
          <a:lstStyle/>
          <a:p>
            <a:pPr indent="0" marL="0">
              <a:buNone/>
            </a:pPr>
            <a:r>
              <a:rPr lang="en-US" sz="1200" b="1" dirty="0">
                <a:solidFill>
                  <a:srgbClr val="2E2733"/>
                </a:solidFill>
                <a:latin typeface="Calibri" pitchFamily="34" charset="0"/>
                <a:ea typeface="Calibri" pitchFamily="34" charset="-122"/>
                <a:cs typeface="Calibri" pitchFamily="34" charset="-120"/>
              </a:rPr>
              <a:t>Man-in-the-middle</a:t>
            </a:r>
            <a:endParaRPr lang="en-US" sz="1200" dirty="0"/>
          </a:p>
        </p:txBody>
      </p:sp>
      <p:sp>
        <p:nvSpPr>
          <p:cNvPr id="19" name="Text 17"/>
          <p:cNvSpPr/>
          <p:nvPr/>
        </p:nvSpPr>
        <p:spPr>
          <a:xfrm>
            <a:off x="3017520" y="3145536"/>
            <a:ext cx="6400800" cy="438912"/>
          </a:xfrm>
          <a:prstGeom prst="rect">
            <a:avLst/>
          </a:prstGeom>
          <a:noFill/>
          <a:ln/>
        </p:spPr>
        <p:txBody>
          <a:bodyPr wrap="square" rtlCol="0" anchor="ctr"/>
          <a:lstStyle/>
          <a:p>
            <a:pPr indent="0" marL="0">
              <a:buNone/>
            </a:pPr>
            <a:r>
              <a:rPr lang="en-US" sz="1150" dirty="0">
                <a:solidFill>
                  <a:srgbClr val="6B6472"/>
                </a:solidFill>
                <a:latin typeface="Calibri" pitchFamily="34" charset="0"/>
                <a:ea typeface="Calibri" pitchFamily="34" charset="-122"/>
                <a:cs typeface="Calibri" pitchFamily="34" charset="-120"/>
              </a:rPr>
              <a:t>AES-256-CBC + content-addressed integrity</a:t>
            </a:r>
            <a:endParaRPr lang="en-US" sz="1150" dirty="0"/>
          </a:p>
        </p:txBody>
      </p:sp>
      <p:sp>
        <p:nvSpPr>
          <p:cNvPr id="20" name="Shape 18"/>
          <p:cNvSpPr/>
          <p:nvPr/>
        </p:nvSpPr>
        <p:spPr>
          <a:xfrm>
            <a:off x="9692640" y="3200400"/>
            <a:ext cx="1371600" cy="329184"/>
          </a:xfrm>
          <a:prstGeom prst="roundRect">
            <a:avLst>
              <a:gd name="adj" fmla="val 50000"/>
            </a:avLst>
          </a:prstGeom>
          <a:solidFill>
            <a:srgbClr val="DCEEE9"/>
          </a:solidFill>
          <a:ln/>
        </p:spPr>
      </p:sp>
      <p:sp>
        <p:nvSpPr>
          <p:cNvPr id="21" name="Text 19"/>
          <p:cNvSpPr/>
          <p:nvPr/>
        </p:nvSpPr>
        <p:spPr>
          <a:xfrm>
            <a:off x="9692640" y="3200400"/>
            <a:ext cx="1371600" cy="329184"/>
          </a:xfrm>
          <a:prstGeom prst="rect">
            <a:avLst/>
          </a:prstGeom>
          <a:noFill/>
          <a:ln/>
        </p:spPr>
        <p:txBody>
          <a:bodyPr wrap="square" rtlCol="0" anchor="ctr"/>
          <a:lstStyle/>
          <a:p>
            <a:pPr algn="ctr" indent="0" marL="0">
              <a:buNone/>
            </a:pPr>
            <a:r>
              <a:rPr lang="en-US" sz="1000" b="1" dirty="0">
                <a:solidFill>
                  <a:srgbClr val="0E7C7B"/>
                </a:solidFill>
                <a:latin typeface="Calibri" pitchFamily="34" charset="0"/>
                <a:ea typeface="Calibri" pitchFamily="34" charset="-122"/>
                <a:cs typeface="Calibri" pitchFamily="34" charset="-120"/>
              </a:rPr>
              <a:t>Mitigated</a:t>
            </a:r>
            <a:endParaRPr lang="en-US" sz="1000" dirty="0"/>
          </a:p>
        </p:txBody>
      </p:sp>
      <p:sp>
        <p:nvSpPr>
          <p:cNvPr id="22" name="Shape 20"/>
          <p:cNvSpPr/>
          <p:nvPr/>
        </p:nvSpPr>
        <p:spPr>
          <a:xfrm>
            <a:off x="548640" y="3602736"/>
            <a:ext cx="11064240" cy="0"/>
          </a:xfrm>
          <a:prstGeom prst="line">
            <a:avLst/>
          </a:prstGeom>
          <a:noFill/>
          <a:ln w="9525">
            <a:solidFill>
              <a:srgbClr val="EAE3E7"/>
            </a:solidFill>
            <a:prstDash val="solid"/>
          </a:ln>
        </p:spPr>
      </p:sp>
      <p:sp>
        <p:nvSpPr>
          <p:cNvPr id="23" name="Text 21"/>
          <p:cNvSpPr/>
          <p:nvPr/>
        </p:nvSpPr>
        <p:spPr>
          <a:xfrm>
            <a:off x="548640" y="3621024"/>
            <a:ext cx="2377440" cy="438912"/>
          </a:xfrm>
          <a:prstGeom prst="rect">
            <a:avLst/>
          </a:prstGeom>
          <a:noFill/>
          <a:ln/>
        </p:spPr>
        <p:txBody>
          <a:bodyPr wrap="square" rtlCol="0" anchor="ctr"/>
          <a:lstStyle/>
          <a:p>
            <a:pPr indent="0" marL="0">
              <a:buNone/>
            </a:pPr>
            <a:r>
              <a:rPr lang="en-US" sz="1200" b="1" dirty="0">
                <a:solidFill>
                  <a:srgbClr val="2E2733"/>
                </a:solidFill>
                <a:latin typeface="Calibri" pitchFamily="34" charset="0"/>
                <a:ea typeface="Calibri" pitchFamily="34" charset="-122"/>
                <a:cs typeface="Calibri" pitchFamily="34" charset="-120"/>
              </a:rPr>
              <a:t>Sybil registration</a:t>
            </a:r>
            <a:endParaRPr lang="en-US" sz="1200" dirty="0"/>
          </a:p>
        </p:txBody>
      </p:sp>
      <p:sp>
        <p:nvSpPr>
          <p:cNvPr id="24" name="Text 22"/>
          <p:cNvSpPr/>
          <p:nvPr/>
        </p:nvSpPr>
        <p:spPr>
          <a:xfrm>
            <a:off x="3017520" y="3621024"/>
            <a:ext cx="6400800" cy="438912"/>
          </a:xfrm>
          <a:prstGeom prst="rect">
            <a:avLst/>
          </a:prstGeom>
          <a:noFill/>
          <a:ln/>
        </p:spPr>
        <p:txBody>
          <a:bodyPr wrap="square" rtlCol="0" anchor="ctr"/>
          <a:lstStyle/>
          <a:p>
            <a:pPr indent="0" marL="0">
              <a:buNone/>
            </a:pPr>
            <a:r>
              <a:rPr lang="en-US" sz="1150" dirty="0">
                <a:solidFill>
                  <a:srgbClr val="6B6472"/>
                </a:solidFill>
                <a:latin typeface="Calibri" pitchFamily="34" charset="0"/>
                <a:ea typeface="Calibri" pitchFamily="34" charset="-122"/>
                <a:cs typeface="Calibri" pitchFamily="34" charset="-120"/>
              </a:rPr>
              <a:t>Operator-approved, wallet-bound credentials</a:t>
            </a:r>
            <a:endParaRPr lang="en-US" sz="1150" dirty="0"/>
          </a:p>
        </p:txBody>
      </p:sp>
      <p:sp>
        <p:nvSpPr>
          <p:cNvPr id="25" name="Shape 23"/>
          <p:cNvSpPr/>
          <p:nvPr/>
        </p:nvSpPr>
        <p:spPr>
          <a:xfrm>
            <a:off x="9692640" y="3675888"/>
            <a:ext cx="1371600" cy="329184"/>
          </a:xfrm>
          <a:prstGeom prst="roundRect">
            <a:avLst>
              <a:gd name="adj" fmla="val 50000"/>
            </a:avLst>
          </a:prstGeom>
          <a:solidFill>
            <a:srgbClr val="DCEEE9"/>
          </a:solidFill>
          <a:ln/>
        </p:spPr>
      </p:sp>
      <p:sp>
        <p:nvSpPr>
          <p:cNvPr id="26" name="Text 24"/>
          <p:cNvSpPr/>
          <p:nvPr/>
        </p:nvSpPr>
        <p:spPr>
          <a:xfrm>
            <a:off x="9692640" y="3675888"/>
            <a:ext cx="1371600" cy="329184"/>
          </a:xfrm>
          <a:prstGeom prst="rect">
            <a:avLst/>
          </a:prstGeom>
          <a:noFill/>
          <a:ln/>
        </p:spPr>
        <p:txBody>
          <a:bodyPr wrap="square" rtlCol="0" anchor="ctr"/>
          <a:lstStyle/>
          <a:p>
            <a:pPr algn="ctr" indent="0" marL="0">
              <a:buNone/>
            </a:pPr>
            <a:r>
              <a:rPr lang="en-US" sz="1000" b="1" dirty="0">
                <a:solidFill>
                  <a:srgbClr val="0E7C7B"/>
                </a:solidFill>
                <a:latin typeface="Calibri" pitchFamily="34" charset="0"/>
                <a:ea typeface="Calibri" pitchFamily="34" charset="-122"/>
                <a:cs typeface="Calibri" pitchFamily="34" charset="-120"/>
              </a:rPr>
              <a:t>Mitigated</a:t>
            </a:r>
            <a:endParaRPr lang="en-US" sz="1000" dirty="0"/>
          </a:p>
        </p:txBody>
      </p:sp>
      <p:sp>
        <p:nvSpPr>
          <p:cNvPr id="27" name="Shape 25"/>
          <p:cNvSpPr/>
          <p:nvPr/>
        </p:nvSpPr>
        <p:spPr>
          <a:xfrm>
            <a:off x="548640" y="4078224"/>
            <a:ext cx="11064240" cy="0"/>
          </a:xfrm>
          <a:prstGeom prst="line">
            <a:avLst/>
          </a:prstGeom>
          <a:noFill/>
          <a:ln w="9525">
            <a:solidFill>
              <a:srgbClr val="EAE3E7"/>
            </a:solidFill>
            <a:prstDash val="solid"/>
          </a:ln>
        </p:spPr>
      </p:sp>
      <p:sp>
        <p:nvSpPr>
          <p:cNvPr id="28" name="Text 26"/>
          <p:cNvSpPr/>
          <p:nvPr/>
        </p:nvSpPr>
        <p:spPr>
          <a:xfrm>
            <a:off x="548640" y="4096512"/>
            <a:ext cx="2377440" cy="438912"/>
          </a:xfrm>
          <a:prstGeom prst="rect">
            <a:avLst/>
          </a:prstGeom>
          <a:noFill/>
          <a:ln/>
        </p:spPr>
        <p:txBody>
          <a:bodyPr wrap="square" rtlCol="0" anchor="ctr"/>
          <a:lstStyle/>
          <a:p>
            <a:pPr indent="0" marL="0">
              <a:buNone/>
            </a:pPr>
            <a:r>
              <a:rPr lang="en-US" sz="1200" b="1" dirty="0">
                <a:solidFill>
                  <a:srgbClr val="2E2733"/>
                </a:solidFill>
                <a:latin typeface="Calibri" pitchFamily="34" charset="0"/>
                <a:ea typeface="Calibri" pitchFamily="34" charset="-122"/>
                <a:cs typeface="Calibri" pitchFamily="34" charset="-120"/>
              </a:rPr>
              <a:t>Membership inference</a:t>
            </a:r>
            <a:endParaRPr lang="en-US" sz="1200" dirty="0"/>
          </a:p>
        </p:txBody>
      </p:sp>
      <p:sp>
        <p:nvSpPr>
          <p:cNvPr id="29" name="Text 27"/>
          <p:cNvSpPr/>
          <p:nvPr/>
        </p:nvSpPr>
        <p:spPr>
          <a:xfrm>
            <a:off x="3017520" y="4096512"/>
            <a:ext cx="6400800" cy="438912"/>
          </a:xfrm>
          <a:prstGeom prst="rect">
            <a:avLst/>
          </a:prstGeom>
          <a:noFill/>
          <a:ln/>
        </p:spPr>
        <p:txBody>
          <a:bodyPr wrap="square" rtlCol="0" anchor="ctr"/>
          <a:lstStyle/>
          <a:p>
            <a:pPr indent="0" marL="0">
              <a:buNone/>
            </a:pPr>
            <a:r>
              <a:rPr lang="en-US" sz="1150" dirty="0">
                <a:solidFill>
                  <a:srgbClr val="6B6472"/>
                </a:solidFill>
                <a:latin typeface="Calibri" pitchFamily="34" charset="0"/>
                <a:ea typeface="Calibri" pitchFamily="34" charset="-122"/>
                <a:cs typeface="Calibri" pitchFamily="34" charset="-120"/>
              </a:rPr>
              <a:t>No raw images stored, only encrypted params</a:t>
            </a:r>
            <a:endParaRPr lang="en-US" sz="1150" dirty="0"/>
          </a:p>
        </p:txBody>
      </p:sp>
      <p:sp>
        <p:nvSpPr>
          <p:cNvPr id="30" name="Shape 28"/>
          <p:cNvSpPr/>
          <p:nvPr/>
        </p:nvSpPr>
        <p:spPr>
          <a:xfrm>
            <a:off x="9692640" y="4151376"/>
            <a:ext cx="1371600" cy="329184"/>
          </a:xfrm>
          <a:prstGeom prst="roundRect">
            <a:avLst>
              <a:gd name="adj" fmla="val 50000"/>
            </a:avLst>
          </a:prstGeom>
          <a:solidFill>
            <a:srgbClr val="F3E3D3"/>
          </a:solidFill>
          <a:ln/>
        </p:spPr>
      </p:sp>
      <p:sp>
        <p:nvSpPr>
          <p:cNvPr id="31" name="Text 29"/>
          <p:cNvSpPr/>
          <p:nvPr/>
        </p:nvSpPr>
        <p:spPr>
          <a:xfrm>
            <a:off x="9692640" y="4151376"/>
            <a:ext cx="1371600" cy="329184"/>
          </a:xfrm>
          <a:prstGeom prst="rect">
            <a:avLst/>
          </a:prstGeom>
          <a:noFill/>
          <a:ln/>
        </p:spPr>
        <p:txBody>
          <a:bodyPr wrap="square" rtlCol="0" anchor="ctr"/>
          <a:lstStyle/>
          <a:p>
            <a:pPr algn="ctr" indent="0" marL="0">
              <a:buNone/>
            </a:pPr>
            <a:r>
              <a:rPr lang="en-US" sz="1000" b="1" dirty="0">
                <a:solidFill>
                  <a:srgbClr val="9A5B1E"/>
                </a:solidFill>
                <a:latin typeface="Calibri" pitchFamily="34" charset="0"/>
                <a:ea typeface="Calibri" pitchFamily="34" charset="-122"/>
                <a:cs typeface="Calibri" pitchFamily="34" charset="-120"/>
              </a:rPr>
              <a:t>Partial</a:t>
            </a:r>
            <a:endParaRPr lang="en-US" sz="1000" dirty="0"/>
          </a:p>
        </p:txBody>
      </p:sp>
      <p:sp>
        <p:nvSpPr>
          <p:cNvPr id="32" name="Shape 30"/>
          <p:cNvSpPr/>
          <p:nvPr/>
        </p:nvSpPr>
        <p:spPr>
          <a:xfrm>
            <a:off x="548640" y="4553712"/>
            <a:ext cx="11064240" cy="0"/>
          </a:xfrm>
          <a:prstGeom prst="line">
            <a:avLst/>
          </a:prstGeom>
          <a:noFill/>
          <a:ln w="9525">
            <a:solidFill>
              <a:srgbClr val="EAE3E7"/>
            </a:solidFill>
            <a:prstDash val="solid"/>
          </a:ln>
        </p:spPr>
      </p:sp>
      <p:sp>
        <p:nvSpPr>
          <p:cNvPr id="33" name="Text 31"/>
          <p:cNvSpPr/>
          <p:nvPr/>
        </p:nvSpPr>
        <p:spPr>
          <a:xfrm>
            <a:off x="548640" y="4572000"/>
            <a:ext cx="2377440" cy="438912"/>
          </a:xfrm>
          <a:prstGeom prst="rect">
            <a:avLst/>
          </a:prstGeom>
          <a:noFill/>
          <a:ln/>
        </p:spPr>
        <p:txBody>
          <a:bodyPr wrap="square" rtlCol="0" anchor="ctr"/>
          <a:lstStyle/>
          <a:p>
            <a:pPr indent="0" marL="0">
              <a:buNone/>
            </a:pPr>
            <a:r>
              <a:rPr lang="en-US" sz="1200" b="1" dirty="0">
                <a:solidFill>
                  <a:srgbClr val="2E2733"/>
                </a:solidFill>
                <a:latin typeface="Calibri" pitchFamily="34" charset="0"/>
                <a:ea typeface="Calibri" pitchFamily="34" charset="-122"/>
                <a:cs typeface="Calibri" pitchFamily="34" charset="-120"/>
              </a:rPr>
              <a:t>On-chain data inference</a:t>
            </a:r>
            <a:endParaRPr lang="en-US" sz="1200" dirty="0"/>
          </a:p>
        </p:txBody>
      </p:sp>
      <p:sp>
        <p:nvSpPr>
          <p:cNvPr id="34" name="Text 32"/>
          <p:cNvSpPr/>
          <p:nvPr/>
        </p:nvSpPr>
        <p:spPr>
          <a:xfrm>
            <a:off x="3017520" y="4572000"/>
            <a:ext cx="6400800" cy="438912"/>
          </a:xfrm>
          <a:prstGeom prst="rect">
            <a:avLst/>
          </a:prstGeom>
          <a:noFill/>
          <a:ln/>
        </p:spPr>
        <p:txBody>
          <a:bodyPr wrap="square" rtlCol="0" anchor="ctr"/>
          <a:lstStyle/>
          <a:p>
            <a:pPr indent="0" marL="0">
              <a:buNone/>
            </a:pPr>
            <a:r>
              <a:rPr lang="en-US" sz="1150" dirty="0">
                <a:solidFill>
                  <a:srgbClr val="6B6472"/>
                </a:solidFill>
                <a:latin typeface="Calibri" pitchFamily="34" charset="0"/>
                <a:ea typeface="Calibri" pitchFamily="34" charset="-122"/>
                <a:cs typeface="Calibri" pitchFamily="34" charset="-120"/>
              </a:rPr>
              <a:t>Only CIDs &amp; packed metrics are public</a:t>
            </a:r>
            <a:endParaRPr lang="en-US" sz="1150" dirty="0"/>
          </a:p>
        </p:txBody>
      </p:sp>
      <p:sp>
        <p:nvSpPr>
          <p:cNvPr id="35" name="Shape 33"/>
          <p:cNvSpPr/>
          <p:nvPr/>
        </p:nvSpPr>
        <p:spPr>
          <a:xfrm>
            <a:off x="9692640" y="4626864"/>
            <a:ext cx="1371600" cy="329184"/>
          </a:xfrm>
          <a:prstGeom prst="roundRect">
            <a:avLst>
              <a:gd name="adj" fmla="val 50000"/>
            </a:avLst>
          </a:prstGeom>
          <a:solidFill>
            <a:srgbClr val="DCEEE9"/>
          </a:solidFill>
          <a:ln/>
        </p:spPr>
      </p:sp>
      <p:sp>
        <p:nvSpPr>
          <p:cNvPr id="36" name="Text 34"/>
          <p:cNvSpPr/>
          <p:nvPr/>
        </p:nvSpPr>
        <p:spPr>
          <a:xfrm>
            <a:off x="9692640" y="4626864"/>
            <a:ext cx="1371600" cy="329184"/>
          </a:xfrm>
          <a:prstGeom prst="rect">
            <a:avLst/>
          </a:prstGeom>
          <a:noFill/>
          <a:ln/>
        </p:spPr>
        <p:txBody>
          <a:bodyPr wrap="square" rtlCol="0" anchor="ctr"/>
          <a:lstStyle/>
          <a:p>
            <a:pPr algn="ctr" indent="0" marL="0">
              <a:buNone/>
            </a:pPr>
            <a:r>
              <a:rPr lang="en-US" sz="1000" b="1" dirty="0">
                <a:solidFill>
                  <a:srgbClr val="0E7C7B"/>
                </a:solidFill>
                <a:latin typeface="Calibri" pitchFamily="34" charset="0"/>
                <a:ea typeface="Calibri" pitchFamily="34" charset="-122"/>
                <a:cs typeface="Calibri" pitchFamily="34" charset="-120"/>
              </a:rPr>
              <a:t>Mitigated</a:t>
            </a:r>
            <a:endParaRPr lang="en-US" sz="1000" dirty="0"/>
          </a:p>
        </p:txBody>
      </p:sp>
      <p:sp>
        <p:nvSpPr>
          <p:cNvPr id="37" name="Shape 35"/>
          <p:cNvSpPr/>
          <p:nvPr/>
        </p:nvSpPr>
        <p:spPr>
          <a:xfrm>
            <a:off x="548640" y="5623560"/>
            <a:ext cx="11064240" cy="713232"/>
          </a:xfrm>
          <a:prstGeom prst="roundRect">
            <a:avLst>
              <a:gd name="adj" fmla="val 7692"/>
            </a:avLst>
          </a:prstGeom>
          <a:solidFill>
            <a:srgbClr val="F4EDF1"/>
          </a:solidFill>
          <a:ln/>
        </p:spPr>
      </p:sp>
      <p:sp>
        <p:nvSpPr>
          <p:cNvPr id="38" name="Text 36"/>
          <p:cNvSpPr/>
          <p:nvPr/>
        </p:nvSpPr>
        <p:spPr>
          <a:xfrm>
            <a:off x="777240" y="5623560"/>
            <a:ext cx="10607040" cy="713232"/>
          </a:xfrm>
          <a:prstGeom prst="rect">
            <a:avLst/>
          </a:prstGeom>
          <a:noFill/>
          <a:ln/>
        </p:spPr>
        <p:txBody>
          <a:bodyPr wrap="square" rtlCol="0" anchor="ctr"/>
          <a:lstStyle/>
          <a:p>
            <a:pPr indent="0" marL="0">
              <a:buNone/>
            </a:pPr>
            <a:r>
              <a:rPr lang="en-US" sz="1100" b="1" dirty="0">
                <a:solidFill>
                  <a:srgbClr val="2E2733"/>
                </a:solidFill>
                <a:latin typeface="Calibri" pitchFamily="34" charset="0"/>
                <a:ea typeface="Calibri" pitchFamily="34" charset="-122"/>
                <a:cs typeface="Calibri" pitchFamily="34" charset="-120"/>
              </a:rPr>
              <a:t>Honest limits: </a:t>
            </a:r>
            <a:pPr indent="0" marL="0">
              <a:buNone/>
            </a:pPr>
            <a:r>
              <a:rPr lang="en-US" sz="1100" dirty="0">
                <a:solidFill>
                  <a:srgbClr val="6B6472"/>
                </a:solidFill>
                <a:latin typeface="Calibri" pitchFamily="34" charset="0"/>
                <a:ea typeface="Calibri" pitchFamily="34" charset="-122"/>
                <a:cs typeface="Calibri" pitchFamily="34" charset="-120"/>
              </a:rPr>
              <a:t>no formal differential-privacy bounds yet; deployed on Sepolia, not mainnet; multi-hospital trials were simulated.</a:t>
            </a:r>
            <a:endParaRPr lang="en-US" sz="1100" dirty="0"/>
          </a:p>
        </p:txBody>
      </p:sp>
      <p:sp>
        <p:nvSpPr>
          <p:cNvPr id="39" name="Text 37"/>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6B6472"/>
                </a:solidFill>
                <a:latin typeface="Calibri" pitchFamily="34" charset="0"/>
                <a:ea typeface="Calibri" pitchFamily="34" charset="-122"/>
                <a:cs typeface="Calibri" pitchFamily="34" charset="-120"/>
              </a:rPr>
              <a:t>MedChain-FL  ·  Team FedGuard  ·  BCOLBD 2026</a:t>
            </a:r>
            <a:endParaRPr lang="en-US" sz="900" dirty="0"/>
          </a:p>
        </p:txBody>
      </p:sp>
      <p:sp>
        <p:nvSpPr>
          <p:cNvPr id="40" name="Text 38"/>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47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100" b="1" spc="200" kern="0" dirty="0">
                <a:solidFill>
                  <a:srgbClr val="A32B68"/>
                </a:solidFill>
                <a:latin typeface="Calibri" pitchFamily="34" charset="0"/>
                <a:ea typeface="Calibri" pitchFamily="34" charset="-122"/>
                <a:cs typeface="Calibri" pitchFamily="34" charset="-120"/>
              </a:rPr>
              <a:t>MARKET, VALUE &amp; DISTRIBUTION</a:t>
            </a:r>
            <a:endParaRPr lang="en-US" sz="1100" dirty="0"/>
          </a:p>
        </p:txBody>
      </p:sp>
      <p:sp>
        <p:nvSpPr>
          <p:cNvPr id="3" name="Text 1"/>
          <p:cNvSpPr/>
          <p:nvPr/>
        </p:nvSpPr>
        <p:spPr>
          <a:xfrm>
            <a:off x="548640" y="685800"/>
            <a:ext cx="11064240" cy="777240"/>
          </a:xfrm>
          <a:prstGeom prst="rect">
            <a:avLst/>
          </a:prstGeom>
          <a:noFill/>
          <a:ln/>
        </p:spPr>
        <p:txBody>
          <a:bodyPr wrap="square" rtlCol="0" anchor="ctr"/>
          <a:lstStyle/>
          <a:p>
            <a:pPr indent="0" marL="0">
              <a:lnSpc>
                <a:spcPts val="2700"/>
              </a:lnSpc>
              <a:buNone/>
            </a:pPr>
            <a:r>
              <a:rPr lang="en-US" sz="2300" b="1" dirty="0">
                <a:solidFill>
                  <a:srgbClr val="2E2733"/>
                </a:solidFill>
                <a:latin typeface="Cambria" pitchFamily="34" charset="0"/>
                <a:ea typeface="Cambria" pitchFamily="34" charset="-122"/>
                <a:cs typeface="Cambria" pitchFamily="34" charset="-120"/>
              </a:rPr>
              <a:t>A consortium service, priced against the cost of shipping tissue</a:t>
            </a:r>
            <a:endParaRPr lang="en-US" sz="2300" dirty="0"/>
          </a:p>
        </p:txBody>
      </p:sp>
      <p:graphicFrame>
        <p:nvGraphicFramePr>
          <p:cNvPr id="4" name="Chart 0" descr=""/>
          <p:cNvGraphicFramePr/>
          <p:nvPr/>
        </p:nvGraphicFramePr>
        <p:xfrm>
          <a:off x="548640" y="1691640"/>
          <a:ext cx="5394960" cy="2788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4526280"/>
            <a:ext cx="5394960" cy="502920"/>
          </a:xfrm>
          <a:prstGeom prst="rect">
            <a:avLst/>
          </a:prstGeom>
          <a:noFill/>
          <a:ln/>
        </p:spPr>
        <p:txBody>
          <a:bodyPr wrap="square" rtlCol="0" anchor="ctr"/>
          <a:lstStyle/>
          <a:p>
            <a:pPr indent="0" marL="0">
              <a:buNone/>
            </a:pPr>
            <a:r>
              <a:rPr lang="en-US" sz="1050" i="1" dirty="0">
                <a:solidFill>
                  <a:srgbClr val="6B6472"/>
                </a:solidFill>
                <a:latin typeface="Calibri" pitchFamily="34" charset="0"/>
                <a:ea typeface="Calibri" pitchFamily="34" charset="-122"/>
                <a:cs typeface="Calibri" pitchFamily="34" charset="-120"/>
              </a:rPr>
              <a:t>≈ USD 17.28 / round at 30 gwei, ETH $1,800 — a layer-2 or consortium chain cuts this 10–100×.</a:t>
            </a:r>
            <a:endParaRPr lang="en-US" sz="1050" dirty="0"/>
          </a:p>
        </p:txBody>
      </p:sp>
      <p:sp>
        <p:nvSpPr>
          <p:cNvPr id="6" name="Text 3"/>
          <p:cNvSpPr/>
          <p:nvPr/>
        </p:nvSpPr>
        <p:spPr>
          <a:xfrm>
            <a:off x="6263640" y="1691640"/>
            <a:ext cx="5394960" cy="320040"/>
          </a:xfrm>
          <a:prstGeom prst="rect">
            <a:avLst/>
          </a:prstGeom>
          <a:noFill/>
          <a:ln/>
        </p:spPr>
        <p:txBody>
          <a:bodyPr wrap="square" rtlCol="0" anchor="ctr"/>
          <a:lstStyle/>
          <a:p>
            <a:pPr indent="0" marL="0">
              <a:buNone/>
            </a:pPr>
            <a:r>
              <a:rPr lang="en-US" sz="1300" b="1" dirty="0">
                <a:solidFill>
                  <a:srgbClr val="A32B68"/>
                </a:solidFill>
                <a:latin typeface="Calibri" pitchFamily="34" charset="0"/>
                <a:ea typeface="Calibri" pitchFamily="34" charset="-122"/>
                <a:cs typeface="Calibri" pitchFamily="34" charset="-120"/>
              </a:rPr>
              <a:t>Market</a:t>
            </a:r>
            <a:endParaRPr lang="en-US" sz="1300" dirty="0"/>
          </a:p>
        </p:txBody>
      </p:sp>
      <p:sp>
        <p:nvSpPr>
          <p:cNvPr id="7" name="Text 4"/>
          <p:cNvSpPr/>
          <p:nvPr/>
        </p:nvSpPr>
        <p:spPr>
          <a:xfrm>
            <a:off x="6263640" y="2020824"/>
            <a:ext cx="5394960" cy="1005840"/>
          </a:xfrm>
          <a:prstGeom prst="rect">
            <a:avLst/>
          </a:prstGeom>
          <a:noFill/>
          <a:ln/>
        </p:spPr>
        <p:txBody>
          <a:bodyPr wrap="square" rtlCol="0" anchor="ctr"/>
          <a:lstStyle/>
          <a:p>
            <a:pPr indent="0" marL="0">
              <a:lnSpc>
                <a:spcPct val="125000"/>
              </a:lnSpc>
              <a:buNone/>
            </a:pPr>
            <a:r>
              <a:rPr lang="en-US" sz="1150" dirty="0">
                <a:solidFill>
                  <a:srgbClr val="6B6472"/>
                </a:solidFill>
                <a:latin typeface="Calibri" pitchFamily="34" charset="0"/>
                <a:ea typeface="Calibri" pitchFamily="34" charset="-122"/>
                <a:cs typeface="Calibri" pitchFamily="34" charset="-120"/>
              </a:rPr>
              <a:t>Medical imaging AI: ~$1.3B (2023) → $6B+ (2030). Target: Bangladeshi hospitals with pathology depts but no on-site expertise.</a:t>
            </a:r>
            <a:endParaRPr lang="en-US" sz="1150" dirty="0"/>
          </a:p>
        </p:txBody>
      </p:sp>
      <p:sp>
        <p:nvSpPr>
          <p:cNvPr id="8" name="Text 5"/>
          <p:cNvSpPr/>
          <p:nvPr/>
        </p:nvSpPr>
        <p:spPr>
          <a:xfrm>
            <a:off x="6263640" y="3108960"/>
            <a:ext cx="5394960" cy="320040"/>
          </a:xfrm>
          <a:prstGeom prst="rect">
            <a:avLst/>
          </a:prstGeom>
          <a:noFill/>
          <a:ln/>
        </p:spPr>
        <p:txBody>
          <a:bodyPr wrap="square" rtlCol="0" anchor="ctr"/>
          <a:lstStyle/>
          <a:p>
            <a:pPr indent="0" marL="0">
              <a:buNone/>
            </a:pPr>
            <a:r>
              <a:rPr lang="en-US" sz="1300" b="1" dirty="0">
                <a:solidFill>
                  <a:srgbClr val="A32B68"/>
                </a:solidFill>
                <a:latin typeface="Calibri" pitchFamily="34" charset="0"/>
                <a:ea typeface="Calibri" pitchFamily="34" charset="-122"/>
                <a:cs typeface="Calibri" pitchFamily="34" charset="-120"/>
              </a:rPr>
              <a:t>Partners</a:t>
            </a:r>
            <a:endParaRPr lang="en-US" sz="1300" dirty="0"/>
          </a:p>
        </p:txBody>
      </p:sp>
      <p:sp>
        <p:nvSpPr>
          <p:cNvPr id="9" name="Text 6"/>
          <p:cNvSpPr/>
          <p:nvPr/>
        </p:nvSpPr>
        <p:spPr>
          <a:xfrm>
            <a:off x="6263640" y="3438144"/>
            <a:ext cx="5394960" cy="1005840"/>
          </a:xfrm>
          <a:prstGeom prst="rect">
            <a:avLst/>
          </a:prstGeom>
          <a:noFill/>
          <a:ln/>
        </p:spPr>
        <p:txBody>
          <a:bodyPr wrap="square" rtlCol="0" anchor="ctr"/>
          <a:lstStyle/>
          <a:p>
            <a:pPr indent="0" marL="0">
              <a:lnSpc>
                <a:spcPct val="125000"/>
              </a:lnSpc>
              <a:buNone/>
            </a:pPr>
            <a:r>
              <a:rPr lang="en-US" sz="1150" dirty="0">
                <a:solidFill>
                  <a:srgbClr val="6B6472"/>
                </a:solidFill>
                <a:latin typeface="Calibri" pitchFamily="34" charset="0"/>
                <a:ea typeface="Calibri" pitchFamily="34" charset="-122"/>
                <a:cs typeface="Calibri" pitchFamily="34" charset="-120"/>
              </a:rPr>
              <a:t>Member hospitals, DGHS (adoption), Bangladesh Secretariat (PDPO framing), HIS vendors and regional labs (integration).</a:t>
            </a:r>
            <a:endParaRPr lang="en-US" sz="1150" dirty="0"/>
          </a:p>
        </p:txBody>
      </p:sp>
      <p:sp>
        <p:nvSpPr>
          <p:cNvPr id="10" name="Text 7"/>
          <p:cNvSpPr/>
          <p:nvPr/>
        </p:nvSpPr>
        <p:spPr>
          <a:xfrm>
            <a:off x="6263640" y="4526280"/>
            <a:ext cx="5394960" cy="320040"/>
          </a:xfrm>
          <a:prstGeom prst="rect">
            <a:avLst/>
          </a:prstGeom>
          <a:noFill/>
          <a:ln/>
        </p:spPr>
        <p:txBody>
          <a:bodyPr wrap="square" rtlCol="0" anchor="ctr"/>
          <a:lstStyle/>
          <a:p>
            <a:pPr indent="0" marL="0">
              <a:buNone/>
            </a:pPr>
            <a:r>
              <a:rPr lang="en-US" sz="1300" b="1" dirty="0">
                <a:solidFill>
                  <a:srgbClr val="A32B68"/>
                </a:solidFill>
                <a:latin typeface="Calibri" pitchFamily="34" charset="0"/>
                <a:ea typeface="Calibri" pitchFamily="34" charset="-122"/>
                <a:cs typeface="Calibri" pitchFamily="34" charset="-120"/>
              </a:rPr>
              <a:t>Value &amp; distribution</a:t>
            </a:r>
            <a:endParaRPr lang="en-US" sz="1300" dirty="0"/>
          </a:p>
        </p:txBody>
      </p:sp>
      <p:sp>
        <p:nvSpPr>
          <p:cNvPr id="11" name="Text 8"/>
          <p:cNvSpPr/>
          <p:nvPr/>
        </p:nvSpPr>
        <p:spPr>
          <a:xfrm>
            <a:off x="6263640" y="4855464"/>
            <a:ext cx="5394960" cy="1005840"/>
          </a:xfrm>
          <a:prstGeom prst="rect">
            <a:avLst/>
          </a:prstGeom>
          <a:noFill/>
          <a:ln/>
        </p:spPr>
        <p:txBody>
          <a:bodyPr wrap="square" rtlCol="0" anchor="ctr"/>
          <a:lstStyle/>
          <a:p>
            <a:pPr indent="0" marL="0">
              <a:lnSpc>
                <a:spcPct val="125000"/>
              </a:lnSpc>
              <a:buNone/>
            </a:pPr>
            <a:r>
              <a:rPr lang="en-US" sz="1150" dirty="0">
                <a:solidFill>
                  <a:srgbClr val="6B6472"/>
                </a:solidFill>
                <a:latin typeface="Calibri" pitchFamily="34" charset="0"/>
                <a:ea typeface="Calibri" pitchFamily="34" charset="-122"/>
                <a:cs typeface="Calibri" pitchFamily="34" charset="-120"/>
              </a:rPr>
              <a:t>Subscription by site + round cadence, gas passed through. Pilot with two founding hospitals, then expand via DGHS.</a:t>
            </a:r>
            <a:endParaRPr lang="en-US" sz="1150" dirty="0"/>
          </a:p>
        </p:txBody>
      </p:sp>
      <p:sp>
        <p:nvSpPr>
          <p:cNvPr id="12" name="Text 9"/>
          <p:cNvSpPr/>
          <p:nvPr/>
        </p:nvSpPr>
        <p:spPr>
          <a:xfrm>
            <a:off x="457200" y="6473952"/>
            <a:ext cx="7315200" cy="274320"/>
          </a:xfrm>
          <a:prstGeom prst="rect">
            <a:avLst/>
          </a:prstGeom>
          <a:noFill/>
          <a:ln/>
        </p:spPr>
        <p:txBody>
          <a:bodyPr wrap="square" rtlCol="0" anchor="ctr"/>
          <a:lstStyle/>
          <a:p>
            <a:pPr algn="l" indent="0" marL="0">
              <a:buNone/>
            </a:pPr>
            <a:r>
              <a:rPr lang="en-US" sz="900" dirty="0">
                <a:solidFill>
                  <a:srgbClr val="6B6472"/>
                </a:solidFill>
                <a:latin typeface="Calibri" pitchFamily="34" charset="0"/>
                <a:ea typeface="Calibri" pitchFamily="34" charset="-122"/>
                <a:cs typeface="Calibri" pitchFamily="34" charset="-120"/>
              </a:rPr>
              <a:t>MedChain-FL  ·  Team FedGuard  ·  BCOLBD 2026</a:t>
            </a:r>
            <a:endParaRPr lang="en-US" sz="900" dirty="0"/>
          </a:p>
        </p:txBody>
      </p:sp>
      <p:sp>
        <p:nvSpPr>
          <p:cNvPr id="13" name="Text 10"/>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47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024"/>
        </a:solidFill>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indent="0" marL="0">
              <a:buNone/>
            </a:pPr>
            <a:r>
              <a:rPr lang="en-US" sz="1100" b="1" spc="200" kern="0" dirty="0">
                <a:solidFill>
                  <a:srgbClr val="D98CB3"/>
                </a:solidFill>
                <a:latin typeface="Calibri" pitchFamily="34" charset="0"/>
                <a:ea typeface="Calibri" pitchFamily="34" charset="-122"/>
                <a:cs typeface="Calibri" pitchFamily="34" charset="-120"/>
              </a:rPr>
              <a:t>WHERE THIS GOES NEXT</a:t>
            </a:r>
            <a:endParaRPr lang="en-US" sz="1100" dirty="0"/>
          </a:p>
        </p:txBody>
      </p:sp>
      <p:sp>
        <p:nvSpPr>
          <p:cNvPr id="3" name="Text 1"/>
          <p:cNvSpPr/>
          <p:nvPr/>
        </p:nvSpPr>
        <p:spPr>
          <a:xfrm>
            <a:off x="548640" y="685800"/>
            <a:ext cx="11064240" cy="1051560"/>
          </a:xfrm>
          <a:prstGeom prst="rect">
            <a:avLst/>
          </a:prstGeom>
          <a:noFill/>
          <a:ln/>
        </p:spPr>
        <p:txBody>
          <a:bodyPr wrap="square" rtlCol="0" anchor="ctr"/>
          <a:lstStyle/>
          <a:p>
            <a:pPr indent="0" marL="0">
              <a:lnSpc>
                <a:spcPts val="3600"/>
              </a:lnSpc>
              <a:buNone/>
            </a:pPr>
            <a:r>
              <a:rPr lang="en-US" sz="3200" b="1" dirty="0">
                <a:solidFill>
                  <a:srgbClr val="FFFFFF"/>
                </a:solidFill>
                <a:latin typeface="Cambria" pitchFamily="34" charset="0"/>
                <a:ea typeface="Cambria" pitchFamily="34" charset="-122"/>
                <a:cs typeface="Cambria" pitchFamily="34" charset="-120"/>
              </a:rPr>
              <a:t>From simulated consortium to two real hospitals</a:t>
            </a:r>
            <a:endParaRPr lang="en-US" sz="3200" dirty="0"/>
          </a:p>
        </p:txBody>
      </p:sp>
      <p:sp>
        <p:nvSpPr>
          <p:cNvPr id="4" name="Text 2"/>
          <p:cNvSpPr/>
          <p:nvPr/>
        </p:nvSpPr>
        <p:spPr>
          <a:xfrm>
            <a:off x="548640" y="1874520"/>
            <a:ext cx="10515600" cy="685800"/>
          </a:xfrm>
          <a:prstGeom prst="rect">
            <a:avLst/>
          </a:prstGeom>
          <a:noFill/>
          <a:ln/>
        </p:spPr>
        <p:txBody>
          <a:bodyPr wrap="square" rtlCol="0" anchor="ctr"/>
          <a:lstStyle/>
          <a:p>
            <a:pPr indent="0" marL="0">
              <a:lnSpc>
                <a:spcPct val="130000"/>
              </a:lnSpc>
              <a:buNone/>
            </a:pPr>
            <a:r>
              <a:rPr lang="en-US" sz="1500" i="1" dirty="0">
                <a:solidFill>
                  <a:srgbClr val="CFC4D2"/>
                </a:solidFill>
                <a:latin typeface="Cambria" pitchFamily="34" charset="0"/>
                <a:ea typeface="Cambria" pitchFamily="34" charset="-122"/>
                <a:cs typeface="Cambria" pitchFamily="34" charset="-120"/>
              </a:rPr>
              <a:t>Federated learning removes the data silo. The ledger removes the trusted operator. Together, they make cross-hospital medical AI lawful, auditable, and cheap enough to run weekly.</a:t>
            </a:r>
            <a:endParaRPr lang="en-US" sz="1500" dirty="0"/>
          </a:p>
        </p:txBody>
      </p:sp>
      <p:sp>
        <p:nvSpPr>
          <p:cNvPr id="5" name="Shape 3"/>
          <p:cNvSpPr/>
          <p:nvPr/>
        </p:nvSpPr>
        <p:spPr>
          <a:xfrm>
            <a:off x="548640" y="2834640"/>
            <a:ext cx="3520440" cy="1965960"/>
          </a:xfrm>
          <a:prstGeom prst="roundRect">
            <a:avLst>
              <a:gd name="adj" fmla="val 3721"/>
            </a:avLst>
          </a:prstGeom>
          <a:solidFill>
            <a:srgbClr val="2E2733"/>
          </a:solidFill>
          <a:ln/>
        </p:spPr>
      </p:sp>
      <p:sp>
        <p:nvSpPr>
          <p:cNvPr id="6" name="Text 4"/>
          <p:cNvSpPr/>
          <p:nvPr/>
        </p:nvSpPr>
        <p:spPr>
          <a:xfrm>
            <a:off x="822960" y="3017520"/>
            <a:ext cx="3017520" cy="411480"/>
          </a:xfrm>
          <a:prstGeom prst="rect">
            <a:avLst/>
          </a:prstGeom>
          <a:noFill/>
          <a:ln/>
        </p:spPr>
        <p:txBody>
          <a:bodyPr wrap="square" rtlCol="0" anchor="ctr"/>
          <a:lstStyle/>
          <a:p>
            <a:pPr indent="0" marL="0">
              <a:buNone/>
            </a:pPr>
            <a:r>
              <a:rPr lang="en-US" sz="1800" b="1" dirty="0">
                <a:solidFill>
                  <a:srgbClr val="3FBFA0"/>
                </a:solidFill>
                <a:latin typeface="Cambria" pitchFamily="34" charset="0"/>
                <a:ea typeface="Cambria" pitchFamily="34" charset="-122"/>
                <a:cs typeface="Cambria" pitchFamily="34" charset="-120"/>
              </a:rPr>
              <a:t>Now</a:t>
            </a:r>
            <a:endParaRPr lang="en-US" sz="1800" dirty="0"/>
          </a:p>
        </p:txBody>
      </p:sp>
      <p:sp>
        <p:nvSpPr>
          <p:cNvPr id="7" name="Text 5"/>
          <p:cNvSpPr/>
          <p:nvPr/>
        </p:nvSpPr>
        <p:spPr>
          <a:xfrm>
            <a:off x="822960" y="3474720"/>
            <a:ext cx="3017520" cy="1234440"/>
          </a:xfrm>
          <a:prstGeom prst="rect">
            <a:avLst/>
          </a:prstGeom>
          <a:noFill/>
          <a:ln/>
        </p:spPr>
        <p:txBody>
          <a:bodyPr wrap="square" rtlCol="0" anchor="ctr"/>
          <a:lstStyle/>
          <a:p>
            <a:pPr indent="0" marL="0">
              <a:lnSpc>
                <a:spcPct val="125000"/>
              </a:lnSpc>
              <a:buNone/>
            </a:pPr>
            <a:r>
              <a:rPr lang="en-US" sz="1150" dirty="0">
                <a:solidFill>
                  <a:srgbClr val="CFC4D2"/>
                </a:solidFill>
                <a:latin typeface="Calibri" pitchFamily="34" charset="0"/>
                <a:ea typeface="Calibri" pitchFamily="34" charset="-122"/>
                <a:cs typeface="Calibri" pitchFamily="34" charset="-120"/>
              </a:rPr>
              <a:t>Prototype live on Sepolia — contract, oracle, IPFS pinning and dashboard integrated end to end.</a:t>
            </a:r>
            <a:endParaRPr lang="en-US" sz="1150" dirty="0"/>
          </a:p>
        </p:txBody>
      </p:sp>
      <p:sp>
        <p:nvSpPr>
          <p:cNvPr id="8" name="Shape 6"/>
          <p:cNvSpPr/>
          <p:nvPr/>
        </p:nvSpPr>
        <p:spPr>
          <a:xfrm>
            <a:off x="4297680" y="2834640"/>
            <a:ext cx="3520440" cy="1965960"/>
          </a:xfrm>
          <a:prstGeom prst="roundRect">
            <a:avLst>
              <a:gd name="adj" fmla="val 3721"/>
            </a:avLst>
          </a:prstGeom>
          <a:solidFill>
            <a:srgbClr val="2E2733"/>
          </a:solidFill>
          <a:ln/>
        </p:spPr>
      </p:sp>
      <p:sp>
        <p:nvSpPr>
          <p:cNvPr id="9" name="Text 7"/>
          <p:cNvSpPr/>
          <p:nvPr/>
        </p:nvSpPr>
        <p:spPr>
          <a:xfrm>
            <a:off x="4572000" y="3017520"/>
            <a:ext cx="3017520" cy="411480"/>
          </a:xfrm>
          <a:prstGeom prst="rect">
            <a:avLst/>
          </a:prstGeom>
          <a:noFill/>
          <a:ln/>
        </p:spPr>
        <p:txBody>
          <a:bodyPr wrap="square" rtlCol="0" anchor="ctr"/>
          <a:lstStyle/>
          <a:p>
            <a:pPr indent="0" marL="0">
              <a:buNone/>
            </a:pPr>
            <a:r>
              <a:rPr lang="en-US" sz="1800" b="1" dirty="0">
                <a:solidFill>
                  <a:srgbClr val="3FBFA0"/>
                </a:solidFill>
                <a:latin typeface="Cambria" pitchFamily="34" charset="0"/>
                <a:ea typeface="Cambria" pitchFamily="34" charset="-122"/>
                <a:cs typeface="Cambria" pitchFamily="34" charset="-120"/>
              </a:rPr>
              <a:t>Next</a:t>
            </a:r>
            <a:endParaRPr lang="en-US" sz="1800" dirty="0"/>
          </a:p>
        </p:txBody>
      </p:sp>
      <p:sp>
        <p:nvSpPr>
          <p:cNvPr id="10" name="Text 8"/>
          <p:cNvSpPr/>
          <p:nvPr/>
        </p:nvSpPr>
        <p:spPr>
          <a:xfrm>
            <a:off x="4572000" y="3474720"/>
            <a:ext cx="3017520" cy="1234440"/>
          </a:xfrm>
          <a:prstGeom prst="rect">
            <a:avLst/>
          </a:prstGeom>
          <a:noFill/>
          <a:ln/>
        </p:spPr>
        <p:txBody>
          <a:bodyPr wrap="square" rtlCol="0" anchor="ctr"/>
          <a:lstStyle/>
          <a:p>
            <a:pPr indent="0" marL="0">
              <a:lnSpc>
                <a:spcPct val="125000"/>
              </a:lnSpc>
              <a:buNone/>
            </a:pPr>
            <a:r>
              <a:rPr lang="en-US" sz="1150" dirty="0">
                <a:solidFill>
                  <a:srgbClr val="CFC4D2"/>
                </a:solidFill>
                <a:latin typeface="Calibri" pitchFamily="34" charset="0"/>
                <a:ea typeface="Calibri" pitchFamily="34" charset="-122"/>
                <a:cs typeface="Calibri" pitchFamily="34" charset="-120"/>
              </a:rPr>
              <a:t>Pilot with two founding hospitals to establish production gas economics and ratify the charter.</a:t>
            </a:r>
            <a:endParaRPr lang="en-US" sz="1150" dirty="0"/>
          </a:p>
        </p:txBody>
      </p:sp>
      <p:sp>
        <p:nvSpPr>
          <p:cNvPr id="11" name="Shape 9"/>
          <p:cNvSpPr/>
          <p:nvPr/>
        </p:nvSpPr>
        <p:spPr>
          <a:xfrm>
            <a:off x="8046720" y="2834640"/>
            <a:ext cx="3520440" cy="1965960"/>
          </a:xfrm>
          <a:prstGeom prst="roundRect">
            <a:avLst>
              <a:gd name="adj" fmla="val 3721"/>
            </a:avLst>
          </a:prstGeom>
          <a:solidFill>
            <a:srgbClr val="2E2733"/>
          </a:solidFill>
          <a:ln/>
        </p:spPr>
      </p:sp>
      <p:sp>
        <p:nvSpPr>
          <p:cNvPr id="12" name="Text 10"/>
          <p:cNvSpPr/>
          <p:nvPr/>
        </p:nvSpPr>
        <p:spPr>
          <a:xfrm>
            <a:off x="8321040" y="3017520"/>
            <a:ext cx="3017520" cy="411480"/>
          </a:xfrm>
          <a:prstGeom prst="rect">
            <a:avLst/>
          </a:prstGeom>
          <a:noFill/>
          <a:ln/>
        </p:spPr>
        <p:txBody>
          <a:bodyPr wrap="square" rtlCol="0" anchor="ctr"/>
          <a:lstStyle/>
          <a:p>
            <a:pPr indent="0" marL="0">
              <a:buNone/>
            </a:pPr>
            <a:r>
              <a:rPr lang="en-US" sz="1800" b="1" dirty="0">
                <a:solidFill>
                  <a:srgbClr val="3FBFA0"/>
                </a:solidFill>
                <a:latin typeface="Cambria" pitchFamily="34" charset="0"/>
                <a:ea typeface="Cambria" pitchFamily="34" charset="-122"/>
                <a:cs typeface="Cambria" pitchFamily="34" charset="-120"/>
              </a:rPr>
              <a:t>Then</a:t>
            </a:r>
            <a:endParaRPr lang="en-US" sz="1800" dirty="0"/>
          </a:p>
        </p:txBody>
      </p:sp>
      <p:sp>
        <p:nvSpPr>
          <p:cNvPr id="13" name="Text 11"/>
          <p:cNvSpPr/>
          <p:nvPr/>
        </p:nvSpPr>
        <p:spPr>
          <a:xfrm>
            <a:off x="8321040" y="3474720"/>
            <a:ext cx="3017520" cy="1234440"/>
          </a:xfrm>
          <a:prstGeom prst="rect">
            <a:avLst/>
          </a:prstGeom>
          <a:noFill/>
          <a:ln/>
        </p:spPr>
        <p:txBody>
          <a:bodyPr wrap="square" rtlCol="0" anchor="ctr"/>
          <a:lstStyle/>
          <a:p>
            <a:pPr indent="0" marL="0">
              <a:lnSpc>
                <a:spcPct val="125000"/>
              </a:lnSpc>
              <a:buNone/>
            </a:pPr>
            <a:r>
              <a:rPr lang="en-US" sz="1150" dirty="0">
                <a:solidFill>
                  <a:srgbClr val="CFC4D2"/>
                </a:solidFill>
                <a:latin typeface="Calibri" pitchFamily="34" charset="0"/>
                <a:ea typeface="Calibri" pitchFamily="34" charset="-122"/>
                <a:cs typeface="Calibri" pitchFamily="34" charset="-120"/>
              </a:rPr>
              <a:t>Migrate to a layer-2 or Hyperledger Besu chain; extend to multi-class, multi-magnification pathology.</a:t>
            </a:r>
            <a:endParaRPr lang="en-US" sz="1150" dirty="0"/>
          </a:p>
        </p:txBody>
      </p:sp>
      <p:sp>
        <p:nvSpPr>
          <p:cNvPr id="14" name="Shape 12"/>
          <p:cNvSpPr/>
          <p:nvPr/>
        </p:nvSpPr>
        <p:spPr>
          <a:xfrm>
            <a:off x="548640" y="5257800"/>
            <a:ext cx="1920240" cy="27432"/>
          </a:xfrm>
          <a:prstGeom prst="rect">
            <a:avLst/>
          </a:prstGeom>
          <a:solidFill>
            <a:srgbClr val="A32B68"/>
          </a:solidFill>
          <a:ln/>
        </p:spPr>
      </p:sp>
      <p:sp>
        <p:nvSpPr>
          <p:cNvPr id="15" name="Text 13"/>
          <p:cNvSpPr/>
          <p:nvPr/>
        </p:nvSpPr>
        <p:spPr>
          <a:xfrm>
            <a:off x="548640" y="5440680"/>
            <a:ext cx="548640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Thank you</a:t>
            </a:r>
            <a:endParaRPr lang="en-US" sz="2400" dirty="0"/>
          </a:p>
        </p:txBody>
      </p:sp>
      <p:sp>
        <p:nvSpPr>
          <p:cNvPr id="16" name="Text 14"/>
          <p:cNvSpPr/>
          <p:nvPr/>
        </p:nvSpPr>
        <p:spPr>
          <a:xfrm>
            <a:off x="548640" y="5989320"/>
            <a:ext cx="8686800" cy="365760"/>
          </a:xfrm>
          <a:prstGeom prst="rect">
            <a:avLst/>
          </a:prstGeom>
          <a:noFill/>
          <a:ln/>
        </p:spPr>
        <p:txBody>
          <a:bodyPr wrap="square" rtlCol="0" anchor="ctr"/>
          <a:lstStyle/>
          <a:p>
            <a:pPr indent="0" marL="0">
              <a:buNone/>
            </a:pPr>
            <a:r>
              <a:rPr lang="en-US" sz="1150" dirty="0">
                <a:solidFill>
                  <a:srgbClr val="9E93A4"/>
                </a:solidFill>
                <a:latin typeface="Calibri" pitchFamily="34" charset="0"/>
                <a:ea typeface="Calibri" pitchFamily="34" charset="-122"/>
                <a:cs typeface="Calibri" pitchFamily="34" charset="-120"/>
              </a:rPr>
              <a:t>Team FedGuard  ·  Shahriar Hasan  ·  Md. Taufiq Biswas  ·  Md Najib Ul Azam Mahi</a:t>
            </a:r>
            <a:endParaRPr lang="en-US" sz="1150" dirty="0"/>
          </a:p>
        </p:txBody>
      </p:sp>
      <p:pic>
        <p:nvPicPr>
          <p:cNvPr id="17" name="Image 0" descr="assets/logo.png">    </p:cNvPr>
          <p:cNvPicPr>
            <a:picLocks noChangeAspect="1"/>
          </p:cNvPicPr>
          <p:nvPr/>
        </p:nvPicPr>
        <p:blipFill>
          <a:blip r:embed="rId1"/>
          <a:stretch>
            <a:fillRect/>
          </a:stretch>
        </p:blipFill>
        <p:spPr>
          <a:xfrm>
            <a:off x="9921240" y="5532120"/>
            <a:ext cx="1691640" cy="685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2026-09-03T17:48:45Z</dcterms:created>
  <dcterms:modified xsi:type="dcterms:W3CDTF">2026-09-03T17:48:45Z</dcterms:modified>
</cp:coreProperties>
</file>